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d47d9ff-7783-cf3e-f223-f3515f08caf1}">
          <p14:sldIdLst>
            <p14:sldId id="256"/>
            <p14:sldId id="257"/>
          </p14:sldIdLst>
        </p14:section>
        <p14:section name="Procurement" id="{f8987390-9a96-06b0-faed-6bb671d37125}">
          <p14:sldIdLst>
            <p14:sldId id="258"/>
            <p14:sldId id="259"/>
            <p14:sldId id="260"/>
          </p14:sldIdLst>
        </p14:section>
        <p14:section name="Mechanical build" id="{3b3ab5a7-829e-1916-adc4-dbff504deac5}">
          <p14:sldIdLst>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of two decks on the stage-1 calibration captures. It covers what has to be bought and made before a capture session: two matte spheres, a flat board, their mountings on the robot flange, and a three-ball nest, with estimated costs and candidate suppliers. The second deck covers the test procedure itself and what the robot program must do. Both are summaries of the stage-1 capture procedure in docs/procedures, whose section 3a and appendix A hold the full build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calibration compares what the sensor measures with targets of known shape held at known poses by the robot. Two sphere sizes are used because the bias from averaging over a curved surface depends on curvature; two radii a factor of two apart let the correction map carry curvature as an input and remove that bias. Both spheres are used around 500 to 550 mm so the two radii overlap. The board supplies zero curvature and controlled tilts. A sphere's orientation does not matter, only its center, which is why the mounting must hold the center fixed rather than aim the sphere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estimates come from suppliers' list prices where they exist and from typical job-shop rates of about 80 to 150 dollars an hour otherwise. The sphere figures include 100 to 300 dollars for having the diameter measured at a calibration laboratory. The two totals differ only in the spheres: a bearing ball with a bonded stem and a turned aluminum sphere, against both spheres made to order by a ball or ceramics maker. Quotes are needed before ordering, and the sphere choice itself is still open, pending a canvass of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mirror finish returns one bright highlight from the sensor's projector and almost nothing else, so every sphere must be made matte. Bead-blasting is preferred because it changes the diameter by only micrometers. The diameter requirement is decision D-13: known to 0.025 mm after finishing, which is a radius error of about 0.0125 mm, an eighth of the target at 500 mm; no maker's certificate is needed. CMM means coordinate measuring machine and EDM means electrical discharge machining. Bearing-grade balls are hardened to about 60 HRC and cannot be tapped afterwards, which is why steel spheres get a bonded 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list is appendix A of the procedure in brief. No supplier was found that stocks a precision sphere of the needed sizes with a mounting hole, so the spheres are either made to order or built from a bearing ball by a machine shop. The laser-scanner reference spheres sold in the right sizes generally have form errors of 0.5 to 2 mm, far too coarse; the Rothbucher sphere is the best specified of them. A calibration laboratory measures the finished diameters, which is cheaper than buying certified spheres and is what the calibration actually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sphere center ends up does not need to be known from drawings, because the tool-center-point routine measures it; what matters is that it does not move afterwards. The adapter plate's mounting face, outer face and tapped hole are machined in one lathe setup, located on the flange pilot, so the hole is perpendicular to the face within 0.02 mm over 100 mm. The stems are deliberately thick: a 12 mm stem would let sphere A sag about 0.07 mm, and that sag would change with the robot's orientation. The shoulder on the stem, machined square in the same setup as its thread, sets the stem perpendicular to the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 ceramic spheres are sold with a threaded insert bonded in by the maker; the stem tip is turned to a matching thread with a small shoulder that seats on the flat around the insert, with a drop of medium-strength thread locker. Bearing-grade steel balls are hardened to about 60 HRC and cannot be tapped, so a shop makes a blind hole about 0.6 R deep by carbide drilling or electrical discharge machining, sized for a light press fit, and the stem is bonded in with anaerobic retaining compound. Never weld or braze: the heat distorts the sphere. A turned aluminum sphere B can have the stem thread cut into it when it is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Thickness is not a stiffness question: a 6 mm plate sags only about 0.002 mm under its own weight. It only has to survive the finish and the mounting flat. Bead-blasting peens one face and bows a thin plate, so paint over the ground or glass surface instead. Flatness is checked last, after painting and mounting, because that is the state the sensor sees; the flatness report is also the reference for the board-flatness check in the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sphere resting on three fixed balls always has its center at the same point in space, whatever direction its stem points. That is what lets the robot's own multi-orientation routine find the sphere's center as its tool center point, which deck 2 describes. The nest is simple to make: a steel base with three pockets, the balls pressed in, and holes to bolt it down. Its position matters only in that the robot must be able to seat the sphere from several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build checks scattered through section 3a of the procedure, gathered in one place. Each one protects something the software cannot repair later: a crooked or bending stem moves the sphere center away from the measured tool center point, a shiny spot gives bad reads, and an unmeasured diameter or a bowed board puts a wrong reference into every observation.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1463040"/>
          </a:xfrm>
          <a:prstGeom prst="rect">
            <a:avLst/>
          </a:prstGeom>
          <a:noFill/>
          <a:ln/>
        </p:spPr>
        <p:txBody>
          <a:bodyPr wrap="square" rtlCol="0"/>
          <a:lstStyle>
            <a:lvl1pPr algn="l" indent="0" marL="0">
              <a:buNone/>
              <a:defRPr lang="en-US" sz="4400" b="1" dirty="0">
                <a:solidFill>
                  <a:schemeClr val="bg1"/>
                </a:solidFill>
                <a:latin typeface="+mj-lt" pitchFamily="34" charset="0"/>
                <a:ea typeface="+mj-lt" pitchFamily="34" charset="-122"/>
                <a:cs typeface="+mj-lt" pitchFamily="34" charset="-120"/>
              </a:defRPr>
            </a:lvl1pPr>
          </a:lstStyle>
          <a:p>
            <a:pPr algn="l" indent="0" marL="0">
              <a:buNone/>
            </a:pPr>
            <a:r>
              <a:rPr lang="en-US" sz="4400" b="1" dirty="0">
                <a:solidFill>
                  <a:schemeClr val="bg1"/>
                </a:solidFill>
                <a:latin typeface="+mj-lt" pitchFamily="34" charset="0"/>
                <a:ea typeface="+mj-lt" pitchFamily="34" charset="-122"/>
                <a:cs typeface="+mj-lt" pitchFamily="34" charset="-120"/>
              </a:rPr>
              <a:t>Title</a:t>
            </a:r>
            <a:endParaRPr lang="en-US" sz="4400" dirty="0"/>
          </a:p>
        </p:txBody>
      </p:sp>
      <p:sp>
        <p:nvSpPr>
          <p:cNvPr id="3" name="Text 0"/>
          <p:cNvSpPr/>
          <p:nvPr>
            <p:ph idx="101" type="body" hasCustomPrompt="1"/>
          </p:nvPr>
        </p:nvSpPr>
        <p:spPr>
          <a:xfrm>
            <a:off x="457200" y="2103120"/>
            <a:ext cx="8229600" cy="822960"/>
          </a:xfrm>
          <a:prstGeom prst="rect">
            <a:avLst/>
          </a:prstGeom>
          <a:noFill/>
          <a:ln/>
        </p:spPr>
        <p:txBody>
          <a:bodyPr wrap="square" rtlCol="0"/>
          <a:lstStyle>
            <a:lvl1pPr algn="l" indent="0" marL="0">
              <a:buNone/>
              <a:defRPr lang="en-US" sz="2200" dirty="0">
                <a:solidFill>
                  <a:schemeClr val="accent6"/>
                </a:solidFill>
              </a:defRPr>
            </a:lvl1pPr>
          </a:lstStyle>
          <a:p>
            <a:pPr algn="l" indent="0" marL="0">
              <a:buNone/>
            </a:pPr>
            <a:r>
              <a:rPr lang="en-US" sz="2200" dirty="0">
                <a:solidFill>
                  <a:schemeClr val="accent6"/>
                </a:solidFill>
              </a:rPr>
              <a:t>Subtitle</a:t>
            </a:r>
            <a:endParaRPr lang="en-US" sz="2200" dirty="0"/>
          </a:p>
        </p:txBody>
      </p:sp>
      <p:sp>
        <p:nvSpPr>
          <p:cNvPr id="4" name="Text 0"/>
          <p:cNvSpPr/>
          <p:nvPr>
            <p:ph idx="102" type="body" hasCustomPrompt="1"/>
          </p:nvPr>
        </p:nvSpPr>
        <p:spPr>
          <a:xfrm>
            <a:off x="457200" y="6035040"/>
            <a:ext cx="11277295" cy="365760"/>
          </a:xfrm>
          <a:prstGeom prst="rect">
            <a:avLst/>
          </a:prstGeom>
          <a:noFill/>
          <a:ln/>
        </p:spPr>
        <p:txBody>
          <a:bodyPr wrap="square" rtlCol="0"/>
          <a:lstStyle>
            <a:lvl1pPr algn="l" indent="0" marL="0">
              <a:buNone/>
              <a:defRPr lang="en-US" sz="1400" dirty="0">
                <a:solidFill>
                  <a:schemeClr val="accent6"/>
                </a:solidFill>
              </a:defRPr>
            </a:lvl1pPr>
          </a:lstStyle>
          <a:p>
            <a:pPr algn="l" indent="0" marL="0">
              <a:buNone/>
            </a:pPr>
            <a:r>
              <a:rPr lang="en-US" sz="1400" dirty="0">
                <a:solidFill>
                  <a:schemeClr val="accent6"/>
                </a:solidFill>
              </a:rPr>
              <a:t>Footer</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rtlCol="0"/>
          <a:lstStyle>
            <a:lvl1pPr algn="l" indent="0" marL="0">
              <a:buNone/>
              <a:defRPr lang="en-US" sz="3400" b="1" dirty="0">
                <a:solidFill>
                  <a:schemeClr val="tx2"/>
                </a:solidFill>
                <a:latin typeface="+mj-lt" pitchFamily="34" charset="0"/>
                <a:ea typeface="+mj-lt" pitchFamily="34" charset="-122"/>
                <a:cs typeface="+mj-lt" pitchFamily="34" charset="-120"/>
              </a:defRPr>
            </a:lvl1pPr>
          </a:lstStyle>
          <a:p>
            <a:pPr algn="l" indent="0" marL="0">
              <a:buNone/>
            </a:pPr>
            <a:r>
              <a:rPr lang="en-US" sz="3400" b="1" dirty="0">
                <a:solidFill>
                  <a:schemeClr val="tx2"/>
                </a:solidFill>
                <a:latin typeface="+mj-lt" pitchFamily="34" charset="0"/>
                <a:ea typeface="+mj-lt" pitchFamily="34" charset="-122"/>
                <a:cs typeface="+mj-lt" pitchFamily="34" charset="-120"/>
              </a:rPr>
              <a:t>Title</a:t>
            </a:r>
            <a:endParaRPr lang="en-US" sz="3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3.xml"/><Relationship Id="rId10"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1463040"/>
          </a:xfrm>
          <a:prstGeom prst="rect">
            <a:avLst/>
          </a:prstGeom>
          <a:noFill/>
          <a:ln/>
        </p:spPr>
        <p:txBody>
          <a:bodyPr wrap="square" lIns="0" tIns="0" rIns="0" bIns="0" rtlCol="0" anchor="b"/>
          <a:lstStyle/>
          <a:p>
            <a:pPr algn="l" indent="0" marL="0">
              <a:buNone/>
            </a:pPr>
            <a:r>
              <a:rPr lang="en-US" sz="4400" b="1" dirty="0">
                <a:solidFill>
                  <a:schemeClr val="bg1"/>
                </a:solidFill>
                <a:latin typeface="+mj-lt" pitchFamily="34" charset="0"/>
                <a:ea typeface="+mj-lt" pitchFamily="34" charset="-122"/>
                <a:cs typeface="+mj-lt" pitchFamily="34" charset="-120"/>
              </a:rPr>
              <a:t>Stage-1 Calibration: Procurement and Build</a:t>
            </a:r>
            <a:endParaRPr lang="en-US" sz="4400" dirty="0"/>
          </a:p>
        </p:txBody>
      </p:sp>
      <p:sp>
        <p:nvSpPr>
          <p:cNvPr id="3" name="Text 0"/>
          <p:cNvSpPr/>
          <p:nvPr>
            <p:ph idx="101" type="body" hasCustomPrompt="1"/>
          </p:nvPr>
        </p:nvSpPr>
        <p:spPr>
          <a:xfrm>
            <a:off x="457200" y="2103120"/>
            <a:ext cx="8229600" cy="822960"/>
          </a:xfrm>
          <a:prstGeom prst="rect">
            <a:avLst/>
          </a:prstGeom>
          <a:noFill/>
          <a:ln/>
        </p:spPr>
        <p:txBody>
          <a:bodyPr wrap="square" lIns="0" tIns="0" rIns="0" bIns="0" rtlCol="0" anchor="t"/>
          <a:lstStyle/>
          <a:p>
            <a:pPr algn="l" indent="0" marL="0">
              <a:buNone/>
            </a:pPr>
            <a:r>
              <a:rPr lang="en-US" sz="2200" dirty="0">
                <a:solidFill>
                  <a:schemeClr val="accent6"/>
                </a:solidFill>
              </a:rPr>
              <a:t>The spheres, board and fixtures needed for the depth-sensor calibration captures</a:t>
            </a:r>
            <a:endParaRPr lang="en-US" sz="2200" dirty="0"/>
          </a:p>
        </p:txBody>
      </p:sp>
      <p:sp>
        <p:nvSpPr>
          <p:cNvPr id="4" name="Text 0"/>
          <p:cNvSpPr/>
          <p:nvPr>
            <p:ph idx="102" type="body" hasCustomPrompt="1"/>
          </p:nvPr>
        </p:nvSpPr>
        <p:spPr>
          <a:xfrm>
            <a:off x="457200" y="6035040"/>
            <a:ext cx="11277295" cy="365760"/>
          </a:xfrm>
          <a:prstGeom prst="rect">
            <a:avLst/>
          </a:prstGeom>
          <a:noFill/>
          <a:ln/>
        </p:spPr>
        <p:txBody>
          <a:bodyPr wrap="square" lIns="0" tIns="0" rIns="0" bIns="0" rtlCol="0" anchor="b"/>
          <a:lstStyle/>
          <a:p>
            <a:pPr algn="l" indent="0" marL="0">
              <a:buNone/>
            </a:pPr>
            <a:r>
              <a:rPr lang="en-US" sz="1400" dirty="0">
                <a:solidFill>
                  <a:schemeClr val="accent6"/>
                </a:solidFill>
              </a:rPr>
              <a:t>Procurement and mechanical build  ·  October 2026</a:t>
            </a:r>
            <a:endParaRPr lang="en-US" sz="1400" dirty="0"/>
          </a:p>
        </p:txBody>
      </p:sp>
      <p:sp>
        <p:nvSpPr>
          <p:cNvPr id="5" name="Graphic sphere B"/>
          <p:cNvSpPr/>
          <p:nvPr/>
        </p:nvSpPr>
        <p:spPr>
          <a:xfrm>
            <a:off x="457200" y="3291840"/>
            <a:ext cx="2468880" cy="2468880"/>
          </a:xfrm>
          <a:prstGeom prst="ellipse">
            <a:avLst/>
          </a:prstGeom>
          <a:solidFill>
            <a:schemeClr val="accent2"/>
          </a:solidFill>
          <a:ln w="25400">
            <a:solidFill>
              <a:schemeClr val="accent6"/>
            </a:solidFill>
            <a:prstDash val="solid"/>
          </a:ln>
        </p:spPr>
      </p:sp>
      <p:sp>
        <p:nvSpPr>
          <p:cNvPr id="6" name="Graphic sphere B cross horizontal"/>
          <p:cNvSpPr/>
          <p:nvPr/>
        </p:nvSpPr>
        <p:spPr>
          <a:xfrm>
            <a:off x="1485900" y="4503420"/>
            <a:ext cx="411480" cy="45720"/>
          </a:xfrm>
          <a:prstGeom prst="rect">
            <a:avLst/>
          </a:prstGeom>
          <a:solidFill>
            <a:schemeClr val="bg1"/>
          </a:solidFill>
          <a:ln/>
        </p:spPr>
      </p:sp>
      <p:sp>
        <p:nvSpPr>
          <p:cNvPr id="7" name="Graphic sphere B cross vertical"/>
          <p:cNvSpPr/>
          <p:nvPr/>
        </p:nvSpPr>
        <p:spPr>
          <a:xfrm>
            <a:off x="1668780" y="4320540"/>
            <a:ext cx="45720" cy="411480"/>
          </a:xfrm>
          <a:prstGeom prst="rect">
            <a:avLst/>
          </a:prstGeom>
          <a:solidFill>
            <a:schemeClr val="bg1"/>
          </a:solidFill>
          <a:ln/>
        </p:spPr>
      </p:sp>
      <p:sp>
        <p:nvSpPr>
          <p:cNvPr id="8" name="Graphic sphere A"/>
          <p:cNvSpPr/>
          <p:nvPr/>
        </p:nvSpPr>
        <p:spPr>
          <a:xfrm>
            <a:off x="3200400" y="4526280"/>
            <a:ext cx="1234440" cy="1234440"/>
          </a:xfrm>
          <a:prstGeom prst="ellipse">
            <a:avLst/>
          </a:prstGeom>
          <a:solidFill>
            <a:schemeClr val="accent1"/>
          </a:solidFill>
          <a:ln w="25400">
            <a:solidFill>
              <a:schemeClr val="accent6"/>
            </a:solidFill>
            <a:prstDash val="solid"/>
          </a:ln>
        </p:spPr>
      </p:sp>
      <p:sp>
        <p:nvSpPr>
          <p:cNvPr id="9" name="Graphic board"/>
          <p:cNvSpPr/>
          <p:nvPr/>
        </p:nvSpPr>
        <p:spPr>
          <a:xfrm>
            <a:off x="4709160" y="4389120"/>
            <a:ext cx="1920240" cy="1371600"/>
          </a:xfrm>
          <a:prstGeom prst="roundRect">
            <a:avLst>
              <a:gd name="adj" fmla="val 6667"/>
            </a:avLst>
          </a:prstGeom>
          <a:solidFill>
            <a:schemeClr val="accent6"/>
          </a:solidFill>
          <a:ln w="25400">
            <a:solidFill>
              <a:schemeClr val="accent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Two spheres and a board carry the known geometry</a:t>
            </a:r>
            <a:endParaRPr lang="en-US" sz="3400" dirty="0"/>
          </a:p>
        </p:txBody>
      </p:sp>
      <p:sp>
        <p:nvSpPr>
          <p:cNvPr id="3" name="Figure card"/>
          <p:cNvSpPr/>
          <p:nvPr/>
        </p:nvSpPr>
        <p:spPr>
          <a:xfrm>
            <a:off x="457200" y="1417320"/>
            <a:ext cx="6949440" cy="4709160"/>
          </a:xfrm>
          <a:prstGeom prst="roundRect">
            <a:avLst>
              <a:gd name="adj" fmla="val 2330"/>
            </a:avLst>
          </a:prstGeom>
          <a:solidFill>
            <a:schemeClr val="bg1"/>
          </a:solidFill>
          <a:ln w="12700">
            <a:solidFill>
              <a:schemeClr val="accent6"/>
            </a:solidFill>
            <a:prstDash val="solid"/>
          </a:ln>
        </p:spPr>
      </p:sp>
      <p:pic>
        <p:nvPicPr>
          <p:cNvPr id="4" name="Sphere on stem, side view" descr="Sphere on stem, side view">    </p:cNvPr>
          <p:cNvPicPr>
            <a:picLocks noChangeAspect="1"/>
          </p:cNvPicPr>
          <p:nvPr/>
        </p:nvPicPr>
        <p:blipFill>
          <a:blip r:embed="rId1"/>
          <a:stretch>
            <a:fillRect/>
          </a:stretch>
        </p:blipFill>
        <p:spPr>
          <a:xfrm>
            <a:off x="685800" y="1997249"/>
            <a:ext cx="6492240" cy="2909221"/>
          </a:xfrm>
          <a:prstGeom prst="rect">
            <a:avLst/>
          </a:prstGeom>
        </p:spPr>
      </p:pic>
      <p:sp>
        <p:nvSpPr>
          <p:cNvPr id="5" name="Figure caption"/>
          <p:cNvSpPr txBox="1"/>
          <p:nvPr/>
        </p:nvSpPr>
        <p:spPr>
          <a:xfrm>
            <a:off x="685800" y="5089351"/>
            <a:ext cx="6492240" cy="457200"/>
          </a:xfrm>
          <a:prstGeom prst="rect">
            <a:avLst/>
          </a:prstGeom>
          <a:noFill/>
          <a:ln/>
        </p:spPr>
        <p:txBody>
          <a:bodyPr wrap="square" lIns="0" tIns="0" rIns="0" bIns="0" rtlCol="0" anchor="t"/>
          <a:lstStyle/>
          <a:p>
            <a:pPr algn="l" indent="0" marL="0">
              <a:buNone/>
            </a:pPr>
            <a:r>
              <a:rPr lang="en-US" sz="1200" dirty="0">
                <a:solidFill>
                  <a:schemeClr val="accent5"/>
                </a:solidFill>
              </a:rPr>
              <a:t>Sphere on its stem, side view: the stem points away from the sensor so that the sphere hides it.</a:t>
            </a:r>
            <a:endParaRPr lang="en-US" sz="1200" dirty="0"/>
          </a:p>
        </p:txBody>
      </p:sp>
      <p:sp>
        <p:nvSpPr>
          <p:cNvPr id="6" name="Fixture 1 card"/>
          <p:cNvSpPr/>
          <p:nvPr/>
        </p:nvSpPr>
        <p:spPr>
          <a:xfrm>
            <a:off x="7680960" y="1417320"/>
            <a:ext cx="4053535" cy="1386840"/>
          </a:xfrm>
          <a:prstGeom prst="roundRect">
            <a:avLst>
              <a:gd name="adj" fmla="val 7912"/>
            </a:avLst>
          </a:prstGeom>
          <a:solidFill>
            <a:schemeClr val="bg2"/>
          </a:solidFill>
          <a:ln/>
        </p:spPr>
      </p:sp>
      <p:sp>
        <p:nvSpPr>
          <p:cNvPr id="7" name="Fixture 1 icon circle"/>
          <p:cNvSpPr/>
          <p:nvPr/>
        </p:nvSpPr>
        <p:spPr>
          <a:xfrm>
            <a:off x="7909560" y="1790700"/>
            <a:ext cx="640080" cy="640080"/>
          </a:xfrm>
          <a:prstGeom prst="ellipse">
            <a:avLst/>
          </a:prstGeom>
          <a:solidFill>
            <a:schemeClr val="accent2"/>
          </a:solidFill>
          <a:ln/>
        </p:spPr>
      </p:sp>
      <p:pic>
        <p:nvPicPr>
          <p:cNvPr id="8" name="Fixture 1 icon glyph" descr="circle icon">    </p:cNvPr>
          <p:cNvPicPr>
            <a:picLocks noChangeAspect="1"/>
          </p:cNvPicPr>
          <p:nvPr/>
        </p:nvPicPr>
        <p:blipFill>
          <a:blip r:embed="rId2"/>
          <a:stretch>
            <a:fillRect/>
          </a:stretch>
        </p:blipFill>
        <p:spPr>
          <a:xfrm>
            <a:off x="8069580" y="1950720"/>
            <a:ext cx="320040" cy="320040"/>
          </a:xfrm>
          <a:prstGeom prst="rect">
            <a:avLst/>
          </a:prstGeom>
        </p:spPr>
      </p:pic>
      <p:sp>
        <p:nvSpPr>
          <p:cNvPr id="9" name="Fixture 1 text"/>
          <p:cNvSpPr txBox="1"/>
          <p:nvPr/>
        </p:nvSpPr>
        <p:spPr>
          <a:xfrm>
            <a:off x="8732520" y="1645920"/>
            <a:ext cx="2773375" cy="929640"/>
          </a:xfrm>
          <a:prstGeom prst="rect">
            <a:avLst/>
          </a:prstGeom>
          <a:noFill/>
          <a:ln/>
        </p:spPr>
        <p:txBody>
          <a:bodyPr wrap="square" lIns="0" tIns="0" rIns="0" bIns="0" rtlCol="0" anchor="ctr"/>
          <a:lstStyle/>
          <a:p>
            <a:pPr algn="l" indent="0" marL="0">
              <a:buNone/>
            </a:pPr>
            <a:r>
              <a:rPr lang="en-US" sz="1800" b="1" dirty="0">
                <a:solidFill>
                  <a:schemeClr val="tx2"/>
                </a:solidFill>
              </a:rPr>
              <a:t>Sphere A</a:t>
            </a:r>
            <a:endParaRPr lang="en-US" sz="1600" dirty="0"/>
          </a:p>
          <a:p>
            <a:pPr algn="l" indent="0" marL="0">
              <a:buNone/>
            </a:pPr>
            <a:r>
              <a:rPr lang="en-US" sz="1400" dirty="0">
                <a:solidFill>
                  <a:schemeClr val="tx1"/>
                </a:solidFill>
              </a:rPr>
              <a:t>76.2 mm diameter; used from 300 to 550 mm</a:t>
            </a:r>
            <a:endParaRPr lang="en-US" sz="1600" dirty="0"/>
          </a:p>
        </p:txBody>
      </p:sp>
      <p:sp>
        <p:nvSpPr>
          <p:cNvPr id="10" name="Fixture 2 card"/>
          <p:cNvSpPr/>
          <p:nvPr/>
        </p:nvSpPr>
        <p:spPr>
          <a:xfrm>
            <a:off x="7680960" y="3078480"/>
            <a:ext cx="4053535" cy="1386840"/>
          </a:xfrm>
          <a:prstGeom prst="roundRect">
            <a:avLst>
              <a:gd name="adj" fmla="val 7912"/>
            </a:avLst>
          </a:prstGeom>
          <a:solidFill>
            <a:schemeClr val="bg2"/>
          </a:solidFill>
          <a:ln/>
        </p:spPr>
      </p:sp>
      <p:sp>
        <p:nvSpPr>
          <p:cNvPr id="11" name="Fixture 2 icon circle"/>
          <p:cNvSpPr/>
          <p:nvPr/>
        </p:nvSpPr>
        <p:spPr>
          <a:xfrm>
            <a:off x="7909560" y="3451860"/>
            <a:ext cx="640080" cy="640080"/>
          </a:xfrm>
          <a:prstGeom prst="ellipse">
            <a:avLst/>
          </a:prstGeom>
          <a:solidFill>
            <a:schemeClr val="accent2"/>
          </a:solidFill>
          <a:ln/>
        </p:spPr>
      </p:sp>
      <p:pic>
        <p:nvPicPr>
          <p:cNvPr id="12" name="Fixture 2 icon glyph" descr="circle icon">    </p:cNvPr>
          <p:cNvPicPr>
            <a:picLocks noChangeAspect="1"/>
          </p:cNvPicPr>
          <p:nvPr/>
        </p:nvPicPr>
        <p:blipFill>
          <a:blip r:embed="rId3"/>
          <a:stretch>
            <a:fillRect/>
          </a:stretch>
        </p:blipFill>
        <p:spPr>
          <a:xfrm>
            <a:off x="8069580" y="3611880"/>
            <a:ext cx="320040" cy="320040"/>
          </a:xfrm>
          <a:prstGeom prst="rect">
            <a:avLst/>
          </a:prstGeom>
        </p:spPr>
      </p:pic>
      <p:sp>
        <p:nvSpPr>
          <p:cNvPr id="13" name="Fixture 2 text"/>
          <p:cNvSpPr txBox="1"/>
          <p:nvPr/>
        </p:nvSpPr>
        <p:spPr>
          <a:xfrm>
            <a:off x="8732520" y="3307080"/>
            <a:ext cx="2773375" cy="929640"/>
          </a:xfrm>
          <a:prstGeom prst="rect">
            <a:avLst/>
          </a:prstGeom>
          <a:noFill/>
          <a:ln/>
        </p:spPr>
        <p:txBody>
          <a:bodyPr wrap="square" lIns="0" tIns="0" rIns="0" bIns="0" rtlCol="0" anchor="ctr"/>
          <a:lstStyle/>
          <a:p>
            <a:pPr algn="l" indent="0" marL="0">
              <a:buNone/>
            </a:pPr>
            <a:r>
              <a:rPr lang="en-US" sz="1800" b="1" dirty="0">
                <a:solidFill>
                  <a:schemeClr val="tx2"/>
                </a:solidFill>
              </a:rPr>
              <a:t>Sphere B</a:t>
            </a:r>
            <a:endParaRPr lang="en-US" sz="1600" dirty="0"/>
          </a:p>
          <a:p>
            <a:pPr algn="l" indent="0" marL="0">
              <a:buNone/>
            </a:pPr>
            <a:r>
              <a:rPr lang="en-US" sz="1400" dirty="0">
                <a:solidFill>
                  <a:schemeClr val="tx1"/>
                </a:solidFill>
              </a:rPr>
              <a:t>152.4 mm diameter; used from 500 to 1,100 mm</a:t>
            </a:r>
            <a:endParaRPr lang="en-US" sz="1600" dirty="0"/>
          </a:p>
        </p:txBody>
      </p:sp>
      <p:sp>
        <p:nvSpPr>
          <p:cNvPr id="14" name="Fixture 3 card"/>
          <p:cNvSpPr/>
          <p:nvPr/>
        </p:nvSpPr>
        <p:spPr>
          <a:xfrm>
            <a:off x="7680960" y="4739640"/>
            <a:ext cx="4053535" cy="1386840"/>
          </a:xfrm>
          <a:prstGeom prst="roundRect">
            <a:avLst>
              <a:gd name="adj" fmla="val 7912"/>
            </a:avLst>
          </a:prstGeom>
          <a:solidFill>
            <a:schemeClr val="bg2"/>
          </a:solidFill>
          <a:ln/>
        </p:spPr>
      </p:sp>
      <p:sp>
        <p:nvSpPr>
          <p:cNvPr id="15" name="Fixture 3 icon circle"/>
          <p:cNvSpPr/>
          <p:nvPr/>
        </p:nvSpPr>
        <p:spPr>
          <a:xfrm>
            <a:off x="7909560" y="5113020"/>
            <a:ext cx="640080" cy="640080"/>
          </a:xfrm>
          <a:prstGeom prst="ellipse">
            <a:avLst/>
          </a:prstGeom>
          <a:solidFill>
            <a:schemeClr val="accent2"/>
          </a:solidFill>
          <a:ln/>
        </p:spPr>
      </p:sp>
      <p:pic>
        <p:nvPicPr>
          <p:cNvPr id="16" name="Fixture 3 icon glyph" descr="board icon">    </p:cNvPr>
          <p:cNvPicPr>
            <a:picLocks noChangeAspect="1"/>
          </p:cNvPicPr>
          <p:nvPr/>
        </p:nvPicPr>
        <p:blipFill>
          <a:blip r:embed="rId4"/>
          <a:stretch>
            <a:fillRect/>
          </a:stretch>
        </p:blipFill>
        <p:spPr>
          <a:xfrm>
            <a:off x="8069580" y="5273040"/>
            <a:ext cx="320040" cy="320040"/>
          </a:xfrm>
          <a:prstGeom prst="rect">
            <a:avLst/>
          </a:prstGeom>
        </p:spPr>
      </p:pic>
      <p:sp>
        <p:nvSpPr>
          <p:cNvPr id="17" name="Fixture 3 text"/>
          <p:cNvSpPr txBox="1"/>
          <p:nvPr/>
        </p:nvSpPr>
        <p:spPr>
          <a:xfrm>
            <a:off x="8732520" y="4968240"/>
            <a:ext cx="2773375" cy="929640"/>
          </a:xfrm>
          <a:prstGeom prst="rect">
            <a:avLst/>
          </a:prstGeom>
          <a:noFill/>
          <a:ln/>
        </p:spPr>
        <p:txBody>
          <a:bodyPr wrap="square" lIns="0" tIns="0" rIns="0" bIns="0" rtlCol="0" anchor="ctr"/>
          <a:lstStyle/>
          <a:p>
            <a:pPr algn="l" indent="0" marL="0">
              <a:buNone/>
            </a:pPr>
            <a:r>
              <a:rPr lang="en-US" sz="1800" b="1" dirty="0">
                <a:solidFill>
                  <a:schemeClr val="tx2"/>
                </a:solidFill>
              </a:rPr>
              <a:t>Board</a:t>
            </a:r>
            <a:endParaRPr lang="en-US" sz="1600" dirty="0"/>
          </a:p>
          <a:p>
            <a:pPr algn="l" indent="0" marL="0">
              <a:buNone/>
            </a:pPr>
            <a:r>
              <a:rPr lang="en-US" sz="1400" dirty="0">
                <a:solidFill>
                  <a:schemeClr val="tx1"/>
                </a:solidFill>
              </a:rPr>
              <a:t>200 x 150 mm, at least 6 mm thick, flat to 0.05 mm after painting; tilted 0, 20 and 40 degrees</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New equipment costs about $1,900 to $5,400</a:t>
            </a:r>
            <a:endParaRPr lang="en-US" sz="3400" dirty="0"/>
          </a:p>
        </p:txBody>
      </p:sp>
      <p:graphicFrame>
        <p:nvGraphicFramePr>
          <p:cNvPr id="4" name="Cost table"/>
          <p:cNvGraphicFramePr>
            <a:graphicFrameLocks noGrp="1"/>
          </p:cNvGraphicFramePr>
          <p:nvPr>
            <p:extLst>
              <p:ext uri="{D42A27DB-BD31-4B8C-83A1-F6EECF244321}">
                <p14:modId xmlns:p14="http://schemas.microsoft.com/office/powerpoint/2010/main" val="1579011935"/>
              </p:ext>
            </p:extLst>
          </p:nvPr>
        </p:nvGraphicFramePr>
        <p:xfrm>
          <a:off x="457200" y="1417320"/>
          <a:ext cx="6766560" cy="914400"/>
        </p:xfrm>
        <a:graphic>
          <a:graphicData uri="http://schemas.openxmlformats.org/drawingml/2006/table">
            <a:tbl>
              <a:tblPr/>
              <a:tblGrid>
                <a:gridCol w="4572000"/>
                <a:gridCol w="2194560"/>
              </a:tblGrid>
              <a:tr h="462280">
                <a:tc>
                  <a:txBody>
                    <a:bodyPr/>
                    <a:lstStyle/>
                    <a:p>
                      <a:pPr algn="l" indent="0" marL="0">
                        <a:buNone/>
                      </a:pPr>
                      <a:r>
                        <a:rPr lang="en-US" sz="1400" b="1" dirty="0">
                          <a:solidFill>
                            <a:schemeClr val="bg1"/>
                          </a:solidFill>
                        </a:rPr>
                        <a:t>Item</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Estimated cost (USD)</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462280">
                <a:tc>
                  <a:txBody>
                    <a:bodyPr/>
                    <a:lstStyle/>
                    <a:p>
                      <a:pPr algn="l" indent="0" marL="0">
                        <a:buNone/>
                      </a:pPr>
                      <a:r>
                        <a:rPr lang="en-US" sz="1400" dirty="0">
                          <a:solidFill>
                            <a:schemeClr val="tx1"/>
                          </a:solidFill>
                        </a:rPr>
                        <a:t>Sphere A, bearing ball, bonded stem, blasted, measured</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$350 to $850</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62280">
                <a:tc>
                  <a:txBody>
                    <a:bodyPr/>
                    <a:lstStyle/>
                    <a:p>
                      <a:pPr algn="l" indent="0" marL="0">
                        <a:buNone/>
                      </a:pPr>
                      <a:r>
                        <a:rPr lang="en-US" sz="1400" dirty="0">
                          <a:solidFill>
                            <a:schemeClr val="tx1"/>
                          </a:solidFill>
                        </a:rPr>
                        <a:t>Sphere B, turned aluminum, anodized, measured</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$600 to $1,800</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462280">
                <a:tc>
                  <a:txBody>
                    <a:bodyPr/>
                    <a:lstStyle/>
                    <a:p>
                      <a:pPr algn="l" indent="0" marL="0">
                        <a:buNone/>
                      </a:pPr>
                      <a:r>
                        <a:rPr lang="en-US" sz="1400" dirty="0">
                          <a:solidFill>
                            <a:schemeClr val="tx1"/>
                          </a:solidFill>
                        </a:rPr>
                        <a:t>Stems, two</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$150 to $400</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62280">
                <a:tc>
                  <a:txBody>
                    <a:bodyPr/>
                    <a:lstStyle/>
                    <a:p>
                      <a:pPr algn="l" indent="0" marL="0">
                        <a:buNone/>
                      </a:pPr>
                      <a:r>
                        <a:rPr lang="en-US" sz="1400" dirty="0">
                          <a:solidFill>
                            <a:schemeClr val="tx1"/>
                          </a:solidFill>
                        </a:rPr>
                        <a:t>Adapter plates, two</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$250 to $600</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462280">
                <a:tc>
                  <a:txBody>
                    <a:bodyPr/>
                    <a:lstStyle/>
                    <a:p>
                      <a:pPr algn="l" indent="0" marL="0">
                        <a:buNone/>
                      </a:pPr>
                      <a:r>
                        <a:rPr lang="en-US" sz="1400" dirty="0">
                          <a:solidFill>
                            <a:schemeClr val="tx1"/>
                          </a:solidFill>
                        </a:rPr>
                        <a:t>Board, glass or ground aluminum, painted</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$50 to $400</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62280">
                <a:tc>
                  <a:txBody>
                    <a:bodyPr/>
                    <a:lstStyle/>
                    <a:p>
                      <a:pPr algn="l" indent="0" marL="0">
                        <a:buNone/>
                      </a:pPr>
                      <a:r>
                        <a:rPr lang="en-US" sz="1400" dirty="0">
                          <a:solidFill>
                            <a:schemeClr val="tx1"/>
                          </a:solidFill>
                        </a:rPr>
                        <a:t>Board adapter</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$250 to $600</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462280">
                <a:tc>
                  <a:txBody>
                    <a:bodyPr/>
                    <a:lstStyle/>
                    <a:p>
                      <a:pPr algn="l" indent="0" marL="0">
                        <a:buNone/>
                      </a:pPr>
                      <a:r>
                        <a:rPr lang="en-US" sz="1400" dirty="0">
                          <a:solidFill>
                            <a:schemeClr val="tx1"/>
                          </a:solidFill>
                        </a:rPr>
                        <a:t>Three-ball nest</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$150 to $450</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62280">
                <a:tc>
                  <a:txBody>
                    <a:bodyPr/>
                    <a:lstStyle/>
                    <a:p>
                      <a:pPr algn="l" indent="0" marL="0">
                        <a:buNone/>
                      </a:pPr>
                      <a:r>
                        <a:rPr lang="en-US" sz="1400" dirty="0">
                          <a:solidFill>
                            <a:schemeClr val="tx1"/>
                          </a:solidFill>
                        </a:rPr>
                        <a:t>Dial indicator with magnetic base</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$100 to $300</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bl>
          </a:graphicData>
        </a:graphic>
      </p:graphicFrame>
      <p:sp>
        <p:nvSpPr>
          <p:cNvPr id="4" name="Total 1 card"/>
          <p:cNvSpPr/>
          <p:nvPr/>
        </p:nvSpPr>
        <p:spPr>
          <a:xfrm>
            <a:off x="7498080" y="1417320"/>
            <a:ext cx="4236415" cy="1943100"/>
          </a:xfrm>
          <a:prstGeom prst="roundRect">
            <a:avLst>
              <a:gd name="adj" fmla="val 5647"/>
            </a:avLst>
          </a:prstGeom>
          <a:solidFill>
            <a:schemeClr val="bg2"/>
          </a:solidFill>
          <a:ln/>
        </p:spPr>
      </p:sp>
      <p:sp>
        <p:nvSpPr>
          <p:cNvPr id="5" name="Total 1 value"/>
          <p:cNvSpPr txBox="1"/>
          <p:nvPr/>
        </p:nvSpPr>
        <p:spPr>
          <a:xfrm>
            <a:off x="7726680" y="1840230"/>
            <a:ext cx="3779215" cy="548640"/>
          </a:xfrm>
          <a:prstGeom prst="rect">
            <a:avLst/>
          </a:prstGeom>
          <a:noFill/>
          <a:ln/>
        </p:spPr>
        <p:txBody>
          <a:bodyPr wrap="square" lIns="0" tIns="0" rIns="0" bIns="0" rtlCol="0" anchor="ctr"/>
          <a:lstStyle/>
          <a:p>
            <a:pPr algn="l" indent="0" marL="0">
              <a:buNone/>
            </a:pPr>
            <a:r>
              <a:rPr lang="en-US" sz="3200" b="1" dirty="0">
                <a:solidFill>
                  <a:schemeClr val="accent1"/>
                </a:solidFill>
                <a:latin typeface="+mj-lt" pitchFamily="34" charset="0"/>
                <a:ea typeface="+mj-lt" pitchFamily="34" charset="-122"/>
                <a:cs typeface="+mj-lt" pitchFamily="34" charset="-120"/>
              </a:rPr>
              <a:t>$1,900 to $5,400</a:t>
            </a:r>
            <a:endParaRPr lang="en-US" sz="3200" dirty="0"/>
          </a:p>
        </p:txBody>
      </p:sp>
      <p:sp>
        <p:nvSpPr>
          <p:cNvPr id="6" name="Total 1 label"/>
          <p:cNvSpPr txBox="1"/>
          <p:nvPr/>
        </p:nvSpPr>
        <p:spPr>
          <a:xfrm>
            <a:off x="7726680" y="2388870"/>
            <a:ext cx="3779215" cy="548640"/>
          </a:xfrm>
          <a:prstGeom prst="rect">
            <a:avLst/>
          </a:prstGeom>
          <a:noFill/>
          <a:ln/>
        </p:spPr>
        <p:txBody>
          <a:bodyPr wrap="square" lIns="0" tIns="0" rIns="0" bIns="0" rtlCol="0" anchor="t"/>
          <a:lstStyle/>
          <a:p>
            <a:pPr algn="l" indent="0" marL="0">
              <a:buNone/>
            </a:pPr>
            <a:r>
              <a:rPr lang="en-US" sz="1400" dirty="0">
                <a:solidFill>
                  <a:schemeClr val="tx1"/>
                </a:solidFill>
              </a:rPr>
              <a:t>bearing-ball sphere A, aluminum sphere B</a:t>
            </a:r>
            <a:endParaRPr lang="en-US" sz="1400" dirty="0"/>
          </a:p>
        </p:txBody>
      </p:sp>
      <p:sp>
        <p:nvSpPr>
          <p:cNvPr id="7" name="Total 2 card"/>
          <p:cNvSpPr/>
          <p:nvPr/>
        </p:nvSpPr>
        <p:spPr>
          <a:xfrm>
            <a:off x="7498080" y="3634740"/>
            <a:ext cx="4236415" cy="1943100"/>
          </a:xfrm>
          <a:prstGeom prst="roundRect">
            <a:avLst>
              <a:gd name="adj" fmla="val 5647"/>
            </a:avLst>
          </a:prstGeom>
          <a:solidFill>
            <a:schemeClr val="bg2"/>
          </a:solidFill>
          <a:ln/>
        </p:spPr>
      </p:sp>
      <p:sp>
        <p:nvSpPr>
          <p:cNvPr id="8" name="Total 2 value"/>
          <p:cNvSpPr txBox="1"/>
          <p:nvPr/>
        </p:nvSpPr>
        <p:spPr>
          <a:xfrm>
            <a:off x="7726680" y="4057650"/>
            <a:ext cx="3779215" cy="548640"/>
          </a:xfrm>
          <a:prstGeom prst="rect">
            <a:avLst/>
          </a:prstGeom>
          <a:noFill/>
          <a:ln/>
        </p:spPr>
        <p:txBody>
          <a:bodyPr wrap="square" lIns="0" tIns="0" rIns="0" bIns="0" rtlCol="0" anchor="ctr"/>
          <a:lstStyle/>
          <a:p>
            <a:pPr algn="l" indent="0" marL="0">
              <a:buNone/>
            </a:pPr>
            <a:r>
              <a:rPr lang="en-US" sz="3200" b="1" dirty="0">
                <a:solidFill>
                  <a:schemeClr val="accent1"/>
                </a:solidFill>
                <a:latin typeface="+mj-lt" pitchFamily="34" charset="0"/>
                <a:ea typeface="+mj-lt" pitchFamily="34" charset="-122"/>
                <a:cs typeface="+mj-lt" pitchFamily="34" charset="-120"/>
              </a:rPr>
              <a:t>$3,550 to $10,250</a:t>
            </a:r>
            <a:endParaRPr lang="en-US" sz="3200" dirty="0"/>
          </a:p>
        </p:txBody>
      </p:sp>
      <p:sp>
        <p:nvSpPr>
          <p:cNvPr id="9" name="Total 2 label"/>
          <p:cNvSpPr txBox="1"/>
          <p:nvPr/>
        </p:nvSpPr>
        <p:spPr>
          <a:xfrm>
            <a:off x="7726680" y="4606290"/>
            <a:ext cx="3779215" cy="548640"/>
          </a:xfrm>
          <a:prstGeom prst="rect">
            <a:avLst/>
          </a:prstGeom>
          <a:noFill/>
          <a:ln/>
        </p:spPr>
        <p:txBody>
          <a:bodyPr wrap="square" lIns="0" tIns="0" rIns="0" bIns="0" rtlCol="0" anchor="t"/>
          <a:lstStyle/>
          <a:p>
            <a:pPr algn="l" indent="0" marL="0">
              <a:buNone/>
            </a:pPr>
            <a:r>
              <a:rPr lang="en-US" sz="1400" dirty="0">
                <a:solidFill>
                  <a:schemeClr val="tx1"/>
                </a:solidFill>
              </a:rPr>
              <a:t>both spheres made to order</a:t>
            </a:r>
            <a:endParaRPr lang="en-US" sz="1400" dirty="0"/>
          </a:p>
        </p:txBody>
      </p:sp>
      <p:sp>
        <p:nvSpPr>
          <p:cNvPr id="10" name="Cost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Estimates of October 2026, plus or minus 50 percent; sphere B is the least certain. The sensor, robot and capture computer are in hand.</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Spheres must be matte and measured, not certified</a:t>
            </a:r>
            <a:endParaRPr lang="en-US" sz="3400" dirty="0"/>
          </a:p>
        </p:txBody>
      </p:sp>
      <p:sp>
        <p:nvSpPr>
          <p:cNvPr id="3" name="Column 1 card"/>
          <p:cNvSpPr/>
          <p:nvPr/>
        </p:nvSpPr>
        <p:spPr>
          <a:xfrm>
            <a:off x="457200" y="1417320"/>
            <a:ext cx="3576218" cy="4709160"/>
          </a:xfrm>
          <a:prstGeom prst="roundRect">
            <a:avLst>
              <a:gd name="adj" fmla="val 3068"/>
            </a:avLst>
          </a:prstGeom>
          <a:solidFill>
            <a:schemeClr val="bg2"/>
          </a:solidFill>
          <a:ln/>
        </p:spPr>
      </p:sp>
      <p:sp>
        <p:nvSpPr>
          <p:cNvPr id="4" name="Column 1 icon circle"/>
          <p:cNvSpPr/>
          <p:nvPr/>
        </p:nvSpPr>
        <p:spPr>
          <a:xfrm>
            <a:off x="685800" y="1645920"/>
            <a:ext cx="640080" cy="640080"/>
          </a:xfrm>
          <a:prstGeom prst="ellipse">
            <a:avLst/>
          </a:prstGeom>
          <a:solidFill>
            <a:schemeClr val="accent2"/>
          </a:solidFill>
          <a:ln/>
        </p:spPr>
      </p:sp>
      <p:pic>
        <p:nvPicPr>
          <p:cNvPr id="5" name="Column 1 icon glyph" descr="spray icon">    </p:cNvPr>
          <p:cNvPicPr>
            <a:picLocks noChangeAspect="1"/>
          </p:cNvPicPr>
          <p:nvPr/>
        </p:nvPicPr>
        <p:blipFill>
          <a:blip r:embed="rId1"/>
          <a:stretch>
            <a:fillRect/>
          </a:stretch>
        </p:blipFill>
        <p:spPr>
          <a:xfrm>
            <a:off x="845820" y="1805940"/>
            <a:ext cx="320040" cy="320040"/>
          </a:xfrm>
          <a:prstGeom prst="rect">
            <a:avLst/>
          </a:prstGeom>
        </p:spPr>
      </p:pic>
      <p:sp>
        <p:nvSpPr>
          <p:cNvPr id="6" name="Column 1 head"/>
          <p:cNvSpPr txBox="1"/>
          <p:nvPr/>
        </p:nvSpPr>
        <p:spPr>
          <a:xfrm>
            <a:off x="685800" y="2468880"/>
            <a:ext cx="3119018" cy="365760"/>
          </a:xfrm>
          <a:prstGeom prst="rect">
            <a:avLst/>
          </a:prstGeom>
          <a:noFill/>
          <a:ln/>
        </p:spPr>
        <p:txBody>
          <a:bodyPr wrap="square" lIns="0" tIns="0" rIns="0" bIns="0" rtlCol="0" anchor="t"/>
          <a:lstStyle/>
          <a:p>
            <a:pPr algn="l" indent="0" marL="0">
              <a:buNone/>
            </a:pPr>
            <a:r>
              <a:rPr lang="en-US" sz="2000" b="1" dirty="0">
                <a:solidFill>
                  <a:schemeClr val="tx2"/>
                </a:solidFill>
                <a:latin typeface="+mj-lt" pitchFamily="34" charset="0"/>
                <a:ea typeface="+mj-lt" pitchFamily="34" charset="-122"/>
                <a:cs typeface="+mj-lt" pitchFamily="34" charset="-120"/>
              </a:rPr>
              <a:t>Finish</a:t>
            </a:r>
            <a:endParaRPr lang="en-US" sz="2000" dirty="0"/>
          </a:p>
        </p:txBody>
      </p:sp>
      <p:sp>
        <p:nvSpPr>
          <p:cNvPr id="7" name="Column 1 points"/>
          <p:cNvSpPr txBox="1"/>
          <p:nvPr/>
        </p:nvSpPr>
        <p:spPr>
          <a:xfrm>
            <a:off x="685800" y="2926080"/>
            <a:ext cx="3119018" cy="2971800"/>
          </a:xfrm>
          <a:prstGeom prst="rect">
            <a:avLst/>
          </a:prstGeom>
          <a:noFill/>
          <a:ln/>
        </p:spPr>
        <p:txBody>
          <a:bodyPr wrap="square" lIns="0" tIns="0" rIns="0" bIns="0" rtlCol="0" anchor="t"/>
          <a:lstStyle/>
          <a:p>
            <a:pPr algn="l" marL="177800" indent="-177800">
              <a:spcAft>
                <a:spcPts val="1200"/>
              </a:spcAft>
              <a:buSzPct val="100000"/>
              <a:buChar char="•"/>
            </a:pPr>
            <a:r>
              <a:rPr lang="en-US" sz="1600" dirty="0">
                <a:solidFill>
                  <a:schemeClr val="tx1"/>
                </a:solidFill>
              </a:rPr>
              <a:t>Every bearing ball arrives mirror-bright: unusable</a:t>
            </a:r>
            <a:endParaRPr lang="en-US" sz="1600" dirty="0"/>
          </a:p>
          <a:p>
            <a:pPr algn="l" marL="177800" indent="-177800">
              <a:spcAft>
                <a:spcPts val="1200"/>
              </a:spcAft>
              <a:buSzPct val="100000"/>
              <a:buChar char="•"/>
            </a:pPr>
            <a:r>
              <a:rPr lang="en-US" sz="1600" dirty="0">
                <a:solidFill>
                  <a:schemeClr val="tx1"/>
                </a:solidFill>
              </a:rPr>
              <a:t>Bead-blast with fine glass bead: removes micrometers</a:t>
            </a:r>
            <a:endParaRPr lang="en-US" sz="1600" dirty="0"/>
          </a:p>
          <a:p>
            <a:pPr algn="l" marL="177800" indent="-177800">
              <a:spcAft>
                <a:spcPts val="1200"/>
              </a:spcAft>
              <a:buSzPct val="100000"/>
              <a:buChar char="•"/>
            </a:pPr>
            <a:r>
              <a:rPr lang="en-US" sz="1600" dirty="0">
                <a:solidFill>
                  <a:schemeClr val="tx1"/>
                </a:solidFill>
              </a:rPr>
              <a:t>Matte paint is second choice: 0.02 to 0.05 mm per coat</a:t>
            </a:r>
            <a:endParaRPr lang="en-US" sz="1600" dirty="0"/>
          </a:p>
          <a:p>
            <a:pPr algn="l" marL="177800" indent="-177800">
              <a:spcAft>
                <a:spcPts val="1200"/>
              </a:spcAft>
              <a:buSzPct val="100000"/>
              <a:buChar char="•"/>
            </a:pPr>
            <a:r>
              <a:rPr lang="en-US" sz="1600" dirty="0">
                <a:solidFill>
                  <a:schemeClr val="tx1"/>
                </a:solidFill>
              </a:rPr>
              <a:t>"Chrome steel" is the 52100 alloy, not plating</a:t>
            </a:r>
            <a:endParaRPr lang="en-US" sz="1600" dirty="0"/>
          </a:p>
        </p:txBody>
      </p:sp>
      <p:sp>
        <p:nvSpPr>
          <p:cNvPr id="8" name="Column 2 card"/>
          <p:cNvSpPr/>
          <p:nvPr/>
        </p:nvSpPr>
        <p:spPr>
          <a:xfrm>
            <a:off x="4307738" y="1417320"/>
            <a:ext cx="3576218" cy="4709160"/>
          </a:xfrm>
          <a:prstGeom prst="roundRect">
            <a:avLst>
              <a:gd name="adj" fmla="val 3068"/>
            </a:avLst>
          </a:prstGeom>
          <a:solidFill>
            <a:schemeClr val="bg2"/>
          </a:solidFill>
          <a:ln/>
        </p:spPr>
      </p:sp>
      <p:sp>
        <p:nvSpPr>
          <p:cNvPr id="9" name="Column 2 icon circle"/>
          <p:cNvSpPr/>
          <p:nvPr/>
        </p:nvSpPr>
        <p:spPr>
          <a:xfrm>
            <a:off x="4536338" y="1645920"/>
            <a:ext cx="640080" cy="640080"/>
          </a:xfrm>
          <a:prstGeom prst="ellipse">
            <a:avLst/>
          </a:prstGeom>
          <a:solidFill>
            <a:schemeClr val="accent2"/>
          </a:solidFill>
          <a:ln/>
        </p:spPr>
      </p:sp>
      <p:pic>
        <p:nvPicPr>
          <p:cNvPr id="10" name="Column 2 icon glyph" descr="ruler icon">    </p:cNvPr>
          <p:cNvPicPr>
            <a:picLocks noChangeAspect="1"/>
          </p:cNvPicPr>
          <p:nvPr/>
        </p:nvPicPr>
        <p:blipFill>
          <a:blip r:embed="rId2"/>
          <a:stretch>
            <a:fillRect/>
          </a:stretch>
        </p:blipFill>
        <p:spPr>
          <a:xfrm>
            <a:off x="4696358" y="1805940"/>
            <a:ext cx="320040" cy="320040"/>
          </a:xfrm>
          <a:prstGeom prst="rect">
            <a:avLst/>
          </a:prstGeom>
        </p:spPr>
      </p:pic>
      <p:sp>
        <p:nvSpPr>
          <p:cNvPr id="11" name="Column 2 head"/>
          <p:cNvSpPr txBox="1"/>
          <p:nvPr/>
        </p:nvSpPr>
        <p:spPr>
          <a:xfrm>
            <a:off x="4536338" y="2468880"/>
            <a:ext cx="3119018" cy="365760"/>
          </a:xfrm>
          <a:prstGeom prst="rect">
            <a:avLst/>
          </a:prstGeom>
          <a:noFill/>
          <a:ln/>
        </p:spPr>
        <p:txBody>
          <a:bodyPr wrap="square" lIns="0" tIns="0" rIns="0" bIns="0" rtlCol="0" anchor="t"/>
          <a:lstStyle/>
          <a:p>
            <a:pPr algn="l" indent="0" marL="0">
              <a:buNone/>
            </a:pPr>
            <a:r>
              <a:rPr lang="en-US" sz="2000" b="1" dirty="0">
                <a:solidFill>
                  <a:schemeClr val="tx2"/>
                </a:solidFill>
                <a:latin typeface="+mj-lt" pitchFamily="34" charset="0"/>
                <a:ea typeface="+mj-lt" pitchFamily="34" charset="-122"/>
                <a:cs typeface="+mj-lt" pitchFamily="34" charset="-120"/>
              </a:rPr>
              <a:t>Diameter</a:t>
            </a:r>
            <a:endParaRPr lang="en-US" sz="2000" dirty="0"/>
          </a:p>
        </p:txBody>
      </p:sp>
      <p:sp>
        <p:nvSpPr>
          <p:cNvPr id="12" name="Column 2 points"/>
          <p:cNvSpPr txBox="1"/>
          <p:nvPr/>
        </p:nvSpPr>
        <p:spPr>
          <a:xfrm>
            <a:off x="4536338" y="2926080"/>
            <a:ext cx="3119018" cy="2971800"/>
          </a:xfrm>
          <a:prstGeom prst="rect">
            <a:avLst/>
          </a:prstGeom>
          <a:noFill/>
          <a:ln/>
        </p:spPr>
        <p:txBody>
          <a:bodyPr wrap="square" lIns="0" tIns="0" rIns="0" bIns="0" rtlCol="0" anchor="t"/>
          <a:lstStyle/>
          <a:p>
            <a:pPr algn="l" marL="177800" indent="-177800">
              <a:spcAft>
                <a:spcPts val="1200"/>
              </a:spcAft>
              <a:buSzPct val="100000"/>
              <a:buChar char="•"/>
            </a:pPr>
            <a:r>
              <a:rPr lang="en-US" sz="1600" dirty="0">
                <a:solidFill>
                  <a:schemeClr val="tx1"/>
                </a:solidFill>
              </a:rPr>
              <a:t>Known to 0.025 mm, measured after the finish</a:t>
            </a:r>
            <a:endParaRPr lang="en-US" sz="1600" dirty="0"/>
          </a:p>
          <a:p>
            <a:pPr algn="l" marL="177800" indent="-177800">
              <a:spcAft>
                <a:spcPts val="1200"/>
              </a:spcAft>
              <a:buSzPct val="100000"/>
              <a:buChar char="•"/>
            </a:pPr>
            <a:r>
              <a:rPr lang="en-US" sz="1600" dirty="0">
                <a:solidFill>
                  <a:schemeClr val="tx1"/>
                </a:solidFill>
              </a:rPr>
              <a:t>Micrometer at several orientations, or a CMM</a:t>
            </a:r>
            <a:endParaRPr lang="en-US" sz="1600" dirty="0"/>
          </a:p>
          <a:p>
            <a:pPr algn="l" marL="177800" indent="-177800">
              <a:spcAft>
                <a:spcPts val="1200"/>
              </a:spcAft>
              <a:buSzPct val="100000"/>
              <a:buChar char="•"/>
            </a:pPr>
            <a:r>
              <a:rPr lang="en-US" sz="1600" dirty="0">
                <a:solidFill>
                  <a:schemeClr val="tx1"/>
                </a:solidFill>
              </a:rPr>
              <a:t>Aluminum grows 0.0035 mm per degree C: measure at session temperature</a:t>
            </a:r>
            <a:endParaRPr lang="en-US" sz="1600" dirty="0"/>
          </a:p>
          <a:p>
            <a:pPr algn="l" marL="177800" indent="-177800">
              <a:spcAft>
                <a:spcPts val="1200"/>
              </a:spcAft>
              <a:buSzPct val="100000"/>
              <a:buChar char="•"/>
            </a:pPr>
            <a:r>
              <a:rPr lang="en-US" sz="1600" dirty="0">
                <a:solidFill>
                  <a:schemeClr val="tx1"/>
                </a:solidFill>
              </a:rPr>
              <a:t>The measured value goes in the pose log</a:t>
            </a:r>
            <a:endParaRPr lang="en-US" sz="1600" dirty="0"/>
          </a:p>
        </p:txBody>
      </p:sp>
      <p:sp>
        <p:nvSpPr>
          <p:cNvPr id="13" name="Column 3 card"/>
          <p:cNvSpPr/>
          <p:nvPr/>
        </p:nvSpPr>
        <p:spPr>
          <a:xfrm>
            <a:off x="8158277" y="1417320"/>
            <a:ext cx="3576218" cy="4709160"/>
          </a:xfrm>
          <a:prstGeom prst="roundRect">
            <a:avLst>
              <a:gd name="adj" fmla="val 3068"/>
            </a:avLst>
          </a:prstGeom>
          <a:solidFill>
            <a:schemeClr val="bg2"/>
          </a:solidFill>
          <a:ln/>
        </p:spPr>
      </p:sp>
      <p:sp>
        <p:nvSpPr>
          <p:cNvPr id="14" name="Column 3 icon circle"/>
          <p:cNvSpPr/>
          <p:nvPr/>
        </p:nvSpPr>
        <p:spPr>
          <a:xfrm>
            <a:off x="8386877" y="1645920"/>
            <a:ext cx="640080" cy="640080"/>
          </a:xfrm>
          <a:prstGeom prst="ellipse">
            <a:avLst/>
          </a:prstGeom>
          <a:solidFill>
            <a:schemeClr val="accent2"/>
          </a:solidFill>
          <a:ln/>
        </p:spPr>
      </p:sp>
      <p:pic>
        <p:nvPicPr>
          <p:cNvPr id="15" name="Column 3 icon glyph" descr="wrench icon">    </p:cNvPr>
          <p:cNvPicPr>
            <a:picLocks noChangeAspect="1"/>
          </p:cNvPicPr>
          <p:nvPr/>
        </p:nvPicPr>
        <p:blipFill>
          <a:blip r:embed="rId3"/>
          <a:stretch>
            <a:fillRect/>
          </a:stretch>
        </p:blipFill>
        <p:spPr>
          <a:xfrm>
            <a:off x="8546897" y="1805940"/>
            <a:ext cx="320040" cy="320040"/>
          </a:xfrm>
          <a:prstGeom prst="rect">
            <a:avLst/>
          </a:prstGeom>
        </p:spPr>
      </p:pic>
      <p:sp>
        <p:nvSpPr>
          <p:cNvPr id="16" name="Column 3 head"/>
          <p:cNvSpPr txBox="1"/>
          <p:nvPr/>
        </p:nvSpPr>
        <p:spPr>
          <a:xfrm>
            <a:off x="8386877" y="2468880"/>
            <a:ext cx="3119018" cy="365760"/>
          </a:xfrm>
          <a:prstGeom prst="rect">
            <a:avLst/>
          </a:prstGeom>
          <a:noFill/>
          <a:ln/>
        </p:spPr>
        <p:txBody>
          <a:bodyPr wrap="square" lIns="0" tIns="0" rIns="0" bIns="0" rtlCol="0" anchor="t"/>
          <a:lstStyle/>
          <a:p>
            <a:pPr algn="l" indent="0" marL="0">
              <a:buNone/>
            </a:pPr>
            <a:r>
              <a:rPr lang="en-US" sz="2000" b="1" dirty="0">
                <a:solidFill>
                  <a:schemeClr val="tx2"/>
                </a:solidFill>
                <a:latin typeface="+mj-lt" pitchFamily="34" charset="0"/>
                <a:ea typeface="+mj-lt" pitchFamily="34" charset="-122"/>
                <a:cs typeface="+mj-lt" pitchFamily="34" charset="-120"/>
              </a:rPr>
              <a:t>Mounting</a:t>
            </a:r>
            <a:endParaRPr lang="en-US" sz="2000" dirty="0"/>
          </a:p>
        </p:txBody>
      </p:sp>
      <p:sp>
        <p:nvSpPr>
          <p:cNvPr id="17" name="Column 3 points"/>
          <p:cNvSpPr txBox="1"/>
          <p:nvPr/>
        </p:nvSpPr>
        <p:spPr>
          <a:xfrm>
            <a:off x="8386877" y="2926080"/>
            <a:ext cx="3119018" cy="2971800"/>
          </a:xfrm>
          <a:prstGeom prst="rect">
            <a:avLst/>
          </a:prstGeom>
          <a:noFill/>
          <a:ln/>
        </p:spPr>
        <p:txBody>
          <a:bodyPr wrap="square" lIns="0" tIns="0" rIns="0" bIns="0" rtlCol="0" anchor="t"/>
          <a:lstStyle/>
          <a:p>
            <a:pPr algn="l" marL="177800" indent="-177800">
              <a:spcAft>
                <a:spcPts val="1200"/>
              </a:spcAft>
              <a:buSzPct val="100000"/>
              <a:buChar char="•"/>
            </a:pPr>
            <a:r>
              <a:rPr lang="en-US" sz="1600" dirty="0">
                <a:solidFill>
                  <a:schemeClr val="tx1"/>
                </a:solidFill>
              </a:rPr>
              <a:t>Hardened balls cannot be tapped</a:t>
            </a:r>
            <a:endParaRPr lang="en-US" sz="1600" dirty="0"/>
          </a:p>
          <a:p>
            <a:pPr algn="l" marL="177800" indent="-177800">
              <a:spcAft>
                <a:spcPts val="1200"/>
              </a:spcAft>
              <a:buSzPct val="100000"/>
              <a:buChar char="•"/>
            </a:pPr>
            <a:r>
              <a:rPr lang="en-US" sz="1600" dirty="0">
                <a:solidFill>
                  <a:schemeClr val="tx1"/>
                </a:solidFill>
              </a:rPr>
              <a:t>Steel ball: drilled or EDM blind hole, bonded stem</a:t>
            </a:r>
            <a:endParaRPr lang="en-US" sz="1600" dirty="0"/>
          </a:p>
          <a:p>
            <a:pPr algn="l" marL="177800" indent="-177800">
              <a:spcAft>
                <a:spcPts val="1200"/>
              </a:spcAft>
              <a:buSzPct val="100000"/>
              <a:buChar char="•"/>
            </a:pPr>
            <a:r>
              <a:rPr lang="en-US" sz="1600" dirty="0">
                <a:solidFill>
                  <a:schemeClr val="tx1"/>
                </a:solidFill>
              </a:rPr>
              <a:t>Aluminum sphere B: thread cut when it is turned</a:t>
            </a:r>
            <a:endParaRPr lang="en-US" sz="1600" dirty="0"/>
          </a:p>
          <a:p>
            <a:pPr algn="l" marL="177800" indent="-177800">
              <a:spcAft>
                <a:spcPts val="1200"/>
              </a:spcAft>
              <a:buSzPct val="100000"/>
              <a:buChar char="•"/>
            </a:pPr>
            <a:r>
              <a:rPr lang="en-US" sz="1600" dirty="0">
                <a:solidFill>
                  <a:schemeClr val="tx1"/>
                </a:solidFill>
              </a:rPr>
              <a:t>No pre-tapped precision sphere exists above 1.5 inch</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Candidate suppliers</a:t>
            </a:r>
            <a:endParaRPr lang="en-US" sz="3400" dirty="0"/>
          </a:p>
        </p:txBody>
      </p:sp>
      <p:graphicFrame>
        <p:nvGraphicFramePr>
          <p:cNvPr id="6" name="Suppliers table"/>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914400"/>
        </p:xfrm>
        <a:graphic>
          <a:graphicData uri="http://schemas.openxmlformats.org/drawingml/2006/table">
            <a:tbl>
              <a:tblPr/>
              <a:tblGrid>
                <a:gridCol w="2834640"/>
                <a:gridCol w="4754880"/>
                <a:gridCol w="3685032"/>
              </a:tblGrid>
              <a:tr h="457200">
                <a:tc>
                  <a:txBody>
                    <a:bodyPr/>
                    <a:lstStyle/>
                    <a:p>
                      <a:pPr algn="l" indent="0" marL="0">
                        <a:buNone/>
                      </a:pPr>
                      <a:r>
                        <a:rPr lang="en-US" sz="1400" b="1" dirty="0">
                          <a:solidFill>
                            <a:schemeClr val="bg1"/>
                          </a:solidFill>
                        </a:rPr>
                        <a:t>Item</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Candidate suppliers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Notes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617220">
                <a:tc>
                  <a:txBody>
                    <a:bodyPr/>
                    <a:lstStyle/>
                    <a:p>
                      <a:pPr algn="l" indent="0" marL="0">
                        <a:buNone/>
                      </a:pPr>
                      <a:r>
                        <a:rPr lang="en-US" sz="1400" b="1" dirty="0">
                          <a:solidFill>
                            <a:schemeClr val="tx1"/>
                          </a:solidFill>
                        </a:rPr>
                        <a:t>Spheres, made to order</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Bal-tec; RGP Balls; Industrial Tectonics; Morgan Advanced Materials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3 and 6 inch matte spheres with a mounting hole are custom items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617220">
                <a:tc>
                  <a:txBody>
                    <a:bodyPr/>
                    <a:lstStyle/>
                    <a:p>
                      <a:pPr algn="l" indent="0" marL="0">
                        <a:buNone/>
                      </a:pPr>
                      <a:r>
                        <a:rPr lang="en-US" sz="1400" b="1" dirty="0">
                          <a:solidFill>
                            <a:schemeClr val="tx1"/>
                          </a:solidFill>
                        </a:rPr>
                        <a:t>Matte reference spheres, stock</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MetrologyWorks; Rothbucher RSLB10M (Baseline Equipment)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MetrologyWorks up to 1.5 inch; Rothbucher 145 mm, sphericity 0.3 mm</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617220">
                <a:tc>
                  <a:txBody>
                    <a:bodyPr/>
                    <a:lstStyle/>
                    <a:p>
                      <a:pPr algn="l" indent="0" marL="0">
                        <a:buNone/>
                      </a:pPr>
                      <a:r>
                        <a:rPr lang="en-US" sz="1400" b="1" dirty="0">
                          <a:solidFill>
                            <a:schemeClr val="tx1"/>
                          </a:solidFill>
                        </a:rPr>
                        <a:t>Board plate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McMaster-Carr MIC-6 plus a grinding shop; Edmund Optics float glass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Painted matte after grinding; flatness checked after mounting</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617220">
                <a:tc>
                  <a:txBody>
                    <a:bodyPr/>
                    <a:lstStyle/>
                    <a:p>
                      <a:pPr algn="l" indent="0" marL="0">
                        <a:buNone/>
                      </a:pPr>
                      <a:r>
                        <a:rPr lang="en-US" sz="1400" b="1" dirty="0">
                          <a:solidFill>
                            <a:schemeClr val="tx1"/>
                          </a:solidFill>
                        </a:rPr>
                        <a:t>Nest balls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McMaster-Carr; Bal-tec</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Grade-25 bearing balls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617220">
                <a:tc>
                  <a:txBody>
                    <a:bodyPr/>
                    <a:lstStyle/>
                    <a:p>
                      <a:pPr algn="l" indent="0" marL="0">
                        <a:buNone/>
                      </a:pPr>
                      <a:r>
                        <a:rPr lang="en-US" sz="1400" b="1" dirty="0">
                          <a:solidFill>
                            <a:schemeClr val="tx1"/>
                          </a:solidFill>
                        </a:rPr>
                        <a:t>Adapters, stems, sphere holes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Local machine shop; EDM shop for hardened balls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Hardened balls cannot be tapped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617220">
                <a:tc>
                  <a:txBody>
                    <a:bodyPr/>
                    <a:lstStyle/>
                    <a:p>
                      <a:pPr algn="l" indent="0" marL="0">
                        <a:buNone/>
                      </a:pPr>
                      <a:r>
                        <a:rPr lang="en-US" sz="1400" b="1" dirty="0">
                          <a:solidFill>
                            <a:schemeClr val="tx1"/>
                          </a:solidFill>
                        </a:rPr>
                        <a:t>Diameter measurement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Calibration laboratory with a coordinate measuring machine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Measure after the matte finish</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bl>
          </a:graphicData>
        </a:graphic>
      </p:graphicFrame>
      <p:sp>
        <p:nvSpPr>
          <p:cNvPr id="4" name="Suppliers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From suppliers' web pages, October 2026; not an endorsement. Confirm size, finish, measurement and thread before ordering.</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A stiff, repeatable chain from flange to sphere</a:t>
            </a:r>
            <a:endParaRPr lang="en-US" sz="3400" dirty="0"/>
          </a:p>
        </p:txBody>
      </p:sp>
      <p:pic>
        <p:nvPicPr>
          <p:cNvPr id="3" name="Adapter on flange with stem" descr="Adapter on flange with stem">    </p:cNvPr>
          <p:cNvPicPr>
            <a:picLocks noChangeAspect="1"/>
          </p:cNvPicPr>
          <p:nvPr/>
        </p:nvPicPr>
        <p:blipFill>
          <a:blip r:embed="rId1"/>
          <a:stretch>
            <a:fillRect/>
          </a:stretch>
        </p:blipFill>
        <p:spPr>
          <a:xfrm>
            <a:off x="457200" y="1417320"/>
            <a:ext cx="6301964" cy="4709160"/>
          </a:xfrm>
          <a:prstGeom prst="rect">
            <a:avLst/>
          </a:prstGeom>
        </p:spPr>
      </p:pic>
      <p:sp>
        <p:nvSpPr>
          <p:cNvPr id="4" name="Adapter on flange with stem frame"/>
          <p:cNvSpPr/>
          <p:nvPr/>
        </p:nvSpPr>
        <p:spPr>
          <a:xfrm>
            <a:off x="457200" y="1417320"/>
            <a:ext cx="6301964" cy="4709160"/>
          </a:xfrm>
          <a:prstGeom prst="rect">
            <a:avLst/>
          </a:prstGeom>
          <a:ln w="12700">
            <a:solidFill>
              <a:schemeClr val="accent6"/>
            </a:solidFill>
            <a:prstDash val="solid"/>
          </a:ln>
        </p:spPr>
      </p:sp>
      <p:sp>
        <p:nvSpPr>
          <p:cNvPr id="5" name="Points card"/>
          <p:cNvSpPr/>
          <p:nvPr/>
        </p:nvSpPr>
        <p:spPr>
          <a:xfrm>
            <a:off x="7033484" y="1417320"/>
            <a:ext cx="4701011" cy="3977640"/>
          </a:xfrm>
          <a:prstGeom prst="roundRect">
            <a:avLst>
              <a:gd name="adj" fmla="val 2759"/>
            </a:avLst>
          </a:prstGeom>
          <a:solidFill>
            <a:schemeClr val="bg2"/>
          </a:solidFill>
          <a:ln/>
        </p:spPr>
      </p:sp>
      <p:sp>
        <p:nvSpPr>
          <p:cNvPr id="6" name="Mounting points"/>
          <p:cNvSpPr txBox="1"/>
          <p:nvPr/>
        </p:nvSpPr>
        <p:spPr>
          <a:xfrm>
            <a:off x="7262084" y="1645920"/>
            <a:ext cx="4243811" cy="3520440"/>
          </a:xfrm>
          <a:prstGeom prst="rect">
            <a:avLst/>
          </a:prstGeom>
          <a:noFill/>
          <a:ln/>
        </p:spPr>
        <p:txBody>
          <a:bodyPr wrap="square" lIns="0" tIns="0" rIns="0" bIns="0" rtlCol="0" anchor="ctr"/>
          <a:lstStyle/>
          <a:p>
            <a:pPr algn="l" marL="177800" indent="-177800">
              <a:spcAft>
                <a:spcPts val="1200"/>
              </a:spcAft>
              <a:buSzPct val="100000"/>
              <a:buChar char="•"/>
            </a:pPr>
            <a:r>
              <a:rPr lang="en-US" sz="1600" dirty="0">
                <a:solidFill>
                  <a:schemeClr val="tx1"/>
                </a:solidFill>
              </a:rPr>
              <a:t>Adapter located by the flange dowel, so a remount lands in the same place</a:t>
            </a:r>
            <a:endParaRPr lang="en-US" sz="1600" dirty="0"/>
          </a:p>
          <a:p>
            <a:pPr algn="l" marL="177800" indent="-177800">
              <a:spcAft>
                <a:spcPts val="1200"/>
              </a:spcAft>
              <a:buSzPct val="100000"/>
              <a:buChar char="•"/>
            </a:pPr>
            <a:r>
              <a:rPr lang="en-US" sz="1600" dirty="0">
                <a:solidFill>
                  <a:schemeClr val="tx1"/>
                </a:solidFill>
              </a:rPr>
              <a:t>Ground stem, 16 mm for A and 30 mm for B, keeps sag to 0.02 to 0.05 mm</a:t>
            </a:r>
            <a:endParaRPr lang="en-US" sz="1600" dirty="0"/>
          </a:p>
          <a:p>
            <a:pPr algn="l" marL="177800" indent="-177800">
              <a:spcAft>
                <a:spcPts val="1200"/>
              </a:spcAft>
              <a:buSzPct val="100000"/>
              <a:buChar char="•"/>
            </a:pPr>
            <a:r>
              <a:rPr lang="en-US" sz="1600" dirty="0">
                <a:solidFill>
                  <a:schemeClr val="tx1"/>
                </a:solidFill>
              </a:rPr>
              <a:t>Stem length at least 2R + 50 mm, so the sphere hides the stem</a:t>
            </a:r>
            <a:endParaRPr lang="en-US" sz="1600" dirty="0"/>
          </a:p>
          <a:p>
            <a:pPr algn="l" marL="177800" indent="-177800">
              <a:spcAft>
                <a:spcPts val="1200"/>
              </a:spcAft>
              <a:buSzPct val="100000"/>
              <a:buChar char="•"/>
            </a:pPr>
            <a:r>
              <a:rPr lang="en-US" sz="1600" dirty="0">
                <a:solidFill>
                  <a:schemeClr val="tx1"/>
                </a:solidFill>
              </a:rPr>
              <a:t>Witness mark across stem and adapter shows a loosened joint</a:t>
            </a:r>
            <a:endParaRPr lang="en-US" sz="1600" dirty="0"/>
          </a:p>
          <a:p>
            <a:pPr algn="l" marL="177800" indent="-177800">
              <a:spcAft>
                <a:spcPts val="1200"/>
              </a:spcAft>
              <a:buSzPct val="100000"/>
              <a:buChar char="•"/>
            </a:pPr>
            <a:r>
              <a:rPr lang="en-US" sz="1600" dirty="0">
                <a:solidFill>
                  <a:schemeClr val="tx1"/>
                </a:solidFill>
              </a:rPr>
              <a:t>After any remount, re-check in the nest: readings within 0.1 mm</a:t>
            </a:r>
            <a:endParaRPr lang="en-US" sz="1600" dirty="0"/>
          </a:p>
        </p:txBody>
      </p:sp>
      <p:sp>
        <p:nvSpPr>
          <p:cNvPr id="7" name="Figure caption"/>
          <p:cNvSpPr txBox="1"/>
          <p:nvPr/>
        </p:nvSpPr>
        <p:spPr>
          <a:xfrm>
            <a:off x="7033484" y="5669280"/>
            <a:ext cx="4701011" cy="457200"/>
          </a:xfrm>
          <a:prstGeom prst="rect">
            <a:avLst/>
          </a:prstGeom>
          <a:noFill/>
          <a:ln/>
        </p:spPr>
        <p:txBody>
          <a:bodyPr wrap="square" lIns="0" tIns="0" rIns="0" bIns="0" rtlCol="0" anchor="b"/>
          <a:lstStyle/>
          <a:p>
            <a:pPr algn="l" indent="0" marL="0">
              <a:buNone/>
            </a:pPr>
            <a:r>
              <a:rPr lang="en-US" sz="1200" dirty="0">
                <a:solidFill>
                  <a:schemeClr val="accent5"/>
                </a:solidFill>
              </a:rPr>
              <a:t>Adapter on the flange's dowel, with the stem's shoulder seated on the adapter face.</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The sphere end: threaded insert or bonded stem</a:t>
            </a:r>
            <a:endParaRPr lang="en-US" sz="3400" dirty="0"/>
          </a:p>
        </p:txBody>
      </p:sp>
      <p:pic>
        <p:nvPicPr>
          <p:cNvPr id="3" name="Ceramic sphere with threaded insert" descr="Ceramic sphere with threaded insert">    </p:cNvPr>
          <p:cNvPicPr>
            <a:picLocks noChangeAspect="1"/>
          </p:cNvPicPr>
          <p:nvPr/>
        </p:nvPicPr>
        <p:blipFill>
          <a:blip r:embed="rId1"/>
          <a:stretch>
            <a:fillRect/>
          </a:stretch>
        </p:blipFill>
        <p:spPr>
          <a:xfrm>
            <a:off x="457200" y="1417320"/>
            <a:ext cx="5132321" cy="3657600"/>
          </a:xfrm>
          <a:prstGeom prst="rect">
            <a:avLst/>
          </a:prstGeom>
        </p:spPr>
      </p:pic>
      <p:sp>
        <p:nvSpPr>
          <p:cNvPr id="4" name="Ceramic sphere with threaded insert frame"/>
          <p:cNvSpPr/>
          <p:nvPr/>
        </p:nvSpPr>
        <p:spPr>
          <a:xfrm>
            <a:off x="457200" y="1417320"/>
            <a:ext cx="5132321" cy="3657600"/>
          </a:xfrm>
          <a:prstGeom prst="rect">
            <a:avLst/>
          </a:prstGeom>
          <a:ln w="12700">
            <a:solidFill>
              <a:schemeClr val="accent6"/>
            </a:solidFill>
            <a:prstDash val="solid"/>
          </a:ln>
        </p:spPr>
      </p:sp>
      <p:pic>
        <p:nvPicPr>
          <p:cNvPr id="5" name="Steel sphere with bonded blind hole" descr="Steel sphere with bonded blind hole">    </p:cNvPr>
          <p:cNvPicPr>
            <a:picLocks noChangeAspect="1"/>
          </p:cNvPicPr>
          <p:nvPr/>
        </p:nvPicPr>
        <p:blipFill>
          <a:blip r:embed="rId2"/>
          <a:stretch>
            <a:fillRect/>
          </a:stretch>
        </p:blipFill>
        <p:spPr>
          <a:xfrm>
            <a:off x="6711683" y="1417320"/>
            <a:ext cx="5022812" cy="3657600"/>
          </a:xfrm>
          <a:prstGeom prst="rect">
            <a:avLst/>
          </a:prstGeom>
        </p:spPr>
      </p:pic>
      <p:sp>
        <p:nvSpPr>
          <p:cNvPr id="6" name="Steel sphere with bonded blind hole frame"/>
          <p:cNvSpPr/>
          <p:nvPr/>
        </p:nvSpPr>
        <p:spPr>
          <a:xfrm>
            <a:off x="6711683" y="1417320"/>
            <a:ext cx="5022812" cy="3657600"/>
          </a:xfrm>
          <a:prstGeom prst="rect">
            <a:avLst/>
          </a:prstGeom>
          <a:ln w="12700">
            <a:solidFill>
              <a:schemeClr val="accent6"/>
            </a:solidFill>
            <a:prstDash val="solid"/>
          </a:ln>
        </p:spPr>
      </p:sp>
      <p:sp>
        <p:nvSpPr>
          <p:cNvPr id="7" name="Label ceramic sphere"/>
          <p:cNvSpPr txBox="1"/>
          <p:nvPr/>
        </p:nvSpPr>
        <p:spPr>
          <a:xfrm>
            <a:off x="457200" y="5257800"/>
            <a:ext cx="5132321" cy="320040"/>
          </a:xfrm>
          <a:prstGeom prst="rect">
            <a:avLst/>
          </a:prstGeom>
          <a:noFill/>
          <a:ln/>
        </p:spPr>
        <p:txBody>
          <a:bodyPr wrap="square" lIns="0" tIns="0" rIns="0" bIns="0" rtlCol="0" anchor="t"/>
          <a:lstStyle/>
          <a:p>
            <a:pPr algn="l" indent="0" marL="0">
              <a:buNone/>
            </a:pPr>
            <a:r>
              <a:rPr lang="en-US" sz="1600" b="1" dirty="0">
                <a:solidFill>
                  <a:schemeClr val="tx2"/>
                </a:solidFill>
              </a:rPr>
              <a:t>Ceramic sphere: maker's threaded insert</a:t>
            </a:r>
            <a:endParaRPr lang="en-US" sz="1600" dirty="0"/>
          </a:p>
        </p:txBody>
      </p:sp>
      <p:sp>
        <p:nvSpPr>
          <p:cNvPr id="8" name="Label steel sphere"/>
          <p:cNvSpPr txBox="1"/>
          <p:nvPr/>
        </p:nvSpPr>
        <p:spPr>
          <a:xfrm>
            <a:off x="6711683" y="5257800"/>
            <a:ext cx="5022812" cy="320040"/>
          </a:xfrm>
          <a:prstGeom prst="rect">
            <a:avLst/>
          </a:prstGeom>
          <a:noFill/>
          <a:ln/>
        </p:spPr>
        <p:txBody>
          <a:bodyPr wrap="square" lIns="0" tIns="0" rIns="0" bIns="0" rtlCol="0" anchor="t"/>
          <a:lstStyle/>
          <a:p>
            <a:pPr algn="l" indent="0" marL="0">
              <a:buNone/>
            </a:pPr>
            <a:r>
              <a:rPr lang="en-US" sz="1600" b="1" dirty="0">
                <a:solidFill>
                  <a:schemeClr val="tx2"/>
                </a:solidFill>
              </a:rPr>
              <a:t>Steel sphere: bonded blind hole</a:t>
            </a:r>
            <a:endParaRPr lang="en-US" sz="1600" dirty="0"/>
          </a:p>
        </p:txBody>
      </p:sp>
      <p:sp>
        <p:nvSpPr>
          <p:cNvPr id="9" name="Figure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The hole need not be exactly radial: the tool-center-point routine measures the center wherever it ends up.</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The board must stay flat after finishing and mounting</a:t>
            </a:r>
            <a:endParaRPr lang="en-US" sz="3400" dirty="0"/>
          </a:p>
        </p:txBody>
      </p:sp>
      <p:pic>
        <p:nvPicPr>
          <p:cNvPr id="3" name="Board on its adapter" descr="Board on its adapter">    </p:cNvPr>
          <p:cNvPicPr>
            <a:picLocks noChangeAspect="1"/>
          </p:cNvPicPr>
          <p:nvPr/>
        </p:nvPicPr>
        <p:blipFill>
          <a:blip r:embed="rId1"/>
          <a:stretch>
            <a:fillRect/>
          </a:stretch>
        </p:blipFill>
        <p:spPr>
          <a:xfrm>
            <a:off x="457200" y="1417320"/>
            <a:ext cx="4335697" cy="4069080"/>
          </a:xfrm>
          <a:prstGeom prst="rect">
            <a:avLst/>
          </a:prstGeom>
        </p:spPr>
      </p:pic>
      <p:sp>
        <p:nvSpPr>
          <p:cNvPr id="4" name="Board on its adapter frame"/>
          <p:cNvSpPr/>
          <p:nvPr/>
        </p:nvSpPr>
        <p:spPr>
          <a:xfrm>
            <a:off x="457200" y="1417320"/>
            <a:ext cx="4335697" cy="4069080"/>
          </a:xfrm>
          <a:prstGeom prst="rect">
            <a:avLst/>
          </a:prstGeom>
          <a:ln w="12700">
            <a:solidFill>
              <a:schemeClr val="accent6"/>
            </a:solidFill>
            <a:prstDash val="solid"/>
          </a:ln>
        </p:spPr>
      </p:sp>
      <p:sp>
        <p:nvSpPr>
          <p:cNvPr id="5" name="Figure caption"/>
          <p:cNvSpPr txBox="1"/>
          <p:nvPr/>
        </p:nvSpPr>
        <p:spPr>
          <a:xfrm>
            <a:off x="457200" y="5669280"/>
            <a:ext cx="4335697" cy="457200"/>
          </a:xfrm>
          <a:prstGeom prst="rect">
            <a:avLst/>
          </a:prstGeom>
          <a:noFill/>
          <a:ln/>
        </p:spPr>
        <p:txBody>
          <a:bodyPr wrap="square" lIns="0" tIns="0" rIns="0" bIns="0" rtlCol="0" anchor="t"/>
          <a:lstStyle/>
          <a:p>
            <a:pPr algn="l" indent="0" marL="0">
              <a:buNone/>
            </a:pPr>
            <a:r>
              <a:rPr lang="en-US" sz="1200" dirty="0">
                <a:solidFill>
                  <a:schemeClr val="accent5"/>
                </a:solidFill>
              </a:rPr>
              <a:t>Board on its adapter. The runout and frame checks shown here are done at setup (deck 2).</a:t>
            </a:r>
            <a:endParaRPr lang="en-US" sz="1200" dirty="0"/>
          </a:p>
        </p:txBody>
      </p:sp>
      <p:sp>
        <p:nvSpPr>
          <p:cNvPr id="6" name="Board part 1 card"/>
          <p:cNvSpPr/>
          <p:nvPr/>
        </p:nvSpPr>
        <p:spPr>
          <a:xfrm>
            <a:off x="5067217" y="1417320"/>
            <a:ext cx="6667278" cy="971550"/>
          </a:xfrm>
          <a:prstGeom prst="roundRect">
            <a:avLst>
              <a:gd name="adj" fmla="val 11294"/>
            </a:avLst>
          </a:prstGeom>
          <a:solidFill>
            <a:schemeClr val="bg2"/>
          </a:solidFill>
          <a:ln/>
        </p:spPr>
      </p:sp>
      <p:sp>
        <p:nvSpPr>
          <p:cNvPr id="7" name="Board part 1 icon circle"/>
          <p:cNvSpPr/>
          <p:nvPr/>
        </p:nvSpPr>
        <p:spPr>
          <a:xfrm>
            <a:off x="5295817" y="1583055"/>
            <a:ext cx="640080" cy="640080"/>
          </a:xfrm>
          <a:prstGeom prst="ellipse">
            <a:avLst/>
          </a:prstGeom>
          <a:solidFill>
            <a:schemeClr val="accent2"/>
          </a:solidFill>
          <a:ln/>
        </p:spPr>
      </p:sp>
      <p:pic>
        <p:nvPicPr>
          <p:cNvPr id="8" name="Board part 1 icon glyph" descr="board icon">    </p:cNvPr>
          <p:cNvPicPr>
            <a:picLocks noChangeAspect="1"/>
          </p:cNvPicPr>
          <p:nvPr/>
        </p:nvPicPr>
        <p:blipFill>
          <a:blip r:embed="rId2"/>
          <a:stretch>
            <a:fillRect/>
          </a:stretch>
        </p:blipFill>
        <p:spPr>
          <a:xfrm>
            <a:off x="5455837" y="1743075"/>
            <a:ext cx="320040" cy="320040"/>
          </a:xfrm>
          <a:prstGeom prst="rect">
            <a:avLst/>
          </a:prstGeom>
        </p:spPr>
      </p:pic>
      <p:sp>
        <p:nvSpPr>
          <p:cNvPr id="9" name="Board part 1 text"/>
          <p:cNvSpPr txBox="1"/>
          <p:nvPr/>
        </p:nvSpPr>
        <p:spPr>
          <a:xfrm>
            <a:off x="6118777" y="1600200"/>
            <a:ext cx="5387118" cy="605790"/>
          </a:xfrm>
          <a:prstGeom prst="rect">
            <a:avLst/>
          </a:prstGeom>
          <a:noFill/>
          <a:ln/>
        </p:spPr>
        <p:txBody>
          <a:bodyPr wrap="square" lIns="0" tIns="0" rIns="0" bIns="0" rtlCol="0" anchor="ctr"/>
          <a:lstStyle/>
          <a:p>
            <a:pPr algn="l" indent="0" marL="0">
              <a:buNone/>
            </a:pPr>
            <a:r>
              <a:rPr lang="en-US" sz="1800" b="1" dirty="0">
                <a:solidFill>
                  <a:schemeClr val="tx2"/>
                </a:solidFill>
              </a:rPr>
              <a:t>Plate</a:t>
            </a:r>
            <a:endParaRPr lang="en-US" sz="1600" dirty="0"/>
          </a:p>
          <a:p>
            <a:pPr algn="l" indent="0" marL="0">
              <a:buNone/>
            </a:pPr>
            <a:r>
              <a:rPr lang="en-US" sz="1400" dirty="0">
                <a:solidFill>
                  <a:schemeClr val="tx1"/>
                </a:solidFill>
              </a:rPr>
              <a:t>200 x 150 mm, at least 6 mm thick; ground aluminum tooling plate or float glass</a:t>
            </a:r>
            <a:endParaRPr lang="en-US" sz="1600" dirty="0"/>
          </a:p>
        </p:txBody>
      </p:sp>
      <p:sp>
        <p:nvSpPr>
          <p:cNvPr id="10" name="Board part 2 card"/>
          <p:cNvSpPr/>
          <p:nvPr/>
        </p:nvSpPr>
        <p:spPr>
          <a:xfrm>
            <a:off x="5067217" y="2663190"/>
            <a:ext cx="6667278" cy="971550"/>
          </a:xfrm>
          <a:prstGeom prst="roundRect">
            <a:avLst>
              <a:gd name="adj" fmla="val 11294"/>
            </a:avLst>
          </a:prstGeom>
          <a:solidFill>
            <a:schemeClr val="bg2"/>
          </a:solidFill>
          <a:ln/>
        </p:spPr>
      </p:sp>
      <p:sp>
        <p:nvSpPr>
          <p:cNvPr id="11" name="Board part 2 icon circle"/>
          <p:cNvSpPr/>
          <p:nvPr/>
        </p:nvSpPr>
        <p:spPr>
          <a:xfrm>
            <a:off x="5295817" y="2828925"/>
            <a:ext cx="640080" cy="640080"/>
          </a:xfrm>
          <a:prstGeom prst="ellipse">
            <a:avLst/>
          </a:prstGeom>
          <a:solidFill>
            <a:schemeClr val="accent2"/>
          </a:solidFill>
          <a:ln/>
        </p:spPr>
      </p:sp>
      <p:pic>
        <p:nvPicPr>
          <p:cNvPr id="12" name="Board part 2 icon glyph" descr="paint icon">    </p:cNvPr>
          <p:cNvPicPr>
            <a:picLocks noChangeAspect="1"/>
          </p:cNvPicPr>
          <p:nvPr/>
        </p:nvPicPr>
        <p:blipFill>
          <a:blip r:embed="rId3"/>
          <a:stretch>
            <a:fillRect/>
          </a:stretch>
        </p:blipFill>
        <p:spPr>
          <a:xfrm>
            <a:off x="5455837" y="2988945"/>
            <a:ext cx="320040" cy="320040"/>
          </a:xfrm>
          <a:prstGeom prst="rect">
            <a:avLst/>
          </a:prstGeom>
        </p:spPr>
      </p:pic>
      <p:sp>
        <p:nvSpPr>
          <p:cNvPr id="13" name="Board part 2 text"/>
          <p:cNvSpPr txBox="1"/>
          <p:nvPr/>
        </p:nvSpPr>
        <p:spPr>
          <a:xfrm>
            <a:off x="6118777" y="2846070"/>
            <a:ext cx="5387118" cy="605790"/>
          </a:xfrm>
          <a:prstGeom prst="rect">
            <a:avLst/>
          </a:prstGeom>
          <a:noFill/>
          <a:ln/>
        </p:spPr>
        <p:txBody>
          <a:bodyPr wrap="square" lIns="0" tIns="0" rIns="0" bIns="0" rtlCol="0" anchor="ctr"/>
          <a:lstStyle/>
          <a:p>
            <a:pPr algn="l" indent="0" marL="0">
              <a:buNone/>
            </a:pPr>
            <a:r>
              <a:rPr lang="en-US" sz="1800" b="1" dirty="0">
                <a:solidFill>
                  <a:schemeClr val="tx2"/>
                </a:solidFill>
              </a:rPr>
              <a:t>Finish</a:t>
            </a:r>
            <a:endParaRPr lang="en-US" sz="1600" dirty="0"/>
          </a:p>
          <a:p>
            <a:pPr algn="l" indent="0" marL="0">
              <a:buNone/>
            </a:pPr>
            <a:r>
              <a:rPr lang="en-US" sz="1400" dirty="0">
                <a:solidFill>
                  <a:schemeClr val="tx1"/>
                </a:solidFill>
              </a:rPr>
              <a:t>Matte light gray paint on the front face; do not bead-blast a plate thinner than about 10 mm, it bows</a:t>
            </a:r>
            <a:endParaRPr lang="en-US" sz="1600" dirty="0"/>
          </a:p>
        </p:txBody>
      </p:sp>
      <p:sp>
        <p:nvSpPr>
          <p:cNvPr id="14" name="Board part 3 card"/>
          <p:cNvSpPr/>
          <p:nvPr/>
        </p:nvSpPr>
        <p:spPr>
          <a:xfrm>
            <a:off x="5067217" y="3909060"/>
            <a:ext cx="6667278" cy="971550"/>
          </a:xfrm>
          <a:prstGeom prst="roundRect">
            <a:avLst>
              <a:gd name="adj" fmla="val 11294"/>
            </a:avLst>
          </a:prstGeom>
          <a:solidFill>
            <a:schemeClr val="bg2"/>
          </a:solidFill>
          <a:ln/>
        </p:spPr>
      </p:sp>
      <p:sp>
        <p:nvSpPr>
          <p:cNvPr id="15" name="Board part 3 icon circle"/>
          <p:cNvSpPr/>
          <p:nvPr/>
        </p:nvSpPr>
        <p:spPr>
          <a:xfrm>
            <a:off x="5295817" y="4074795"/>
            <a:ext cx="640080" cy="640080"/>
          </a:xfrm>
          <a:prstGeom prst="ellipse">
            <a:avLst/>
          </a:prstGeom>
          <a:solidFill>
            <a:schemeClr val="accent2"/>
          </a:solidFill>
          <a:ln/>
        </p:spPr>
      </p:sp>
      <p:pic>
        <p:nvPicPr>
          <p:cNvPr id="16" name="Board part 3 icon glyph" descr="ruler icon">    </p:cNvPr>
          <p:cNvPicPr>
            <a:picLocks noChangeAspect="1"/>
          </p:cNvPicPr>
          <p:nvPr/>
        </p:nvPicPr>
        <p:blipFill>
          <a:blip r:embed="rId4"/>
          <a:stretch>
            <a:fillRect/>
          </a:stretch>
        </p:blipFill>
        <p:spPr>
          <a:xfrm>
            <a:off x="5455837" y="4234815"/>
            <a:ext cx="320040" cy="320040"/>
          </a:xfrm>
          <a:prstGeom prst="rect">
            <a:avLst/>
          </a:prstGeom>
        </p:spPr>
      </p:pic>
      <p:sp>
        <p:nvSpPr>
          <p:cNvPr id="17" name="Board part 3 text"/>
          <p:cNvSpPr txBox="1"/>
          <p:nvPr/>
        </p:nvSpPr>
        <p:spPr>
          <a:xfrm>
            <a:off x="6118777" y="4091940"/>
            <a:ext cx="5387118" cy="605790"/>
          </a:xfrm>
          <a:prstGeom prst="rect">
            <a:avLst/>
          </a:prstGeom>
          <a:noFill/>
          <a:ln/>
        </p:spPr>
        <p:txBody>
          <a:bodyPr wrap="square" lIns="0" tIns="0" rIns="0" bIns="0" rtlCol="0" anchor="ctr"/>
          <a:lstStyle/>
          <a:p>
            <a:pPr algn="l" indent="0" marL="0">
              <a:buNone/>
            </a:pPr>
            <a:r>
              <a:rPr lang="en-US" sz="1800" b="1" dirty="0">
                <a:solidFill>
                  <a:schemeClr val="tx2"/>
                </a:solidFill>
              </a:rPr>
              <a:t>Flatness</a:t>
            </a:r>
            <a:endParaRPr lang="en-US" sz="1600" dirty="0"/>
          </a:p>
          <a:p>
            <a:pPr algn="l" indent="0" marL="0">
              <a:buNone/>
            </a:pPr>
            <a:r>
              <a:rPr lang="en-US" sz="1400" dirty="0">
                <a:solidFill>
                  <a:schemeClr val="tx1"/>
                </a:solidFill>
              </a:rPr>
              <a:t>0.05 mm, checked after painting and mounting, not before; keep the flatness report</a:t>
            </a:r>
            <a:endParaRPr lang="en-US" sz="1600" dirty="0"/>
          </a:p>
        </p:txBody>
      </p:sp>
      <p:sp>
        <p:nvSpPr>
          <p:cNvPr id="18" name="Board part 4 card"/>
          <p:cNvSpPr/>
          <p:nvPr/>
        </p:nvSpPr>
        <p:spPr>
          <a:xfrm>
            <a:off x="5067217" y="5154930"/>
            <a:ext cx="6667278" cy="971550"/>
          </a:xfrm>
          <a:prstGeom prst="roundRect">
            <a:avLst>
              <a:gd name="adj" fmla="val 11294"/>
            </a:avLst>
          </a:prstGeom>
          <a:solidFill>
            <a:schemeClr val="bg2"/>
          </a:solidFill>
          <a:ln/>
        </p:spPr>
      </p:sp>
      <p:sp>
        <p:nvSpPr>
          <p:cNvPr id="19" name="Board part 4 icon circle"/>
          <p:cNvSpPr/>
          <p:nvPr/>
        </p:nvSpPr>
        <p:spPr>
          <a:xfrm>
            <a:off x="5295817" y="5320665"/>
            <a:ext cx="640080" cy="640080"/>
          </a:xfrm>
          <a:prstGeom prst="ellipse">
            <a:avLst/>
          </a:prstGeom>
          <a:solidFill>
            <a:schemeClr val="accent2"/>
          </a:solidFill>
          <a:ln/>
        </p:spPr>
      </p:sp>
      <p:pic>
        <p:nvPicPr>
          <p:cNvPr id="20" name="Board part 4 icon glyph" descr="wrench icon">    </p:cNvPr>
          <p:cNvPicPr>
            <a:picLocks noChangeAspect="1"/>
          </p:cNvPicPr>
          <p:nvPr/>
        </p:nvPicPr>
        <p:blipFill>
          <a:blip r:embed="rId5"/>
          <a:stretch>
            <a:fillRect/>
          </a:stretch>
        </p:blipFill>
        <p:spPr>
          <a:xfrm>
            <a:off x="5455837" y="5480685"/>
            <a:ext cx="320040" cy="320040"/>
          </a:xfrm>
          <a:prstGeom prst="rect">
            <a:avLst/>
          </a:prstGeom>
        </p:spPr>
      </p:pic>
      <p:sp>
        <p:nvSpPr>
          <p:cNvPr id="21" name="Board part 4 text"/>
          <p:cNvSpPr txBox="1"/>
          <p:nvPr/>
        </p:nvSpPr>
        <p:spPr>
          <a:xfrm>
            <a:off x="6118777" y="5337810"/>
            <a:ext cx="5387118" cy="605790"/>
          </a:xfrm>
          <a:prstGeom prst="rect">
            <a:avLst/>
          </a:prstGeom>
          <a:noFill/>
          <a:ln/>
        </p:spPr>
        <p:txBody>
          <a:bodyPr wrap="square" lIns="0" tIns="0" rIns="0" bIns="0" rtlCol="0" anchor="ctr"/>
          <a:lstStyle/>
          <a:p>
            <a:pPr algn="l" indent="0" marL="0">
              <a:buNone/>
            </a:pPr>
            <a:r>
              <a:rPr lang="en-US" sz="1800" b="1" dirty="0">
                <a:solidFill>
                  <a:schemeClr val="tx2"/>
                </a:solidFill>
              </a:rPr>
              <a:t>Adapter</a:t>
            </a:r>
            <a:endParaRPr lang="en-US" sz="1600" dirty="0"/>
          </a:p>
          <a:p>
            <a:pPr algn="l" indent="0" marL="0">
              <a:buNone/>
            </a:pPr>
            <a:r>
              <a:rPr lang="en-US" sz="1400" dirty="0">
                <a:solidFill>
                  <a:schemeClr val="tx1"/>
                </a:solidFill>
              </a:rPr>
              <a:t>Two dowels and a clamp hold the board square to the flange axis, centered on it, and in the same place after a remount</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A three-ball nest holds each sphere at a fixed center</a:t>
            </a:r>
            <a:endParaRPr lang="en-US" sz="3400" dirty="0"/>
          </a:p>
        </p:txBody>
      </p:sp>
      <p:sp>
        <p:nvSpPr>
          <p:cNvPr id="3" name="Nest diagram card"/>
          <p:cNvSpPr/>
          <p:nvPr/>
        </p:nvSpPr>
        <p:spPr>
          <a:xfrm>
            <a:off x="457200" y="1417320"/>
            <a:ext cx="6035040" cy="4709160"/>
          </a:xfrm>
          <a:prstGeom prst="roundRect">
            <a:avLst>
              <a:gd name="adj" fmla="val 2330"/>
            </a:avLst>
          </a:prstGeom>
          <a:solidFill>
            <a:schemeClr val="bg1"/>
          </a:solidFill>
          <a:ln w="12700">
            <a:solidFill>
              <a:schemeClr val="accent6"/>
            </a:solidFill>
            <a:prstDash val="solid"/>
          </a:ln>
        </p:spPr>
      </p:sp>
      <p:sp>
        <p:nvSpPr>
          <p:cNvPr id="4" name="Side view base plate"/>
          <p:cNvSpPr/>
          <p:nvPr/>
        </p:nvSpPr>
        <p:spPr>
          <a:xfrm>
            <a:off x="685800" y="4630801"/>
            <a:ext cx="2651760" cy="256032"/>
          </a:xfrm>
          <a:prstGeom prst="rect">
            <a:avLst/>
          </a:prstGeom>
          <a:solidFill>
            <a:schemeClr val="accent3"/>
          </a:solidFill>
          <a:ln/>
        </p:spPr>
      </p:sp>
      <p:sp>
        <p:nvSpPr>
          <p:cNvPr id="5" name="Side view ball 1"/>
          <p:cNvSpPr/>
          <p:nvPr/>
        </p:nvSpPr>
        <p:spPr>
          <a:xfrm>
            <a:off x="1167197" y="4082161"/>
            <a:ext cx="548640" cy="548640"/>
          </a:xfrm>
          <a:prstGeom prst="ellipse">
            <a:avLst/>
          </a:prstGeom>
          <a:solidFill>
            <a:schemeClr val="accent5"/>
          </a:solidFill>
          <a:ln w="19050">
            <a:solidFill>
              <a:schemeClr val="accent5"/>
            </a:solidFill>
            <a:prstDash val="solid"/>
          </a:ln>
        </p:spPr>
      </p:sp>
      <p:sp>
        <p:nvSpPr>
          <p:cNvPr id="6" name="Side view ball 2"/>
          <p:cNvSpPr/>
          <p:nvPr/>
        </p:nvSpPr>
        <p:spPr>
          <a:xfrm>
            <a:off x="2307523" y="4082161"/>
            <a:ext cx="548640" cy="548640"/>
          </a:xfrm>
          <a:prstGeom prst="ellipse">
            <a:avLst/>
          </a:prstGeom>
          <a:solidFill>
            <a:schemeClr val="accent5"/>
          </a:solidFill>
          <a:ln w="19050">
            <a:solidFill>
              <a:schemeClr val="accent5"/>
            </a:solidFill>
            <a:prstDash val="solid"/>
          </a:ln>
        </p:spPr>
      </p:sp>
      <p:sp>
        <p:nvSpPr>
          <p:cNvPr id="7" name="Side view sphere"/>
          <p:cNvSpPr/>
          <p:nvPr/>
        </p:nvSpPr>
        <p:spPr>
          <a:xfrm>
            <a:off x="960120" y="2154047"/>
            <a:ext cx="2103120" cy="2103120"/>
          </a:xfrm>
          <a:prstGeom prst="ellipse">
            <a:avLst/>
          </a:prstGeom>
          <a:solidFill>
            <a:schemeClr val="bg2"/>
          </a:solidFill>
          <a:ln w="19050">
            <a:solidFill>
              <a:schemeClr val="accent5"/>
            </a:solidFill>
            <a:prstDash val="solid"/>
          </a:ln>
        </p:spPr>
      </p:sp>
      <p:sp>
        <p:nvSpPr>
          <p:cNvPr id="8" name="Side view sphere center cross horizontal"/>
          <p:cNvSpPr/>
          <p:nvPr/>
        </p:nvSpPr>
        <p:spPr>
          <a:xfrm>
            <a:off x="1828800" y="3205607"/>
            <a:ext cx="365760" cy="0"/>
          </a:xfrm>
          <a:prstGeom prst="line">
            <a:avLst/>
          </a:prstGeom>
          <a:noFill/>
          <a:ln w="38100">
            <a:solidFill>
              <a:schemeClr val="accent4"/>
            </a:solidFill>
            <a:prstDash val="solid"/>
          </a:ln>
        </p:spPr>
      </p:sp>
      <p:sp>
        <p:nvSpPr>
          <p:cNvPr id="9" name="Side view sphere center cross vertical"/>
          <p:cNvSpPr/>
          <p:nvPr/>
        </p:nvSpPr>
        <p:spPr>
          <a:xfrm>
            <a:off x="2011680" y="3022727"/>
            <a:ext cx="0" cy="365760"/>
          </a:xfrm>
          <a:prstGeom prst="line">
            <a:avLst/>
          </a:prstGeom>
          <a:noFill/>
          <a:ln w="38100">
            <a:solidFill>
              <a:schemeClr val="accent4"/>
            </a:solidFill>
            <a:prstDash val="solid"/>
          </a:ln>
        </p:spPr>
      </p:sp>
      <p:sp>
        <p:nvSpPr>
          <p:cNvPr id="10" name="Side view label"/>
          <p:cNvSpPr txBox="1"/>
          <p:nvPr/>
        </p:nvSpPr>
        <p:spPr>
          <a:xfrm>
            <a:off x="685800" y="5069713"/>
            <a:ext cx="2651760" cy="320040"/>
          </a:xfrm>
          <a:prstGeom prst="rect">
            <a:avLst/>
          </a:prstGeom>
          <a:noFill/>
          <a:ln/>
        </p:spPr>
        <p:txBody>
          <a:bodyPr wrap="square" lIns="0" tIns="0" rIns="0" bIns="0" rtlCol="0" anchor="t"/>
          <a:lstStyle/>
          <a:p>
            <a:pPr algn="ctr" indent="0" marL="0">
              <a:buNone/>
            </a:pPr>
            <a:r>
              <a:rPr lang="en-US" sz="1400" b="1" dirty="0">
                <a:solidFill>
                  <a:schemeClr val="accent5"/>
                </a:solidFill>
              </a:rPr>
              <a:t>Side view</a:t>
            </a:r>
            <a:endParaRPr lang="en-US" sz="1400" dirty="0"/>
          </a:p>
        </p:txBody>
      </p:sp>
      <p:sp>
        <p:nvSpPr>
          <p:cNvPr id="11" name="Top view base outline"/>
          <p:cNvSpPr/>
          <p:nvPr/>
        </p:nvSpPr>
        <p:spPr>
          <a:xfrm>
            <a:off x="3611880" y="2235073"/>
            <a:ext cx="2651760" cy="2651760"/>
          </a:xfrm>
          <a:prstGeom prst="roundRect">
            <a:avLst>
              <a:gd name="adj" fmla="val 2759"/>
            </a:avLst>
          </a:prstGeom>
          <a:solidFill>
            <a:schemeClr val="accent6"/>
          </a:solidFill>
          <a:ln w="19050">
            <a:solidFill>
              <a:schemeClr val="accent3"/>
            </a:solidFill>
            <a:prstDash val="solid"/>
          </a:ln>
        </p:spPr>
      </p:sp>
      <p:sp>
        <p:nvSpPr>
          <p:cNvPr id="12" name="Top view ball 1"/>
          <p:cNvSpPr/>
          <p:nvPr/>
        </p:nvSpPr>
        <p:spPr>
          <a:xfrm>
            <a:off x="4663440" y="2628265"/>
            <a:ext cx="548640" cy="548640"/>
          </a:xfrm>
          <a:prstGeom prst="ellipse">
            <a:avLst/>
          </a:prstGeom>
          <a:solidFill>
            <a:schemeClr val="accent5"/>
          </a:solidFill>
          <a:ln w="19050">
            <a:solidFill>
              <a:schemeClr val="accent5"/>
            </a:solidFill>
            <a:prstDash val="solid"/>
          </a:ln>
        </p:spPr>
      </p:sp>
      <p:sp>
        <p:nvSpPr>
          <p:cNvPr id="13" name="Top view ball 2"/>
          <p:cNvSpPr/>
          <p:nvPr/>
        </p:nvSpPr>
        <p:spPr>
          <a:xfrm>
            <a:off x="5233603" y="3615817"/>
            <a:ext cx="548640" cy="548640"/>
          </a:xfrm>
          <a:prstGeom prst="ellipse">
            <a:avLst/>
          </a:prstGeom>
          <a:solidFill>
            <a:schemeClr val="accent5"/>
          </a:solidFill>
          <a:ln w="19050">
            <a:solidFill>
              <a:schemeClr val="accent5"/>
            </a:solidFill>
            <a:prstDash val="solid"/>
          </a:ln>
        </p:spPr>
      </p:sp>
      <p:sp>
        <p:nvSpPr>
          <p:cNvPr id="14" name="Top view ball 3"/>
          <p:cNvSpPr/>
          <p:nvPr/>
        </p:nvSpPr>
        <p:spPr>
          <a:xfrm>
            <a:off x="4093277" y="3615817"/>
            <a:ext cx="548640" cy="548640"/>
          </a:xfrm>
          <a:prstGeom prst="ellipse">
            <a:avLst/>
          </a:prstGeom>
          <a:solidFill>
            <a:schemeClr val="accent5"/>
          </a:solidFill>
          <a:ln w="19050">
            <a:solidFill>
              <a:schemeClr val="accent5"/>
            </a:solidFill>
            <a:prstDash val="solid"/>
          </a:ln>
        </p:spPr>
      </p:sp>
      <p:sp>
        <p:nvSpPr>
          <p:cNvPr id="15" name="Top view sphere outline"/>
          <p:cNvSpPr/>
          <p:nvPr/>
        </p:nvSpPr>
        <p:spPr>
          <a:xfrm>
            <a:off x="3886200" y="2509393"/>
            <a:ext cx="2103120" cy="2103120"/>
          </a:xfrm>
          <a:prstGeom prst="ellipse">
            <a:avLst/>
          </a:prstGeom>
          <a:ln w="25400">
            <a:solidFill>
              <a:schemeClr val="tx2"/>
            </a:solidFill>
            <a:prstDash val="dash"/>
          </a:ln>
        </p:spPr>
      </p:sp>
      <p:sp>
        <p:nvSpPr>
          <p:cNvPr id="16" name="Top view sphere center cross horizontal"/>
          <p:cNvSpPr/>
          <p:nvPr/>
        </p:nvSpPr>
        <p:spPr>
          <a:xfrm>
            <a:off x="4754880" y="3560953"/>
            <a:ext cx="365760" cy="0"/>
          </a:xfrm>
          <a:prstGeom prst="line">
            <a:avLst/>
          </a:prstGeom>
          <a:noFill/>
          <a:ln w="38100">
            <a:solidFill>
              <a:schemeClr val="accent4"/>
            </a:solidFill>
            <a:prstDash val="solid"/>
          </a:ln>
        </p:spPr>
      </p:sp>
      <p:sp>
        <p:nvSpPr>
          <p:cNvPr id="17" name="Top view sphere center cross vertical"/>
          <p:cNvSpPr/>
          <p:nvPr/>
        </p:nvSpPr>
        <p:spPr>
          <a:xfrm>
            <a:off x="4937760" y="3378073"/>
            <a:ext cx="0" cy="365760"/>
          </a:xfrm>
          <a:prstGeom prst="line">
            <a:avLst/>
          </a:prstGeom>
          <a:noFill/>
          <a:ln w="38100">
            <a:solidFill>
              <a:schemeClr val="accent4"/>
            </a:solidFill>
            <a:prstDash val="solid"/>
          </a:ln>
        </p:spPr>
      </p:sp>
      <p:sp>
        <p:nvSpPr>
          <p:cNvPr id="18" name="Top view label"/>
          <p:cNvSpPr txBox="1"/>
          <p:nvPr/>
        </p:nvSpPr>
        <p:spPr>
          <a:xfrm>
            <a:off x="3611880" y="5069713"/>
            <a:ext cx="2651760" cy="320040"/>
          </a:xfrm>
          <a:prstGeom prst="rect">
            <a:avLst/>
          </a:prstGeom>
          <a:noFill/>
          <a:ln/>
        </p:spPr>
        <p:txBody>
          <a:bodyPr wrap="square" lIns="0" tIns="0" rIns="0" bIns="0" rtlCol="0" anchor="t"/>
          <a:lstStyle/>
          <a:p>
            <a:pPr algn="ctr" indent="0" marL="0">
              <a:buNone/>
            </a:pPr>
            <a:r>
              <a:rPr lang="en-US" sz="1400" b="1" dirty="0">
                <a:solidFill>
                  <a:schemeClr val="accent5"/>
                </a:solidFill>
              </a:rPr>
              <a:t>Top view</a:t>
            </a:r>
            <a:endParaRPr lang="en-US" sz="1400" dirty="0"/>
          </a:p>
        </p:txBody>
      </p:sp>
      <p:sp>
        <p:nvSpPr>
          <p:cNvPr id="19" name="Nest point row 1 card"/>
          <p:cNvSpPr/>
          <p:nvPr/>
        </p:nvSpPr>
        <p:spPr>
          <a:xfrm>
            <a:off x="6766560" y="1417320"/>
            <a:ext cx="4967935" cy="971550"/>
          </a:xfrm>
          <a:prstGeom prst="roundRect">
            <a:avLst>
              <a:gd name="adj" fmla="val 11294"/>
            </a:avLst>
          </a:prstGeom>
          <a:solidFill>
            <a:schemeClr val="bg2"/>
          </a:solidFill>
          <a:ln/>
        </p:spPr>
      </p:sp>
      <p:sp>
        <p:nvSpPr>
          <p:cNvPr id="20" name="Nest point icon 1 circle"/>
          <p:cNvSpPr/>
          <p:nvPr/>
        </p:nvSpPr>
        <p:spPr>
          <a:xfrm>
            <a:off x="6949440" y="1697355"/>
            <a:ext cx="411480" cy="411480"/>
          </a:xfrm>
          <a:prstGeom prst="ellipse">
            <a:avLst/>
          </a:prstGeom>
          <a:solidFill>
            <a:schemeClr val="accent2"/>
          </a:solidFill>
          <a:ln/>
        </p:spPr>
      </p:sp>
      <p:pic>
        <p:nvPicPr>
          <p:cNvPr id="21" name="Nest point icon 1 glyph" descr="circle icon">    </p:cNvPr>
          <p:cNvPicPr>
            <a:picLocks noChangeAspect="1"/>
          </p:cNvPicPr>
          <p:nvPr/>
        </p:nvPicPr>
        <p:blipFill>
          <a:blip r:embed="rId1"/>
          <a:stretch>
            <a:fillRect/>
          </a:stretch>
        </p:blipFill>
        <p:spPr>
          <a:xfrm>
            <a:off x="7052310" y="1800225"/>
            <a:ext cx="205740" cy="205740"/>
          </a:xfrm>
          <a:prstGeom prst="rect">
            <a:avLst/>
          </a:prstGeom>
        </p:spPr>
      </p:pic>
      <p:sp>
        <p:nvSpPr>
          <p:cNvPr id="22" name="Nest point text 1"/>
          <p:cNvSpPr txBox="1"/>
          <p:nvPr/>
        </p:nvSpPr>
        <p:spPr>
          <a:xfrm>
            <a:off x="7543800" y="1417320"/>
            <a:ext cx="4007815" cy="971550"/>
          </a:xfrm>
          <a:prstGeom prst="rect">
            <a:avLst/>
          </a:prstGeom>
          <a:noFill/>
          <a:ln/>
        </p:spPr>
        <p:txBody>
          <a:bodyPr wrap="square" lIns="0" tIns="0" rIns="0" bIns="0" rtlCol="0" anchor="ctr"/>
          <a:lstStyle/>
          <a:p>
            <a:pPr algn="l" indent="0" marL="0">
              <a:buNone/>
            </a:pPr>
            <a:r>
              <a:rPr lang="en-US" sz="1600" dirty="0">
                <a:solidFill>
                  <a:schemeClr val="tx1"/>
                </a:solidFill>
              </a:rPr>
              <a:t>Three hardened balls, about 24 mm diameter, pressed into a base</a:t>
            </a:r>
            <a:endParaRPr lang="en-US" sz="1600" dirty="0"/>
          </a:p>
        </p:txBody>
      </p:sp>
      <p:sp>
        <p:nvSpPr>
          <p:cNvPr id="23" name="Nest point row 2 card"/>
          <p:cNvSpPr/>
          <p:nvPr/>
        </p:nvSpPr>
        <p:spPr>
          <a:xfrm>
            <a:off x="6766560" y="2663190"/>
            <a:ext cx="4967935" cy="971550"/>
          </a:xfrm>
          <a:prstGeom prst="roundRect">
            <a:avLst>
              <a:gd name="adj" fmla="val 11294"/>
            </a:avLst>
          </a:prstGeom>
          <a:solidFill>
            <a:schemeClr val="bg2"/>
          </a:solidFill>
          <a:ln/>
        </p:spPr>
      </p:sp>
      <p:sp>
        <p:nvSpPr>
          <p:cNvPr id="24" name="Nest point icon 2 circle"/>
          <p:cNvSpPr/>
          <p:nvPr/>
        </p:nvSpPr>
        <p:spPr>
          <a:xfrm>
            <a:off x="6949440" y="2943225"/>
            <a:ext cx="411480" cy="411480"/>
          </a:xfrm>
          <a:prstGeom prst="ellipse">
            <a:avLst/>
          </a:prstGeom>
          <a:solidFill>
            <a:schemeClr val="accent2"/>
          </a:solidFill>
          <a:ln/>
        </p:spPr>
      </p:sp>
      <p:pic>
        <p:nvPicPr>
          <p:cNvPr id="25" name="Nest point icon 2 glyph" descr="check icon">    </p:cNvPr>
          <p:cNvPicPr>
            <a:picLocks noChangeAspect="1"/>
          </p:cNvPicPr>
          <p:nvPr/>
        </p:nvPicPr>
        <p:blipFill>
          <a:blip r:embed="rId2"/>
          <a:stretch>
            <a:fillRect/>
          </a:stretch>
        </p:blipFill>
        <p:spPr>
          <a:xfrm>
            <a:off x="7052310" y="3046095"/>
            <a:ext cx="205740" cy="205740"/>
          </a:xfrm>
          <a:prstGeom prst="rect">
            <a:avLst/>
          </a:prstGeom>
        </p:spPr>
      </p:pic>
      <p:sp>
        <p:nvSpPr>
          <p:cNvPr id="26" name="Nest point text 2"/>
          <p:cNvSpPr txBox="1"/>
          <p:nvPr/>
        </p:nvSpPr>
        <p:spPr>
          <a:xfrm>
            <a:off x="7543800" y="2663190"/>
            <a:ext cx="4007815" cy="971550"/>
          </a:xfrm>
          <a:prstGeom prst="rect">
            <a:avLst/>
          </a:prstGeom>
          <a:noFill/>
          <a:ln/>
        </p:spPr>
        <p:txBody>
          <a:bodyPr wrap="square" lIns="0" tIns="0" rIns="0" bIns="0" rtlCol="0" anchor="ctr"/>
          <a:lstStyle/>
          <a:p>
            <a:pPr algn="l" indent="0" marL="0">
              <a:buNone/>
            </a:pPr>
            <a:r>
              <a:rPr lang="en-US" sz="1600" dirty="0">
                <a:solidFill>
                  <a:schemeClr val="tx1"/>
                </a:solidFill>
              </a:rPr>
              <a:t>Ordinary grade-25 bearing balls are good enough: the nest's quality comes from the balls being rigidly fixed</a:t>
            </a:r>
            <a:endParaRPr lang="en-US" sz="1600" dirty="0"/>
          </a:p>
        </p:txBody>
      </p:sp>
      <p:sp>
        <p:nvSpPr>
          <p:cNvPr id="27" name="Nest point row 3 card"/>
          <p:cNvSpPr/>
          <p:nvPr/>
        </p:nvSpPr>
        <p:spPr>
          <a:xfrm>
            <a:off x="6766560" y="3909060"/>
            <a:ext cx="4967935" cy="971550"/>
          </a:xfrm>
          <a:prstGeom prst="roundRect">
            <a:avLst>
              <a:gd name="adj" fmla="val 11294"/>
            </a:avLst>
          </a:prstGeom>
          <a:solidFill>
            <a:schemeClr val="bg2"/>
          </a:solidFill>
          <a:ln/>
        </p:spPr>
      </p:sp>
      <p:sp>
        <p:nvSpPr>
          <p:cNvPr id="28" name="Nest point icon 3 circle"/>
          <p:cNvSpPr/>
          <p:nvPr/>
        </p:nvSpPr>
        <p:spPr>
          <a:xfrm>
            <a:off x="6949440" y="4189095"/>
            <a:ext cx="411480" cy="411480"/>
          </a:xfrm>
          <a:prstGeom prst="ellipse">
            <a:avLst/>
          </a:prstGeom>
          <a:solidFill>
            <a:schemeClr val="accent2"/>
          </a:solidFill>
          <a:ln/>
        </p:spPr>
      </p:sp>
      <p:pic>
        <p:nvPicPr>
          <p:cNvPr id="29" name="Nest point icon 3 glyph" descr="tool icon">    </p:cNvPr>
          <p:cNvPicPr>
            <a:picLocks noChangeAspect="1"/>
          </p:cNvPicPr>
          <p:nvPr/>
        </p:nvPicPr>
        <p:blipFill>
          <a:blip r:embed="rId3"/>
          <a:stretch>
            <a:fillRect/>
          </a:stretch>
        </p:blipFill>
        <p:spPr>
          <a:xfrm>
            <a:off x="7052310" y="4291965"/>
            <a:ext cx="205740" cy="205740"/>
          </a:xfrm>
          <a:prstGeom prst="rect">
            <a:avLst/>
          </a:prstGeom>
        </p:spPr>
      </p:pic>
      <p:sp>
        <p:nvSpPr>
          <p:cNvPr id="30" name="Nest point text 3"/>
          <p:cNvSpPr txBox="1"/>
          <p:nvPr/>
        </p:nvSpPr>
        <p:spPr>
          <a:xfrm>
            <a:off x="7543800" y="3909060"/>
            <a:ext cx="4007815" cy="971550"/>
          </a:xfrm>
          <a:prstGeom prst="rect">
            <a:avLst/>
          </a:prstGeom>
          <a:noFill/>
          <a:ln/>
        </p:spPr>
        <p:txBody>
          <a:bodyPr wrap="square" lIns="0" tIns="0" rIns="0" bIns="0" rtlCol="0" anchor="ctr"/>
          <a:lstStyle/>
          <a:p>
            <a:pPr algn="l" indent="0" marL="0">
              <a:buNone/>
            </a:pPr>
            <a:r>
              <a:rPr lang="en-US" sz="1600" dirty="0">
                <a:solidFill>
                  <a:schemeClr val="tx1"/>
                </a:solidFill>
              </a:rPr>
              <a:t>Bolted to the table where the robot reaches with the wrist down and tilted about 40 degrees to either side</a:t>
            </a:r>
            <a:endParaRPr lang="en-US" sz="1600" dirty="0"/>
          </a:p>
        </p:txBody>
      </p:sp>
      <p:sp>
        <p:nvSpPr>
          <p:cNvPr id="31" name="Nest point row 4 card"/>
          <p:cNvSpPr/>
          <p:nvPr/>
        </p:nvSpPr>
        <p:spPr>
          <a:xfrm>
            <a:off x="6766560" y="5154930"/>
            <a:ext cx="4967935" cy="971550"/>
          </a:xfrm>
          <a:prstGeom prst="roundRect">
            <a:avLst>
              <a:gd name="adj" fmla="val 11294"/>
            </a:avLst>
          </a:prstGeom>
          <a:solidFill>
            <a:schemeClr val="bg2"/>
          </a:solidFill>
          <a:ln/>
        </p:spPr>
      </p:sp>
      <p:sp>
        <p:nvSpPr>
          <p:cNvPr id="32" name="Nest point icon 4 circle"/>
          <p:cNvSpPr/>
          <p:nvPr/>
        </p:nvSpPr>
        <p:spPr>
          <a:xfrm>
            <a:off x="6949440" y="5434965"/>
            <a:ext cx="411480" cy="411480"/>
          </a:xfrm>
          <a:prstGeom prst="ellipse">
            <a:avLst/>
          </a:prstGeom>
          <a:solidFill>
            <a:schemeClr val="accent2"/>
          </a:solidFill>
          <a:ln/>
        </p:spPr>
      </p:sp>
      <p:pic>
        <p:nvPicPr>
          <p:cNvPr id="33" name="Nest point icon 4 glyph" descr="clock icon">    </p:cNvPr>
          <p:cNvPicPr>
            <a:picLocks noChangeAspect="1"/>
          </p:cNvPicPr>
          <p:nvPr/>
        </p:nvPicPr>
        <p:blipFill>
          <a:blip r:embed="rId4"/>
          <a:stretch>
            <a:fillRect/>
          </a:stretch>
        </p:blipFill>
        <p:spPr>
          <a:xfrm>
            <a:off x="7052310" y="5537835"/>
            <a:ext cx="205740" cy="205740"/>
          </a:xfrm>
          <a:prstGeom prst="rect">
            <a:avLst/>
          </a:prstGeom>
        </p:spPr>
      </p:pic>
      <p:sp>
        <p:nvSpPr>
          <p:cNvPr id="34" name="Nest point text 4"/>
          <p:cNvSpPr txBox="1"/>
          <p:nvPr/>
        </p:nvSpPr>
        <p:spPr>
          <a:xfrm>
            <a:off x="7543800" y="5154930"/>
            <a:ext cx="4007815" cy="971550"/>
          </a:xfrm>
          <a:prstGeom prst="rect">
            <a:avLst/>
          </a:prstGeom>
          <a:noFill/>
          <a:ln/>
        </p:spPr>
        <p:txBody>
          <a:bodyPr wrap="square" lIns="0" tIns="0" rIns="0" bIns="0" rtlCol="0" anchor="ctr"/>
          <a:lstStyle/>
          <a:p>
            <a:pPr algn="l" indent="0" marL="0">
              <a:buNone/>
            </a:pPr>
            <a:r>
              <a:rPr lang="en-US" sz="1600" dirty="0">
                <a:solidFill>
                  <a:schemeClr val="tx1"/>
                </a:solidFill>
              </a:rPr>
              <a:t>Used once per sphere at setup, and after any remount of an adapter or stem</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Checks before the fixtures go to the robot cell</a:t>
            </a:r>
            <a:endParaRPr lang="en-US" sz="3400" dirty="0"/>
          </a:p>
        </p:txBody>
      </p:sp>
      <p:pic>
        <p:nvPicPr>
          <p:cNvPr id="3" name="Checklist check 1" descr="check icon">    </p:cNvPr>
          <p:cNvPicPr>
            <a:picLocks noChangeAspect="1"/>
          </p:cNvPicPr>
          <p:nvPr/>
        </p:nvPicPr>
        <p:blipFill>
          <a:blip r:embed="rId1"/>
          <a:stretch>
            <a:fillRect/>
          </a:stretch>
        </p:blipFill>
        <p:spPr>
          <a:xfrm>
            <a:off x="457200" y="1482852"/>
            <a:ext cx="411480" cy="411480"/>
          </a:xfrm>
          <a:prstGeom prst="rect">
            <a:avLst/>
          </a:prstGeom>
        </p:spPr>
      </p:pic>
      <p:sp>
        <p:nvSpPr>
          <p:cNvPr id="4" name="Checklist text 1"/>
          <p:cNvSpPr txBox="1"/>
          <p:nvPr/>
        </p:nvSpPr>
        <p:spPr>
          <a:xfrm>
            <a:off x="1051560" y="1417320"/>
            <a:ext cx="6263640" cy="542544"/>
          </a:xfrm>
          <a:prstGeom prst="rect">
            <a:avLst/>
          </a:prstGeom>
          <a:noFill/>
          <a:ln/>
        </p:spPr>
        <p:txBody>
          <a:bodyPr wrap="square" lIns="0" tIns="0" rIns="0" bIns="0" rtlCol="0" anchor="ctr"/>
          <a:lstStyle/>
          <a:p>
            <a:pPr algn="l" indent="0" marL="0">
              <a:buNone/>
            </a:pPr>
            <a:r>
              <a:rPr lang="en-US" sz="1600" dirty="0">
                <a:solidFill>
                  <a:schemeClr val="tx1"/>
                </a:solidFill>
              </a:rPr>
              <a:t>Adapter tapped hole square to its mounting face within 0.02 mm over 100 mm</a:t>
            </a:r>
            <a:endParaRPr lang="en-US" sz="1600" dirty="0"/>
          </a:p>
        </p:txBody>
      </p:sp>
      <p:pic>
        <p:nvPicPr>
          <p:cNvPr id="5" name="Checklist check 2" descr="check icon">    </p:cNvPr>
          <p:cNvPicPr>
            <a:picLocks noChangeAspect="1"/>
          </p:cNvPicPr>
          <p:nvPr/>
        </p:nvPicPr>
        <p:blipFill>
          <a:blip r:embed="rId2"/>
          <a:stretch>
            <a:fillRect/>
          </a:stretch>
        </p:blipFill>
        <p:spPr>
          <a:xfrm>
            <a:off x="457200" y="2247247"/>
            <a:ext cx="411480" cy="411480"/>
          </a:xfrm>
          <a:prstGeom prst="rect">
            <a:avLst/>
          </a:prstGeom>
        </p:spPr>
      </p:pic>
      <p:sp>
        <p:nvSpPr>
          <p:cNvPr id="6" name="Checklist text 2"/>
          <p:cNvSpPr txBox="1"/>
          <p:nvPr/>
        </p:nvSpPr>
        <p:spPr>
          <a:xfrm>
            <a:off x="1051560" y="2234184"/>
            <a:ext cx="6263640" cy="437606"/>
          </a:xfrm>
          <a:prstGeom prst="rect">
            <a:avLst/>
          </a:prstGeom>
          <a:noFill/>
          <a:ln/>
        </p:spPr>
        <p:txBody>
          <a:bodyPr wrap="square" lIns="0" tIns="0" rIns="0" bIns="0" rtlCol="0" anchor="ctr"/>
          <a:lstStyle/>
          <a:p>
            <a:pPr algn="l" indent="0" marL="0">
              <a:buNone/>
            </a:pPr>
            <a:r>
              <a:rPr lang="en-US" sz="1600" dirty="0">
                <a:solidFill>
                  <a:schemeClr val="tx1"/>
                </a:solidFill>
              </a:rPr>
              <a:t>Each stem straight: roll it on a flat surface</a:t>
            </a:r>
            <a:endParaRPr lang="en-US" sz="1600" dirty="0"/>
          </a:p>
        </p:txBody>
      </p:sp>
      <p:pic>
        <p:nvPicPr>
          <p:cNvPr id="7" name="Checklist check 3" descr="check icon">    </p:cNvPr>
          <p:cNvPicPr>
            <a:picLocks noChangeAspect="1"/>
          </p:cNvPicPr>
          <p:nvPr/>
        </p:nvPicPr>
        <p:blipFill>
          <a:blip r:embed="rId3"/>
          <a:stretch>
            <a:fillRect/>
          </a:stretch>
        </p:blipFill>
        <p:spPr>
          <a:xfrm>
            <a:off x="457200" y="2959173"/>
            <a:ext cx="411480" cy="411480"/>
          </a:xfrm>
          <a:prstGeom prst="rect">
            <a:avLst/>
          </a:prstGeom>
        </p:spPr>
      </p:pic>
      <p:sp>
        <p:nvSpPr>
          <p:cNvPr id="8" name="Checklist text 3"/>
          <p:cNvSpPr txBox="1"/>
          <p:nvPr/>
        </p:nvSpPr>
        <p:spPr>
          <a:xfrm>
            <a:off x="1051560" y="2946110"/>
            <a:ext cx="6263640" cy="437606"/>
          </a:xfrm>
          <a:prstGeom prst="rect">
            <a:avLst/>
          </a:prstGeom>
          <a:noFill/>
          <a:ln/>
        </p:spPr>
        <p:txBody>
          <a:bodyPr wrap="square" lIns="0" tIns="0" rIns="0" bIns="0" rtlCol="0" anchor="ctr"/>
          <a:lstStyle/>
          <a:p>
            <a:pPr algn="l" indent="0" marL="0">
              <a:buNone/>
            </a:pPr>
            <a:r>
              <a:rPr lang="en-US" sz="1600" dirty="0">
                <a:solidFill>
                  <a:schemeClr val="tx1"/>
                </a:solidFill>
              </a:rPr>
              <a:t>Both spheres matte, uniform and free of highlights</a:t>
            </a:r>
            <a:endParaRPr lang="en-US" sz="1600" dirty="0"/>
          </a:p>
        </p:txBody>
      </p:sp>
      <p:pic>
        <p:nvPicPr>
          <p:cNvPr id="9" name="Checklist check 4" descr="check icon">    </p:cNvPr>
          <p:cNvPicPr>
            <a:picLocks noChangeAspect="1"/>
          </p:cNvPicPr>
          <p:nvPr/>
        </p:nvPicPr>
        <p:blipFill>
          <a:blip r:embed="rId4"/>
          <a:stretch>
            <a:fillRect/>
          </a:stretch>
        </p:blipFill>
        <p:spPr>
          <a:xfrm>
            <a:off x="457200" y="3723567"/>
            <a:ext cx="411480" cy="411480"/>
          </a:xfrm>
          <a:prstGeom prst="rect">
            <a:avLst/>
          </a:prstGeom>
        </p:spPr>
      </p:pic>
      <p:sp>
        <p:nvSpPr>
          <p:cNvPr id="10" name="Checklist text 4"/>
          <p:cNvSpPr txBox="1"/>
          <p:nvPr/>
        </p:nvSpPr>
        <p:spPr>
          <a:xfrm>
            <a:off x="1051560" y="3658035"/>
            <a:ext cx="6263640" cy="542544"/>
          </a:xfrm>
          <a:prstGeom prst="rect">
            <a:avLst/>
          </a:prstGeom>
          <a:noFill/>
          <a:ln/>
        </p:spPr>
        <p:txBody>
          <a:bodyPr wrap="square" lIns="0" tIns="0" rIns="0" bIns="0" rtlCol="0" anchor="ctr"/>
          <a:lstStyle/>
          <a:p>
            <a:pPr algn="l" indent="0" marL="0">
              <a:buNone/>
            </a:pPr>
            <a:r>
              <a:rPr lang="en-US" sz="1600" dirty="0">
                <a:solidFill>
                  <a:schemeClr val="tx1"/>
                </a:solidFill>
              </a:rPr>
              <a:t>Each sphere diameter measured after finishing, with the temperature recorded</a:t>
            </a:r>
            <a:endParaRPr lang="en-US" sz="1600" dirty="0"/>
          </a:p>
        </p:txBody>
      </p:sp>
      <p:pic>
        <p:nvPicPr>
          <p:cNvPr id="11" name="Checklist check 5" descr="check icon">    </p:cNvPr>
          <p:cNvPicPr>
            <a:picLocks noChangeAspect="1"/>
          </p:cNvPicPr>
          <p:nvPr/>
        </p:nvPicPr>
        <p:blipFill>
          <a:blip r:embed="rId5"/>
          <a:stretch>
            <a:fillRect/>
          </a:stretch>
        </p:blipFill>
        <p:spPr>
          <a:xfrm>
            <a:off x="457200" y="4487962"/>
            <a:ext cx="411480" cy="411480"/>
          </a:xfrm>
          <a:prstGeom prst="rect">
            <a:avLst/>
          </a:prstGeom>
        </p:spPr>
      </p:pic>
      <p:sp>
        <p:nvSpPr>
          <p:cNvPr id="12" name="Checklist text 5"/>
          <p:cNvSpPr txBox="1"/>
          <p:nvPr/>
        </p:nvSpPr>
        <p:spPr>
          <a:xfrm>
            <a:off x="1051560" y="4474899"/>
            <a:ext cx="6263640" cy="437606"/>
          </a:xfrm>
          <a:prstGeom prst="rect">
            <a:avLst/>
          </a:prstGeom>
          <a:noFill/>
          <a:ln/>
        </p:spPr>
        <p:txBody>
          <a:bodyPr wrap="square" lIns="0" tIns="0" rIns="0" bIns="0" rtlCol="0" anchor="ctr"/>
          <a:lstStyle/>
          <a:p>
            <a:pPr algn="l" indent="0" marL="0">
              <a:buNone/>
            </a:pPr>
            <a:r>
              <a:rPr lang="en-US" sz="1600" dirty="0">
                <a:solidFill>
                  <a:schemeClr val="tx1"/>
                </a:solidFill>
              </a:rPr>
              <a:t>Board flat to 0.05 mm after painting and mounting</a:t>
            </a:r>
            <a:endParaRPr lang="en-US" sz="1600" dirty="0"/>
          </a:p>
        </p:txBody>
      </p:sp>
      <p:pic>
        <p:nvPicPr>
          <p:cNvPr id="13" name="Checklist check 6" descr="check icon">    </p:cNvPr>
          <p:cNvPicPr>
            <a:picLocks noChangeAspect="1"/>
          </p:cNvPicPr>
          <p:nvPr/>
        </p:nvPicPr>
        <p:blipFill>
          <a:blip r:embed="rId6"/>
          <a:stretch>
            <a:fillRect/>
          </a:stretch>
        </p:blipFill>
        <p:spPr>
          <a:xfrm>
            <a:off x="457200" y="5199888"/>
            <a:ext cx="411480" cy="411480"/>
          </a:xfrm>
          <a:prstGeom prst="rect">
            <a:avLst/>
          </a:prstGeom>
        </p:spPr>
      </p:pic>
      <p:sp>
        <p:nvSpPr>
          <p:cNvPr id="14" name="Checklist text 6"/>
          <p:cNvSpPr txBox="1"/>
          <p:nvPr/>
        </p:nvSpPr>
        <p:spPr>
          <a:xfrm>
            <a:off x="1051560" y="5186825"/>
            <a:ext cx="6263640" cy="437606"/>
          </a:xfrm>
          <a:prstGeom prst="rect">
            <a:avLst/>
          </a:prstGeom>
          <a:noFill/>
          <a:ln/>
        </p:spPr>
        <p:txBody>
          <a:bodyPr wrap="square" lIns="0" tIns="0" rIns="0" bIns="0" rtlCol="0" anchor="ctr"/>
          <a:lstStyle/>
          <a:p>
            <a:pPr algn="l" indent="0" marL="0">
              <a:buNone/>
            </a:pPr>
            <a:r>
              <a:rPr lang="en-US" sz="1600" dirty="0">
                <a:solidFill>
                  <a:schemeClr val="tx1"/>
                </a:solidFill>
              </a:rPr>
              <a:t>Witness marks across each stem-adapter joint</a:t>
            </a:r>
            <a:endParaRPr lang="en-US" sz="1600" dirty="0"/>
          </a:p>
        </p:txBody>
      </p:sp>
      <p:pic>
        <p:nvPicPr>
          <p:cNvPr id="15" name="Checklist check 7" descr="check icon">    </p:cNvPr>
          <p:cNvPicPr>
            <a:picLocks noChangeAspect="1"/>
          </p:cNvPicPr>
          <p:nvPr/>
        </p:nvPicPr>
        <p:blipFill>
          <a:blip r:embed="rId7"/>
          <a:stretch>
            <a:fillRect/>
          </a:stretch>
        </p:blipFill>
        <p:spPr>
          <a:xfrm>
            <a:off x="457200" y="5911814"/>
            <a:ext cx="411480" cy="411480"/>
          </a:xfrm>
          <a:prstGeom prst="rect">
            <a:avLst/>
          </a:prstGeom>
        </p:spPr>
      </p:pic>
      <p:sp>
        <p:nvSpPr>
          <p:cNvPr id="16" name="Checklist text 7"/>
          <p:cNvSpPr txBox="1"/>
          <p:nvPr/>
        </p:nvSpPr>
        <p:spPr>
          <a:xfrm>
            <a:off x="1051560" y="5898751"/>
            <a:ext cx="6263640" cy="437606"/>
          </a:xfrm>
          <a:prstGeom prst="rect">
            <a:avLst/>
          </a:prstGeom>
          <a:noFill/>
          <a:ln/>
        </p:spPr>
        <p:txBody>
          <a:bodyPr wrap="square" lIns="0" tIns="0" rIns="0" bIns="0" rtlCol="0" anchor="ctr"/>
          <a:lstStyle/>
          <a:p>
            <a:pPr algn="l" indent="0" marL="0">
              <a:buNone/>
            </a:pPr>
            <a:r>
              <a:rPr lang="en-US" sz="1600" dirty="0">
                <a:solidFill>
                  <a:schemeClr val="tx1"/>
                </a:solidFill>
              </a:rPr>
              <a:t>Robot payload rating covers sphere, stem and adapter together</a:t>
            </a:r>
            <a:endParaRPr lang="en-US" sz="1600" dirty="0"/>
          </a:p>
        </p:txBody>
      </p:sp>
      <p:sp>
        <p:nvSpPr>
          <p:cNvPr id="17" name="Visual card"/>
          <p:cNvSpPr/>
          <p:nvPr/>
        </p:nvSpPr>
        <p:spPr>
          <a:xfrm>
            <a:off x="7589520" y="1417320"/>
            <a:ext cx="4144975" cy="4709160"/>
          </a:xfrm>
          <a:prstGeom prst="roundRect">
            <a:avLst>
              <a:gd name="adj" fmla="val 2647"/>
            </a:avLst>
          </a:prstGeom>
          <a:solidFill>
            <a:schemeClr val="bg2"/>
          </a:solidFill>
          <a:ln/>
        </p:spPr>
      </p:sp>
      <p:sp>
        <p:nvSpPr>
          <p:cNvPr id="18" name="Clipboard check icon circle"/>
          <p:cNvSpPr/>
          <p:nvPr/>
        </p:nvSpPr>
        <p:spPr>
          <a:xfrm>
            <a:off x="8473288" y="2583180"/>
            <a:ext cx="2377440" cy="2377440"/>
          </a:xfrm>
          <a:prstGeom prst="ellipse">
            <a:avLst/>
          </a:prstGeom>
          <a:solidFill>
            <a:schemeClr val="accent2"/>
          </a:solidFill>
          <a:ln/>
        </p:spPr>
      </p:sp>
      <p:pic>
        <p:nvPicPr>
          <p:cNvPr id="19" name="Clipboard check icon glyph" descr="clipboardCheck icon">    </p:cNvPr>
          <p:cNvPicPr>
            <a:picLocks noChangeAspect="1"/>
          </p:cNvPicPr>
          <p:nvPr/>
        </p:nvPicPr>
        <p:blipFill>
          <a:blip r:embed="rId8"/>
          <a:stretch>
            <a:fillRect/>
          </a:stretch>
        </p:blipFill>
        <p:spPr>
          <a:xfrm>
            <a:off x="9067648" y="3177540"/>
            <a:ext cx="1188720" cy="1188720"/>
          </a:xfrm>
          <a:prstGeom prst="rect">
            <a:avLst/>
          </a:prstGeom>
        </p:spPr>
      </p:pic>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Stage-1 Capture">
  <a:themeElements>
    <a:clrScheme name="Stage-1 Capture">
      <a:dk1>
        <a:srgbClr val="1F2A30"/>
      </a:dk1>
      <a:lt1>
        <a:srgbClr val="FFFFFF"/>
      </a:lt1>
      <a:dk2>
        <a:srgbClr val="2E4A52"/>
      </a:dk2>
      <a:lt2>
        <a:srgbClr val="EEF2F3"/>
      </a:lt2>
      <a:accent1>
        <a:srgbClr val="D9731A"/>
      </a:accent1>
      <a:accent2>
        <a:srgbClr val="3E7C87"/>
      </a:accent2>
      <a:accent3>
        <a:srgbClr val="8FA9AE"/>
      </a:accent3>
      <a:accent4>
        <a:srgbClr val="B23A2E"/>
      </a:accent4>
      <a:accent5>
        <a:srgbClr val="5B6B70"/>
      </a:accent5>
      <a:accent6>
        <a:srgbClr val="C9D6D8"/>
      </a:accent6>
      <a:hlink>
        <a:srgbClr val="3E7C87"/>
      </a:hlink>
      <a:folHlink>
        <a:srgbClr val="5B6B70"/>
      </a:folHlink>
    </a:clrScheme>
    <a:fontScheme name="Stage-1 Captu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Stage-1 Calibration: Procurement and Build</dc:title>
  <dc:subject>Stage-1 depth-sensor calibration captures</dc:subject>
  <dc:creator>Depth calibration from spherical target</dc:creator>
  <cp:lastModifiedBy>Depth calibration from spherical target</cp:lastModifiedBy>
  <cp:revision>1</cp:revision>
  <dcterms:created xsi:type="dcterms:W3CDTF">2026-10-07T13:53:29Z</dcterms:created>
  <dcterms:modified xsi:type="dcterms:W3CDTF">2026-10-07T13:53:29Z</dcterms:modified>
</cp:coreProperties>
</file>