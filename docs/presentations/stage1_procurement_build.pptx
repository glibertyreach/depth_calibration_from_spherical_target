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333c239a-7a51-38cd-a630-aaa413c91ef9}">
          <p14:sldIdLst>
            <p14:sldId id="256"/>
            <p14:sldId id="257"/>
          </p14:sldIdLst>
        </p14:section>
        <p14:section name="Scope of work" id="{2066cdb6-62f9-f471-71a5-580eeee48728}">
          <p14:sldIdLst>
            <p14:sldId id="258"/>
            <p14:sldId id="259"/>
            <p14:sldId id="260"/>
          </p14:sldIdLst>
        </p14:section>
        <p14:section name="Procurement" id="{a3802c80-787a-22a1-c69a-76c3eb9bc8da}">
          <p14:sldIdLst>
            <p14:sldId id="261"/>
            <p14:sldId id="262"/>
            <p14:sldId id="263"/>
            <p14:sldId id="264"/>
            <p14:sldId id="265"/>
          </p14:sldIdLst>
        </p14:section>
        <p14:section name="Mechanical build" id="{bb96e8ee-f057-064a-5c6d-385ae4f907b2}">
          <p14:sldIdLst>
            <p14:sldId id="266"/>
            <p14:sldId id="267"/>
            <p14:sldId id="268"/>
            <p14:sldId id="269"/>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first of two decks on the stage-1 calibration captures. It covers what has to be bought and made before a capture session: one matte sphere, a flat board, their mountings on the robot flange, and a three-ball nest, with estimated costs and candidate suppliers. The second deck covers the test procedure itself and what the robot program must do. Both are summaries of the stage-1 capture procedure in docs/procedures, whose section 3a and appendix A hold the full build details.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calibration compares what the sensor measures with targets of known shape held at known poses by the robot. The sensor averages depth over a patch of pixels, and on a curved surface that averaging biases the depth by an amount that depends on how curved the surface looks per pixel, not on its physical radius alone. Moving one sphere from 300 to 1,100 mm changes that apparent curvature more than thirteenfold, so one sphere swept through the volume measures the effect; a second, smaller sphere is no longer needed (decision D-15 of the analysis). What is given up is the cross-check two radii would give, that a small sphere near the sensor and a large one twice as far away show the same bias. The larger sphere is kept because it still covers enough pixels at 1,100 mm. The board supplies zero curvature and controlled tilts. A sphere's orientation does not matter, only its center, which is why the mounting must hold the center fixed rather than aim the sphere precisely.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complete list of apparatus to build before the first session, as section 1b of the procedure gives it. Each purchase order asks the fabricator for an inspection report of the toleranced features on the drawing; those reports are the as-built record. The dimensioned shop drawings are in appendix D of the stage-1 procedure, and as PNG files in docs/procedures/drawings/ of the repository: SC1-02 adapter plate, SC1-04 stem with the sphere interface, SC1-05 board adapter, SC1-06 nest base (SC1-01 and SC1-03, for the former second sphere, are archived). The rigid sensor mount is built from the existing drawing from previous work. The run-out fixture needs no drawing: it is a bought dial indicator on a bought magnetic base, standing on a plain steel plate bolted to the table. Everything already in hand, everything to buy and the preparation tasks are on the following slides and in sections 1a, 1c and 1f.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tools and consumables, section 1c of the procedure. One outside micrometer, 150 to 175 mm, replaces any laboratory measurement: the sphere's diameter is measured in-house after the matte finish, at six or more orientations, and the spread of the readings doubles as the sphericity check. It comes with a setting standard, used to check it before each measurement. The straightedge with a 0.05 mm feeler leaf checks the board's flatness after painting and after mounting; the run-out on the robot checks only that the face is square to the flange, not that it is flat. These, the calipers for the board's size and the nest re-seat check are the only in-house checks; everything else is in the fabricators' inspection reports. Items already in hand are the sensor, the robot, the capture computer with its communication software, which also takes the capture trigger from the robot, and the analysis computer.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estimates come from suppliers' list prices where they exist and from typical job-shop rates of about 80 to 150 dollars an hour otherwise. With one sphere, one adapter plate, one stem and one micrometer are needed. The sphere figure includes no laboratory measurement: the diameter is measured in-house with the micrometer on the buy list. The two totals differ only in the sphere: turned in aluminum by a job shop with the thread cut in, against made to order by a ball or ceramics maker. The fabricators' inspection reports may carry a fee; ask for it in each quote. The rigid sensor mount is built from an existing drawing and is not estimated here. Quotes are needed before ordering.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purchase specification of section 1d of the procedure, to hand to the shop that turns the sphere. The name sphere B is kept because the drawings and the related projects use it. The diameter requirement is decision D-13: known to 0.025 mm after the matte finish, measured in-house with the outside micrometer; the mean of six or more readings goes in the pose log, and their spread checks the 0.02 mm sphericity. Aluminum grows 0.0035 mm in diameter per degree C at this size, so it is measured at the temperature of the session. The dimensioned shop drawings are in appendix D of the stage-1 procedure, and as PNG files in docs/procedures/drawings/ of the repository: SC1-02 adapter plate, SC1-04 stem with the sphere interface, SC1-05 board adapter, SC1-06 nest base (SC1-01 and SC1-03, for the former second sphere, are archived).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board is checked flat after painting and after mounting because that is the state the sensor sees, and the flatness report is the reference for the board-flatness check in the validation. A 6 mm plate sags only about 0.002 mm under its own weight, so thickness is a matter of surviving the finish and the mounting, not stiffness. The bottom and left edges locate the board against the three edge pins of the board adapter, which centers it on the flange axis. The dimensioned shop drawings are in appendix D of the stage-1 procedure, and as PNG files in docs/procedures/drawings/ of the repository: SC1-02 adapter plate, SC1-04 stem with the sphere interface, SC1-05 board adapter, SC1-06 nest base (SC1-01 and SC1-03, for the former second sphere, are archived).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mirror finish returns one bright highlight from the sensor's projector and almost nothing else, so the sphere must be matte; the hard anodize of the aluminum sphere gives that directly. The diameter requirement is decision D-13: known to 0.025 mm after finishing, which is a radius error of about 0.0125 mm, an eighth of the target at 500 mm; no maker's certificate is needed. The diameter is measured in-house with the outside micrometer. Only if the sphere is bought in steel or ceramic does the alternative mounting apply: such spheres are hardened and cannot be tapped, so they get a bonded 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list is appendix A of the procedure in brief. No supplier was found that stocks a precision 6 inch sphere with a mounting hole, so the sphere is either turned in aluminum with the thread cut in, or made to order by a ball or ceramics maker. The laser-scanner reference spheres sold near this size have form errors of 0.3 to 2 mm; the Rothbucher sphere is the best specified of them, and even it is too coarse now that one sphere must serve near range too, where the depth-scaled target is 0.04 to 0.1 mm. The finished diameter is measured in-house with the outside micrometer, which is cheaper than buying a certified sphere and is what the calibration actually needs.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run-out check in deck 2 needs the dial indicator held still while the robot turns the board about the flange axis. A magnetic base alone can creep or fail to hold on an aluminum or stone table, so it stands on a small steel plate bolted to the table. All three items are stocked by McMaster-Carr and the usual tool suppliers. The fixture needs no drawing beyond the plate's size and its two bolt holes.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the sphere center ends up does not need to be known from drawings, because the tool-center-point routine measures it; what matters is that it does not move afterwards. The adapter plate's mounting face, outer face and tapped hole are machined in one lathe setup, located on the flange pilot, so the hole is perpendicular to the face within 0.02 mm over 100 mm. The stem is deliberately thick: a 25 mm stem would let the sphere sag about 0.1 mm, and that sag would change with the robot's orientation. The shoulder on the stem, machined square in the same setup as its thread, sets the stem perpendicular to the adapter. The dimensioned shop drawings are in appendix D of the stage-1 procedure, and as PNG files in docs/procedures/drawings/ of the repository: SC1-02 adapter plate, SC1-04 stem with the sphere interface, SC1-05 board adapter, SC1-06 nest base (SC1-01 and SC1-03, for the former second sphere, are archived). The adapter plate is 63 mm across and 22 mm thick, with a 31.5 mm centering spigot and one 6 mm dowel for the ISO 9409-1-50-4-M6 flange.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turned aluminum sphere has an M20 x 30 mm hole tapped at a pole, with a 32 mm spot face, cut in the same setup in which it is turned. The stem's M20 tip threads in and its end seats on the spot face, with a drop of medium-strength thread locker. Only if the sphere is bought in steel or ceramic does the bonded alternative apply: hardened spheres cannot be tapped, so a shop makes a blind hole 16 H7 by 46 mm by carbide drilling or electrical discharge machining, sized for a light press fit, and the stem is bonded in with anaerobic retaining compound. Never weld or braze: the heat distorts the sphere. The dimensioned shop drawings are in appendix D of the stage-1 procedure, and as PNG files in docs/procedures/drawings/ of the repository: SC1-02 adapter plate, SC1-04 stem with the sphere interface, SC1-05 board adapter, SC1-06 nest base (SC1-01 and SC1-03, for the former second sphere, are archived).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Thickness is not a stiffness question: a 6 mm plate sags only about 0.002 mm under its own weight. It only has to survive the finish and the mounting flat. Bead-blasting peens one face and bows a thin plate, so paint over the ground or glass surface instead. Flatness is checked last, after painting and mounting, because that is the state the sensor sees; the flatness report is also the reference for the board-flatness check in the validation. The dimensioned shop drawings are in appendix D of the stage-1 procedure, and as PNG files in docs/procedures/drawings/ of the repository: SC1-02 adapter plate, SC1-04 stem with the sphere interface, SC1-05 board adapter, SC1-06 nest base (SC1-01 and SC1-03, for the former second sphere, are archived).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sphere resting on three fixed balls always has its center at the same point in space, whatever direction its stem points. That is what lets the robot's own multi-orientation routine find the sphere's center as its tool center point, which deck 2 describes. The nest is simple to make: a steel base with three pockets, the balls bonded in, and holes to bolt it down. Its position matters only in that the robot must be able to seat the sphere from several directions. The dimensioned shop drawings are in appendix D of the stage-1 procedure, and as PNG files in docs/procedures/drawings/ of the repository: SC1-02 adapter plate, SC1-04 stem with the sphere interface, SC1-05 board adapter, SC1-06 nest base (SC1-01 and SC1-03, for the former second sphere, are archived).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only checks made in-house (decision D-18 of the analysis); every toleranced feature of the machined parts and of the sphere is in the fabricators' inspection reports, which are the as-built record. Each check protects something the software cannot repair later: a shiny spot gives bad reads, an unmeasured diameter or a bowed board puts a wrong reference into every observation, and a board face that is not square to the flange tilts every board pose. The run-out reading checks only that squareness; it cannot see a dished face, which is why flatness is checked with the straightedge. The fixture weights feed the robot's tool load data, which its absolute accuracy depends on. The dimensioned shop drawings are in appendix D of the stage-1 procedure, and as PNG files in docs/procedures/drawings/ of the repository: SC1-02 adapter plate, SC1-04 stem with the sphere interface, SC1-05 board adapter, SC1-06 nest base (SC1-01 and SC1-03, for the former second sphere, are archived).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1463040"/>
          </a:xfrm>
          <a:prstGeom prst="rect">
            <a:avLst/>
          </a:prstGeom>
          <a:noFill/>
          <a:ln/>
        </p:spPr>
        <p:txBody>
          <a:bodyPr wrap="square" rtlCol="0"/>
          <a:lstStyle>
            <a:lvl1pPr algn="l" indent="0" marL="0">
              <a:buNone/>
              <a:defRPr lang="en-US" sz="4400" b="1" dirty="0">
                <a:solidFill>
                  <a:schemeClr val="bg1"/>
                </a:solidFill>
                <a:latin typeface="+mj-lt" pitchFamily="34" charset="0"/>
                <a:ea typeface="+mj-lt" pitchFamily="34" charset="-122"/>
                <a:cs typeface="+mj-lt" pitchFamily="34" charset="-120"/>
              </a:defRPr>
            </a:lvl1pPr>
          </a:lstStyle>
          <a:p>
            <a:pPr algn="l" indent="0" marL="0">
              <a:buNone/>
            </a:pPr>
            <a:r>
              <a:rPr lang="en-US" sz="4400" b="1" dirty="0">
                <a:solidFill>
                  <a:schemeClr val="bg1"/>
                </a:solidFill>
                <a:latin typeface="+mj-lt" pitchFamily="34" charset="0"/>
                <a:ea typeface="+mj-lt" pitchFamily="34" charset="-122"/>
                <a:cs typeface="+mj-lt" pitchFamily="34" charset="-120"/>
              </a:rPr>
              <a:t>Title</a:t>
            </a:r>
            <a:endParaRPr lang="en-US" sz="4400" dirty="0"/>
          </a:p>
        </p:txBody>
      </p:sp>
      <p:sp>
        <p:nvSpPr>
          <p:cNvPr id="3" name="Text 0"/>
          <p:cNvSpPr/>
          <p:nvPr>
            <p:ph idx="101" type="body" hasCustomPrompt="1"/>
          </p:nvPr>
        </p:nvSpPr>
        <p:spPr>
          <a:xfrm>
            <a:off x="457200" y="2103120"/>
            <a:ext cx="8229600" cy="822960"/>
          </a:xfrm>
          <a:prstGeom prst="rect">
            <a:avLst/>
          </a:prstGeom>
          <a:noFill/>
          <a:ln/>
        </p:spPr>
        <p:txBody>
          <a:bodyPr wrap="square" rtlCol="0"/>
          <a:lstStyle>
            <a:lvl1pPr algn="l" indent="0" marL="0">
              <a:buNone/>
              <a:defRPr lang="en-US" sz="2200" dirty="0">
                <a:solidFill>
                  <a:schemeClr val="accent6"/>
                </a:solidFill>
              </a:defRPr>
            </a:lvl1pPr>
          </a:lstStyle>
          <a:p>
            <a:pPr algn="l" indent="0" marL="0">
              <a:buNone/>
            </a:pPr>
            <a:r>
              <a:rPr lang="en-US" sz="2200" dirty="0">
                <a:solidFill>
                  <a:schemeClr val="accent6"/>
                </a:solidFill>
              </a:rPr>
              <a:t>Subtitle</a:t>
            </a:r>
            <a:endParaRPr lang="en-US" sz="2200" dirty="0"/>
          </a:p>
        </p:txBody>
      </p:sp>
      <p:sp>
        <p:nvSpPr>
          <p:cNvPr id="4" name="Text 0"/>
          <p:cNvSpPr/>
          <p:nvPr>
            <p:ph idx="102" type="body" hasCustomPrompt="1"/>
          </p:nvPr>
        </p:nvSpPr>
        <p:spPr>
          <a:xfrm>
            <a:off x="457200" y="6035040"/>
            <a:ext cx="11277295" cy="365760"/>
          </a:xfrm>
          <a:prstGeom prst="rect">
            <a:avLst/>
          </a:prstGeom>
          <a:noFill/>
          <a:ln/>
        </p:spPr>
        <p:txBody>
          <a:bodyPr wrap="square" rtlCol="0"/>
          <a:lstStyle>
            <a:lvl1pPr algn="l" indent="0" marL="0">
              <a:buNone/>
              <a:defRPr lang="en-US" sz="1400" dirty="0">
                <a:solidFill>
                  <a:schemeClr val="accent6"/>
                </a:solidFill>
              </a:defRPr>
            </a:lvl1pPr>
          </a:lstStyle>
          <a:p>
            <a:pPr algn="l" indent="0" marL="0">
              <a:buNone/>
            </a:pPr>
            <a:r>
              <a:rPr lang="en-US" sz="1400" dirty="0">
                <a:solidFill>
                  <a:schemeClr val="accent6"/>
                </a:solidFill>
              </a:rPr>
              <a:t>Footer</a:t>
            </a:r>
            <a:endParaRPr lang="en-US" sz="1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_ONLY">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rtlCol="0"/>
          <a:lstStyle>
            <a:lvl1pPr algn="l" indent="0" marL="0">
              <a:buNone/>
              <a:defRPr lang="en-US" sz="3400" b="1" dirty="0">
                <a:solidFill>
                  <a:schemeClr val="tx2"/>
                </a:solidFill>
                <a:latin typeface="+mj-lt" pitchFamily="34" charset="0"/>
                <a:ea typeface="+mj-lt" pitchFamily="34" charset="-122"/>
                <a:cs typeface="+mj-lt" pitchFamily="34" charset="-120"/>
              </a:defRPr>
            </a:lvl1pPr>
          </a:lstStyle>
          <a:p>
            <a:pPr algn="l" indent="0" marL="0">
              <a:buNone/>
            </a:pPr>
            <a:r>
              <a:rPr lang="en-US" sz="3400" b="1" dirty="0">
                <a:solidFill>
                  <a:schemeClr val="tx2"/>
                </a:solidFill>
                <a:latin typeface="+mj-lt" pitchFamily="34" charset="0"/>
                <a:ea typeface="+mj-lt" pitchFamily="34" charset="-122"/>
                <a:cs typeface="+mj-lt" pitchFamily="34" charset="-120"/>
              </a:rPr>
              <a:t>Title</a:t>
            </a:r>
            <a:endParaRPr lang="en-US" sz="34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3.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3.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3.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3.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3.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3.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image" Target="../media/image-15-7.png"/><Relationship Id="rId8" Type="http://schemas.openxmlformats.org/officeDocument/2006/relationships/image" Target="../media/image-15-8.png"/><Relationship Id="rId9" Type="http://schemas.openxmlformats.org/officeDocument/2006/relationships/slideLayout" Target="../slideLayouts/slideLayout3.xml"/><Relationship Id="rId10"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1463040"/>
          </a:xfrm>
          <a:prstGeom prst="rect">
            <a:avLst/>
          </a:prstGeom>
          <a:noFill/>
          <a:ln/>
        </p:spPr>
        <p:txBody>
          <a:bodyPr wrap="square" lIns="0" tIns="0" rIns="0" bIns="0" rtlCol="0" anchor="b"/>
          <a:lstStyle/>
          <a:p>
            <a:pPr algn="l" indent="0" marL="0">
              <a:buNone/>
            </a:pPr>
            <a:r>
              <a:rPr lang="en-US" sz="4400" b="1" dirty="0">
                <a:solidFill>
                  <a:schemeClr val="bg1"/>
                </a:solidFill>
                <a:latin typeface="+mj-lt" pitchFamily="34" charset="0"/>
                <a:ea typeface="+mj-lt" pitchFamily="34" charset="-122"/>
                <a:cs typeface="+mj-lt" pitchFamily="34" charset="-120"/>
              </a:rPr>
              <a:t>Stage-1 Calibration: Procurement and Build</a:t>
            </a:r>
            <a:endParaRPr lang="en-US" sz="4400" dirty="0"/>
          </a:p>
        </p:txBody>
      </p:sp>
      <p:sp>
        <p:nvSpPr>
          <p:cNvPr id="3" name="Text 0"/>
          <p:cNvSpPr/>
          <p:nvPr>
            <p:ph idx="101" type="body" hasCustomPrompt="1"/>
          </p:nvPr>
        </p:nvSpPr>
        <p:spPr>
          <a:xfrm>
            <a:off x="457200" y="2103120"/>
            <a:ext cx="8229600" cy="822960"/>
          </a:xfrm>
          <a:prstGeom prst="rect">
            <a:avLst/>
          </a:prstGeom>
          <a:noFill/>
          <a:ln/>
        </p:spPr>
        <p:txBody>
          <a:bodyPr wrap="square" lIns="0" tIns="0" rIns="0" bIns="0" rtlCol="0" anchor="t"/>
          <a:lstStyle/>
          <a:p>
            <a:pPr algn="l" indent="0" marL="0">
              <a:buNone/>
            </a:pPr>
            <a:r>
              <a:rPr lang="en-US" sz="2200" dirty="0">
                <a:solidFill>
                  <a:schemeClr val="accent6"/>
                </a:solidFill>
              </a:rPr>
              <a:t>The sphere, board and fixtures needed for the depth-sensor calibration captures</a:t>
            </a:r>
            <a:endParaRPr lang="en-US" sz="2200" dirty="0"/>
          </a:p>
        </p:txBody>
      </p:sp>
      <p:sp>
        <p:nvSpPr>
          <p:cNvPr id="4" name="Text 0"/>
          <p:cNvSpPr/>
          <p:nvPr>
            <p:ph idx="102" type="body" hasCustomPrompt="1"/>
          </p:nvPr>
        </p:nvSpPr>
        <p:spPr>
          <a:xfrm>
            <a:off x="457200" y="6035040"/>
            <a:ext cx="11277295" cy="365760"/>
          </a:xfrm>
          <a:prstGeom prst="rect">
            <a:avLst/>
          </a:prstGeom>
          <a:noFill/>
          <a:ln/>
        </p:spPr>
        <p:txBody>
          <a:bodyPr wrap="square" lIns="0" tIns="0" rIns="0" bIns="0" rtlCol="0" anchor="b"/>
          <a:lstStyle/>
          <a:p>
            <a:pPr algn="l" indent="0" marL="0">
              <a:buNone/>
            </a:pPr>
            <a:r>
              <a:rPr lang="en-US" sz="1400" dirty="0">
                <a:solidFill>
                  <a:schemeClr val="accent6"/>
                </a:solidFill>
              </a:rPr>
              <a:t>Procurement and mechanical build  ·  October 2026</a:t>
            </a:r>
            <a:endParaRPr lang="en-US" sz="1400" dirty="0"/>
          </a:p>
        </p:txBody>
      </p:sp>
      <p:sp>
        <p:nvSpPr>
          <p:cNvPr id="5" name="Graphic sphere B"/>
          <p:cNvSpPr/>
          <p:nvPr/>
        </p:nvSpPr>
        <p:spPr>
          <a:xfrm>
            <a:off x="457200" y="3291840"/>
            <a:ext cx="2468880" cy="2468880"/>
          </a:xfrm>
          <a:prstGeom prst="ellipse">
            <a:avLst/>
          </a:prstGeom>
          <a:solidFill>
            <a:schemeClr val="accent2"/>
          </a:solidFill>
          <a:ln w="25400">
            <a:solidFill>
              <a:schemeClr val="accent6"/>
            </a:solidFill>
            <a:prstDash val="solid"/>
          </a:ln>
        </p:spPr>
      </p:sp>
      <p:sp>
        <p:nvSpPr>
          <p:cNvPr id="6" name="Graphic sphere B cross horizontal"/>
          <p:cNvSpPr/>
          <p:nvPr/>
        </p:nvSpPr>
        <p:spPr>
          <a:xfrm>
            <a:off x="1485900" y="4503420"/>
            <a:ext cx="411480" cy="45720"/>
          </a:xfrm>
          <a:prstGeom prst="rect">
            <a:avLst/>
          </a:prstGeom>
          <a:solidFill>
            <a:schemeClr val="bg1"/>
          </a:solidFill>
          <a:ln/>
        </p:spPr>
      </p:sp>
      <p:sp>
        <p:nvSpPr>
          <p:cNvPr id="7" name="Graphic sphere B cross vertical"/>
          <p:cNvSpPr/>
          <p:nvPr/>
        </p:nvSpPr>
        <p:spPr>
          <a:xfrm>
            <a:off x="1668780" y="4320540"/>
            <a:ext cx="45720" cy="411480"/>
          </a:xfrm>
          <a:prstGeom prst="rect">
            <a:avLst/>
          </a:prstGeom>
          <a:solidFill>
            <a:schemeClr val="bg1"/>
          </a:solidFill>
          <a:ln/>
        </p:spPr>
      </p:sp>
      <p:sp>
        <p:nvSpPr>
          <p:cNvPr id="8" name="Graphic board"/>
          <p:cNvSpPr/>
          <p:nvPr/>
        </p:nvSpPr>
        <p:spPr>
          <a:xfrm>
            <a:off x="3200400" y="4389120"/>
            <a:ext cx="1920240" cy="1371600"/>
          </a:xfrm>
          <a:prstGeom prst="roundRect">
            <a:avLst>
              <a:gd name="adj" fmla="val 6667"/>
            </a:avLst>
          </a:prstGeom>
          <a:solidFill>
            <a:schemeClr val="accent6"/>
          </a:solidFill>
          <a:ln w="25400">
            <a:solidFill>
              <a:schemeClr val="accent3"/>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One sphere and a board carry the known geometry</a:t>
            </a:r>
            <a:endParaRPr lang="en-US" sz="3400" dirty="0"/>
          </a:p>
        </p:txBody>
      </p:sp>
      <p:sp>
        <p:nvSpPr>
          <p:cNvPr id="3" name="Figure card"/>
          <p:cNvSpPr/>
          <p:nvPr/>
        </p:nvSpPr>
        <p:spPr>
          <a:xfrm>
            <a:off x="457200" y="1417320"/>
            <a:ext cx="6949440" cy="4709160"/>
          </a:xfrm>
          <a:prstGeom prst="roundRect">
            <a:avLst>
              <a:gd name="adj" fmla="val 2330"/>
            </a:avLst>
          </a:prstGeom>
          <a:solidFill>
            <a:schemeClr val="bg1"/>
          </a:solidFill>
          <a:ln w="12700">
            <a:solidFill>
              <a:schemeClr val="accent6"/>
            </a:solidFill>
            <a:prstDash val="solid"/>
          </a:ln>
        </p:spPr>
      </p:sp>
      <p:pic>
        <p:nvPicPr>
          <p:cNvPr id="4" name="Sphere on stem, side view" descr="Sphere on stem, side view">    </p:cNvPr>
          <p:cNvPicPr>
            <a:picLocks noChangeAspect="1"/>
          </p:cNvPicPr>
          <p:nvPr/>
        </p:nvPicPr>
        <p:blipFill>
          <a:blip r:embed="rId1"/>
          <a:stretch>
            <a:fillRect/>
          </a:stretch>
        </p:blipFill>
        <p:spPr>
          <a:xfrm>
            <a:off x="685800" y="2060124"/>
            <a:ext cx="6492240" cy="2783472"/>
          </a:xfrm>
          <a:prstGeom prst="rect">
            <a:avLst/>
          </a:prstGeom>
        </p:spPr>
      </p:pic>
      <p:sp>
        <p:nvSpPr>
          <p:cNvPr id="5" name="Figure caption"/>
          <p:cNvSpPr txBox="1"/>
          <p:nvPr/>
        </p:nvSpPr>
        <p:spPr>
          <a:xfrm>
            <a:off x="685800" y="5026476"/>
            <a:ext cx="6492240" cy="457200"/>
          </a:xfrm>
          <a:prstGeom prst="rect">
            <a:avLst/>
          </a:prstGeom>
          <a:noFill/>
          <a:ln/>
        </p:spPr>
        <p:txBody>
          <a:bodyPr wrap="square" lIns="0" tIns="0" rIns="0" bIns="0" rtlCol="0" anchor="t"/>
          <a:lstStyle/>
          <a:p>
            <a:pPr algn="l" indent="0" marL="0">
              <a:buNone/>
            </a:pPr>
            <a:r>
              <a:rPr lang="en-US" sz="1200" dirty="0">
                <a:solidFill>
                  <a:schemeClr val="accent5"/>
                </a:solidFill>
              </a:rPr>
              <a:t>Sphere on its stem, side view: the stem points away from the sensor so that the sphere hides it.</a:t>
            </a:r>
            <a:endParaRPr lang="en-US" sz="1200" dirty="0"/>
          </a:p>
        </p:txBody>
      </p:sp>
      <p:sp>
        <p:nvSpPr>
          <p:cNvPr id="6" name="Fixture 1 card"/>
          <p:cNvSpPr/>
          <p:nvPr/>
        </p:nvSpPr>
        <p:spPr>
          <a:xfrm>
            <a:off x="7680960" y="1417320"/>
            <a:ext cx="4053535" cy="1386840"/>
          </a:xfrm>
          <a:prstGeom prst="roundRect">
            <a:avLst>
              <a:gd name="adj" fmla="val 7912"/>
            </a:avLst>
          </a:prstGeom>
          <a:solidFill>
            <a:schemeClr val="bg2"/>
          </a:solidFill>
          <a:ln/>
        </p:spPr>
      </p:sp>
      <p:sp>
        <p:nvSpPr>
          <p:cNvPr id="7" name="Fixture 1 icon circle"/>
          <p:cNvSpPr/>
          <p:nvPr/>
        </p:nvSpPr>
        <p:spPr>
          <a:xfrm>
            <a:off x="7909560" y="1790700"/>
            <a:ext cx="640080" cy="640080"/>
          </a:xfrm>
          <a:prstGeom prst="ellipse">
            <a:avLst/>
          </a:prstGeom>
          <a:solidFill>
            <a:schemeClr val="accent2"/>
          </a:solidFill>
          <a:ln/>
        </p:spPr>
      </p:sp>
      <p:pic>
        <p:nvPicPr>
          <p:cNvPr id="8" name="Fixture 1 icon glyph" descr="circle icon">    </p:cNvPr>
          <p:cNvPicPr>
            <a:picLocks noChangeAspect="1"/>
          </p:cNvPicPr>
          <p:nvPr/>
        </p:nvPicPr>
        <p:blipFill>
          <a:blip r:embed="rId2"/>
          <a:stretch>
            <a:fillRect/>
          </a:stretch>
        </p:blipFill>
        <p:spPr>
          <a:xfrm>
            <a:off x="8069580" y="1950720"/>
            <a:ext cx="320040" cy="320040"/>
          </a:xfrm>
          <a:prstGeom prst="rect">
            <a:avLst/>
          </a:prstGeom>
        </p:spPr>
      </p:pic>
      <p:sp>
        <p:nvSpPr>
          <p:cNvPr id="9" name="Fixture 1 text"/>
          <p:cNvSpPr txBox="1"/>
          <p:nvPr/>
        </p:nvSpPr>
        <p:spPr>
          <a:xfrm>
            <a:off x="8732520" y="1645920"/>
            <a:ext cx="2773375" cy="929640"/>
          </a:xfrm>
          <a:prstGeom prst="rect">
            <a:avLst/>
          </a:prstGeom>
          <a:noFill/>
          <a:ln/>
        </p:spPr>
        <p:txBody>
          <a:bodyPr wrap="square" lIns="0" tIns="0" rIns="0" bIns="0" rtlCol="0" anchor="ctr"/>
          <a:lstStyle/>
          <a:p>
            <a:pPr algn="l" indent="0" marL="0">
              <a:buNone/>
            </a:pPr>
            <a:r>
              <a:rPr lang="en-US" sz="1800" b="1" dirty="0">
                <a:solidFill>
                  <a:schemeClr val="tx2"/>
                </a:solidFill>
              </a:rPr>
              <a:t>Sphere B</a:t>
            </a:r>
            <a:endParaRPr lang="en-US" sz="1600" dirty="0"/>
          </a:p>
          <a:p>
            <a:pPr algn="l" indent="0" marL="0">
              <a:buNone/>
            </a:pPr>
            <a:r>
              <a:rPr lang="en-US" sz="1400" dirty="0">
                <a:solidFill>
                  <a:schemeClr val="tx1"/>
                </a:solidFill>
              </a:rPr>
              <a:t>152.4 mm diameter, turned aluminum, matte; the only sphere</a:t>
            </a:r>
            <a:endParaRPr lang="en-US" sz="1600" dirty="0"/>
          </a:p>
        </p:txBody>
      </p:sp>
      <p:sp>
        <p:nvSpPr>
          <p:cNvPr id="10" name="Fixture 2 card"/>
          <p:cNvSpPr/>
          <p:nvPr/>
        </p:nvSpPr>
        <p:spPr>
          <a:xfrm>
            <a:off x="7680960" y="3078480"/>
            <a:ext cx="4053535" cy="1386840"/>
          </a:xfrm>
          <a:prstGeom prst="roundRect">
            <a:avLst>
              <a:gd name="adj" fmla="val 7912"/>
            </a:avLst>
          </a:prstGeom>
          <a:solidFill>
            <a:schemeClr val="bg2"/>
          </a:solidFill>
          <a:ln/>
        </p:spPr>
      </p:sp>
      <p:sp>
        <p:nvSpPr>
          <p:cNvPr id="11" name="Fixture 2 icon circle"/>
          <p:cNvSpPr/>
          <p:nvPr/>
        </p:nvSpPr>
        <p:spPr>
          <a:xfrm>
            <a:off x="7909560" y="3451860"/>
            <a:ext cx="640080" cy="640080"/>
          </a:xfrm>
          <a:prstGeom prst="ellipse">
            <a:avLst/>
          </a:prstGeom>
          <a:solidFill>
            <a:schemeClr val="accent2"/>
          </a:solidFill>
          <a:ln/>
        </p:spPr>
      </p:sp>
      <p:pic>
        <p:nvPicPr>
          <p:cNvPr id="12" name="Fixture 2 icon glyph" descr="circle icon">    </p:cNvPr>
          <p:cNvPicPr>
            <a:picLocks noChangeAspect="1"/>
          </p:cNvPicPr>
          <p:nvPr/>
        </p:nvPicPr>
        <p:blipFill>
          <a:blip r:embed="rId3"/>
          <a:stretch>
            <a:fillRect/>
          </a:stretch>
        </p:blipFill>
        <p:spPr>
          <a:xfrm>
            <a:off x="8069580" y="3611880"/>
            <a:ext cx="320040" cy="320040"/>
          </a:xfrm>
          <a:prstGeom prst="rect">
            <a:avLst/>
          </a:prstGeom>
        </p:spPr>
      </p:pic>
      <p:sp>
        <p:nvSpPr>
          <p:cNvPr id="13" name="Fixture 2 text"/>
          <p:cNvSpPr txBox="1"/>
          <p:nvPr/>
        </p:nvSpPr>
        <p:spPr>
          <a:xfrm>
            <a:off x="8732520" y="3307080"/>
            <a:ext cx="2773375" cy="929640"/>
          </a:xfrm>
          <a:prstGeom prst="rect">
            <a:avLst/>
          </a:prstGeom>
          <a:noFill/>
          <a:ln/>
        </p:spPr>
        <p:txBody>
          <a:bodyPr wrap="square" lIns="0" tIns="0" rIns="0" bIns="0" rtlCol="0" anchor="ctr"/>
          <a:lstStyle/>
          <a:p>
            <a:pPr algn="l" indent="0" marL="0">
              <a:buNone/>
            </a:pPr>
            <a:r>
              <a:rPr lang="en-US" sz="1800" b="1" dirty="0">
                <a:solidFill>
                  <a:schemeClr val="tx2"/>
                </a:solidFill>
              </a:rPr>
              <a:t>Curvature sweep</a:t>
            </a:r>
            <a:endParaRPr lang="en-US" sz="1600" dirty="0"/>
          </a:p>
          <a:p>
            <a:pPr algn="l" indent="0" marL="0">
              <a:buNone/>
            </a:pPr>
            <a:r>
              <a:rPr lang="en-US" sz="1400" dirty="0">
                <a:solidFill>
                  <a:schemeClr val="tx1"/>
                </a:solidFill>
              </a:rPr>
              <a:t>Nine stations from 300 to 1,100 mm, each about 1.19 times farther than the last</a:t>
            </a:r>
            <a:endParaRPr lang="en-US" sz="1600" dirty="0"/>
          </a:p>
        </p:txBody>
      </p:sp>
      <p:sp>
        <p:nvSpPr>
          <p:cNvPr id="14" name="Fixture 3 card"/>
          <p:cNvSpPr/>
          <p:nvPr/>
        </p:nvSpPr>
        <p:spPr>
          <a:xfrm>
            <a:off x="7680960" y="4739640"/>
            <a:ext cx="4053535" cy="1386840"/>
          </a:xfrm>
          <a:prstGeom prst="roundRect">
            <a:avLst>
              <a:gd name="adj" fmla="val 7912"/>
            </a:avLst>
          </a:prstGeom>
          <a:solidFill>
            <a:schemeClr val="bg2"/>
          </a:solidFill>
          <a:ln/>
        </p:spPr>
      </p:sp>
      <p:sp>
        <p:nvSpPr>
          <p:cNvPr id="15" name="Fixture 3 icon circle"/>
          <p:cNvSpPr/>
          <p:nvPr/>
        </p:nvSpPr>
        <p:spPr>
          <a:xfrm>
            <a:off x="7909560" y="5113020"/>
            <a:ext cx="640080" cy="640080"/>
          </a:xfrm>
          <a:prstGeom prst="ellipse">
            <a:avLst/>
          </a:prstGeom>
          <a:solidFill>
            <a:schemeClr val="accent2"/>
          </a:solidFill>
          <a:ln/>
        </p:spPr>
      </p:sp>
      <p:pic>
        <p:nvPicPr>
          <p:cNvPr id="16" name="Fixture 3 icon glyph" descr="board icon">    </p:cNvPr>
          <p:cNvPicPr>
            <a:picLocks noChangeAspect="1"/>
          </p:cNvPicPr>
          <p:nvPr/>
        </p:nvPicPr>
        <p:blipFill>
          <a:blip r:embed="rId4"/>
          <a:stretch>
            <a:fillRect/>
          </a:stretch>
        </p:blipFill>
        <p:spPr>
          <a:xfrm>
            <a:off x="8069580" y="5273040"/>
            <a:ext cx="320040" cy="320040"/>
          </a:xfrm>
          <a:prstGeom prst="rect">
            <a:avLst/>
          </a:prstGeom>
        </p:spPr>
      </p:pic>
      <p:sp>
        <p:nvSpPr>
          <p:cNvPr id="17" name="Fixture 3 text"/>
          <p:cNvSpPr txBox="1"/>
          <p:nvPr/>
        </p:nvSpPr>
        <p:spPr>
          <a:xfrm>
            <a:off x="8732520" y="4968240"/>
            <a:ext cx="2773375" cy="929640"/>
          </a:xfrm>
          <a:prstGeom prst="rect">
            <a:avLst/>
          </a:prstGeom>
          <a:noFill/>
          <a:ln/>
        </p:spPr>
        <p:txBody>
          <a:bodyPr wrap="square" lIns="0" tIns="0" rIns="0" bIns="0" rtlCol="0" anchor="ctr"/>
          <a:lstStyle/>
          <a:p>
            <a:pPr algn="l" indent="0" marL="0">
              <a:buNone/>
            </a:pPr>
            <a:r>
              <a:rPr lang="en-US" sz="1800" b="1" dirty="0">
                <a:solidFill>
                  <a:schemeClr val="tx2"/>
                </a:solidFill>
              </a:rPr>
              <a:t>Board</a:t>
            </a:r>
            <a:endParaRPr lang="en-US" sz="1600" dirty="0"/>
          </a:p>
          <a:p>
            <a:pPr algn="l" indent="0" marL="0">
              <a:buNone/>
            </a:pPr>
            <a:r>
              <a:rPr lang="en-US" sz="1400" dirty="0">
                <a:solidFill>
                  <a:schemeClr val="tx1"/>
                </a:solidFill>
              </a:rPr>
              <a:t>200 x 150 mm, at least 6 mm thick, flat to 0.05 mm after painting; tilted 0, 20 and 40 degrees</a:t>
            </a:r>
            <a:endParaRPr lang="en-US" sz="16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What must be built</a:t>
            </a:r>
            <a:endParaRPr lang="en-US" sz="3400" dirty="0"/>
          </a:p>
        </p:txBody>
      </p:sp>
      <p:graphicFrame>
        <p:nvGraphicFramePr>
          <p:cNvPr id="4" name="Build list table"/>
          <p:cNvGraphicFramePr>
            <a:graphicFrameLocks noGrp="1"/>
          </p:cNvGraphicFramePr>
          <p:nvPr>
            <p:extLst>
              <p:ext uri="{D42A27DB-BD31-4B8C-83A1-F6EECF244321}">
                <p14:modId xmlns:p14="http://schemas.microsoft.com/office/powerpoint/2010/main" val="1579011935"/>
              </p:ext>
            </p:extLst>
          </p:nvPr>
        </p:nvGraphicFramePr>
        <p:xfrm>
          <a:off x="457200" y="1417320"/>
          <a:ext cx="8229600" cy="914400"/>
        </p:xfrm>
        <a:graphic>
          <a:graphicData uri="http://schemas.openxmlformats.org/drawingml/2006/table">
            <a:tbl>
              <a:tblPr/>
              <a:tblGrid>
                <a:gridCol w="4754880"/>
                <a:gridCol w="1097280"/>
                <a:gridCol w="2377440"/>
              </a:tblGrid>
              <a:tr h="457200">
                <a:tc>
                  <a:txBody>
                    <a:bodyPr/>
                    <a:lstStyle/>
                    <a:p>
                      <a:pPr algn="l" indent="0" marL="0">
                        <a:buNone/>
                      </a:pPr>
                      <a:r>
                        <a:rPr lang="en-US" sz="1400" b="1" dirty="0">
                          <a:solidFill>
                            <a:schemeClr val="bg1"/>
                          </a:solidFill>
                        </a:rPr>
                        <a:t>Item</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2"/>
                    </a:solidFill>
                  </a:tcPr>
                </a:tc>
                <a:tc>
                  <a:txBody>
                    <a:bodyPr/>
                    <a:lstStyle/>
                    <a:p>
                      <a:pPr algn="l" indent="0" marL="0">
                        <a:buNone/>
                      </a:pPr>
                      <a:r>
                        <a:rPr lang="en-US" sz="1400" b="1" dirty="0">
                          <a:solidFill>
                            <a:schemeClr val="bg1"/>
                          </a:solidFill>
                        </a:rPr>
                        <a:t>Quantity</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2"/>
                    </a:solidFill>
                  </a:tcPr>
                </a:tc>
                <a:tc>
                  <a:txBody>
                    <a:bodyPr/>
                    <a:lstStyle/>
                    <a:p>
                      <a:pPr algn="l" indent="0" marL="0">
                        <a:buNone/>
                      </a:pPr>
                      <a:r>
                        <a:rPr lang="en-US" sz="1400" b="1" dirty="0">
                          <a:solidFill>
                            <a:schemeClr val="bg1"/>
                          </a:solidFill>
                        </a:rPr>
                        <a:t>Drawing</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2"/>
                    </a:solidFill>
                  </a:tcPr>
                </a:tc>
              </a:tr>
              <a:tr h="529046">
                <a:tc>
                  <a:txBody>
                    <a:bodyPr/>
                    <a:lstStyle/>
                    <a:p>
                      <a:pPr algn="l" indent="0" marL="0">
                        <a:buNone/>
                      </a:pPr>
                      <a:r>
                        <a:rPr lang="en-US" sz="1400" dirty="0">
                          <a:solidFill>
                            <a:schemeClr val="tx1"/>
                          </a:solidFill>
                        </a:rPr>
                        <a:t>Sphere B with mounting interface</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1</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SC1-04 (interface detail)</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r h="529046">
                <a:tc>
                  <a:txBody>
                    <a:bodyPr/>
                    <a:lstStyle/>
                    <a:p>
                      <a:pPr algn="l" indent="0" marL="0">
                        <a:buNone/>
                      </a:pPr>
                      <a:r>
                        <a:rPr lang="en-US" sz="1400" dirty="0">
                          <a:solidFill>
                            <a:schemeClr val="tx1"/>
                          </a:solidFill>
                        </a:rPr>
                        <a:t>Sphere-flange mount: adapter plate and stem</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1 + 1</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SC1-02, SC1-04</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r>
              <a:tr h="529046">
                <a:tc>
                  <a:txBody>
                    <a:bodyPr/>
                    <a:lstStyle/>
                    <a:p>
                      <a:pPr algn="l" indent="0" marL="0">
                        <a:buNone/>
                      </a:pPr>
                      <a:r>
                        <a:rPr lang="en-US" sz="1400" dirty="0">
                          <a:solidFill>
                            <a:schemeClr val="tx1"/>
                          </a:solidFill>
                        </a:rPr>
                        <a:t>Flat target (board)</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1</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SC1-05 (outline)</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r h="529046">
                <a:tc>
                  <a:txBody>
                    <a:bodyPr/>
                    <a:lstStyle/>
                    <a:p>
                      <a:pPr algn="l" indent="0" marL="0">
                        <a:buNone/>
                      </a:pPr>
                      <a:r>
                        <a:rPr lang="en-US" sz="1400" dirty="0">
                          <a:solidFill>
                            <a:schemeClr val="tx1"/>
                          </a:solidFill>
                        </a:rPr>
                        <a:t>Flat-target mount (board adapter)</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1</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SC1-05</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r>
              <a:tr h="529046">
                <a:tc>
                  <a:txBody>
                    <a:bodyPr/>
                    <a:lstStyle/>
                    <a:p>
                      <a:pPr algn="l" indent="0" marL="0">
                        <a:buNone/>
                      </a:pPr>
                      <a:r>
                        <a:rPr lang="en-US" sz="1400" dirty="0">
                          <a:solidFill>
                            <a:schemeClr val="tx1"/>
                          </a:solidFill>
                        </a:rPr>
                        <a:t>Three-ball bed (nest)</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1</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SC1-06</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r h="529046">
                <a:tc>
                  <a:txBody>
                    <a:bodyPr/>
                    <a:lstStyle/>
                    <a:p>
                      <a:pPr algn="l" indent="0" marL="0">
                        <a:buNone/>
                      </a:pPr>
                      <a:r>
                        <a:rPr lang="en-US" sz="1400" dirty="0">
                          <a:solidFill>
                            <a:schemeClr val="tx1"/>
                          </a:solidFill>
                        </a:rPr>
                        <a:t>Run-out fixture: dial indicator on a magnetic base and steel base plate</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1</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none needed</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r>
              <a:tr h="529046">
                <a:tc>
                  <a:txBody>
                    <a:bodyPr/>
                    <a:lstStyle/>
                    <a:p>
                      <a:pPr algn="l" indent="0" marL="0">
                        <a:buNone/>
                      </a:pPr>
                      <a:r>
                        <a:rPr lang="en-US" sz="1400" dirty="0">
                          <a:solidFill>
                            <a:schemeClr val="tx1"/>
                          </a:solidFill>
                        </a:rPr>
                        <a:t>Rigid sensor mount</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1</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existing drawing</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bl>
          </a:graphicData>
        </a:graphic>
      </p:graphicFrame>
      <p:sp>
        <p:nvSpPr>
          <p:cNvPr id="4" name="Visual card"/>
          <p:cNvSpPr/>
          <p:nvPr/>
        </p:nvSpPr>
        <p:spPr>
          <a:xfrm>
            <a:off x="8961120" y="1417320"/>
            <a:ext cx="2773375" cy="4160520"/>
          </a:xfrm>
          <a:prstGeom prst="roundRect">
            <a:avLst>
              <a:gd name="adj" fmla="val 3956"/>
            </a:avLst>
          </a:prstGeom>
          <a:solidFill>
            <a:schemeClr val="bg2"/>
          </a:solidFill>
          <a:ln/>
        </p:spPr>
      </p:sp>
      <p:sp>
        <p:nvSpPr>
          <p:cNvPr id="5" name="Toolbox icon circle"/>
          <p:cNvSpPr/>
          <p:nvPr/>
        </p:nvSpPr>
        <p:spPr>
          <a:xfrm>
            <a:off x="9616288" y="2766060"/>
            <a:ext cx="1463040" cy="1463040"/>
          </a:xfrm>
          <a:prstGeom prst="ellipse">
            <a:avLst/>
          </a:prstGeom>
          <a:solidFill>
            <a:schemeClr val="accent2"/>
          </a:solidFill>
          <a:ln/>
        </p:spPr>
      </p:sp>
      <p:pic>
        <p:nvPicPr>
          <p:cNvPr id="6" name="Toolbox icon glyph" descr="toolbox icon">    </p:cNvPr>
          <p:cNvPicPr>
            <a:picLocks noChangeAspect="1"/>
          </p:cNvPicPr>
          <p:nvPr/>
        </p:nvPicPr>
        <p:blipFill>
          <a:blip r:embed="rId1"/>
          <a:stretch>
            <a:fillRect/>
          </a:stretch>
        </p:blipFill>
        <p:spPr>
          <a:xfrm>
            <a:off x="9982048" y="3131820"/>
            <a:ext cx="731520" cy="731520"/>
          </a:xfrm>
          <a:prstGeom prst="rect">
            <a:avLst/>
          </a:prstGeom>
        </p:spPr>
      </p:pic>
      <p:sp>
        <p:nvSpPr>
          <p:cNvPr id="7" name="Build list caption"/>
          <p:cNvSpPr txBox="1"/>
          <p:nvPr/>
        </p:nvSpPr>
        <p:spPr>
          <a:xfrm>
            <a:off x="457200" y="5852160"/>
            <a:ext cx="11277295" cy="274320"/>
          </a:xfrm>
          <a:prstGeom prst="rect">
            <a:avLst/>
          </a:prstGeom>
          <a:noFill/>
          <a:ln/>
        </p:spPr>
        <p:txBody>
          <a:bodyPr wrap="square" lIns="0" tIns="0" rIns="0" bIns="0" rtlCol="0" anchor="b"/>
          <a:lstStyle/>
          <a:p>
            <a:pPr algn="l" indent="0" marL="0">
              <a:buNone/>
            </a:pPr>
            <a:r>
              <a:rPr lang="en-US" sz="1200" dirty="0">
                <a:solidFill>
                  <a:schemeClr val="accent5"/>
                </a:solidFill>
              </a:rPr>
              <a:t>Section 1b of the procedure; nothing outside sections 1a to 1f is needed for a session.</a:t>
            </a:r>
            <a:endParaRPr lang="en-US" sz="12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What must be bought</a:t>
            </a:r>
            <a:endParaRPr lang="en-US" sz="3400" dirty="0"/>
          </a:p>
        </p:txBody>
      </p:sp>
      <p:graphicFrame>
        <p:nvGraphicFramePr>
          <p:cNvPr id="5" name="Buy list table"/>
          <p:cNvGraphicFramePr>
            <a:graphicFrameLocks noGrp="1"/>
          </p:cNvGraphicFramePr>
          <p:nvPr>
            <p:extLst>
              <p:ext uri="{D42A27DB-BD31-4B8C-83A1-F6EECF244321}">
                <p14:modId xmlns:p14="http://schemas.microsoft.com/office/powerpoint/2010/main" val="1579011935"/>
              </p:ext>
            </p:extLst>
          </p:nvPr>
        </p:nvGraphicFramePr>
        <p:xfrm>
          <a:off x="457200" y="1417320"/>
          <a:ext cx="11277295" cy="914400"/>
        </p:xfrm>
        <a:graphic>
          <a:graphicData uri="http://schemas.openxmlformats.org/drawingml/2006/table">
            <a:tbl>
              <a:tblPr/>
              <a:tblGrid>
                <a:gridCol w="4297680"/>
                <a:gridCol w="5212080"/>
                <a:gridCol w="1767535"/>
              </a:tblGrid>
              <a:tr h="457200">
                <a:tc>
                  <a:txBody>
                    <a:bodyPr/>
                    <a:lstStyle/>
                    <a:p>
                      <a:pPr algn="l" indent="0" marL="0">
                        <a:buNone/>
                      </a:pPr>
                      <a:r>
                        <a:rPr lang="en-US" sz="1400" b="1" dirty="0">
                          <a:solidFill>
                            <a:schemeClr val="bg1"/>
                          </a:solidFill>
                        </a:rPr>
                        <a:t>Item</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2"/>
                    </a:solidFill>
                  </a:tcPr>
                </a:tc>
                <a:tc>
                  <a:txBody>
                    <a:bodyPr/>
                    <a:lstStyle/>
                    <a:p>
                      <a:pPr algn="l" indent="0" marL="0">
                        <a:buNone/>
                      </a:pPr>
                      <a:r>
                        <a:rPr lang="en-US" sz="1400" b="1" dirty="0">
                          <a:solidFill>
                            <a:schemeClr val="bg1"/>
                          </a:solidFill>
                        </a:rPr>
                        <a:t>Purpose</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2"/>
                    </a:solidFill>
                  </a:tcPr>
                </a:tc>
                <a:tc>
                  <a:txBody>
                    <a:bodyPr/>
                    <a:lstStyle/>
                    <a:p>
                      <a:pPr algn="r" indent="0" marL="0">
                        <a:buNone/>
                      </a:pPr>
                      <a:r>
                        <a:rPr lang="en-US" sz="1400" b="1" dirty="0">
                          <a:solidFill>
                            <a:schemeClr val="bg1"/>
                          </a:solidFill>
                        </a:rPr>
                        <a:t>Estimated cost (USD)</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2"/>
                    </a:solidFill>
                  </a:tcPr>
                </a:tc>
              </a:tr>
              <a:tr h="617220">
                <a:tc>
                  <a:txBody>
                    <a:bodyPr/>
                    <a:lstStyle/>
                    <a:p>
                      <a:pPr algn="l" indent="0" marL="0">
                        <a:buNone/>
                      </a:pPr>
                      <a:r>
                        <a:rPr lang="en-US" sz="1400" dirty="0">
                          <a:solidFill>
                            <a:schemeClr val="tx1"/>
                          </a:solidFill>
                        </a:rPr>
                        <a:t>Outside micrometer 150-175 mm, with setting standard</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Sphere diameter and sphericity, in-house</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r" indent="0" marL="0">
                        <a:buNone/>
                      </a:pPr>
                      <a:r>
                        <a:rPr lang="en-US" sz="1400" b="1" dirty="0">
                          <a:solidFill>
                            <a:schemeClr val="tx1"/>
                          </a:solidFill>
                        </a:rPr>
                        <a:t>$235 to $300</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r h="617220">
                <a:tc>
                  <a:txBody>
                    <a:bodyPr/>
                    <a:lstStyle/>
                    <a:p>
                      <a:pPr algn="l" indent="0" marL="0">
                        <a:buNone/>
                      </a:pPr>
                      <a:r>
                        <a:rPr lang="en-US" sz="1400" dirty="0">
                          <a:solidFill>
                            <a:schemeClr val="tx1"/>
                          </a:solidFill>
                        </a:rPr>
                        <a:t>Calipers with depth rod, 150 mm</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Rough TCP length; board distance D; board size</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r" indent="0" marL="0">
                        <a:buNone/>
                      </a:pPr>
                      <a:r>
                        <a:rPr lang="en-US" sz="1400" b="1" dirty="0">
                          <a:solidFill>
                            <a:schemeClr val="tx1"/>
                          </a:solidFill>
                        </a:rPr>
                        <a:t>$30 to $150</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r>
              <a:tr h="617220">
                <a:tc>
                  <a:txBody>
                    <a:bodyPr/>
                    <a:lstStyle/>
                    <a:p>
                      <a:pPr algn="l" indent="0" marL="0">
                        <a:buNone/>
                      </a:pPr>
                      <a:r>
                        <a:rPr lang="en-US" sz="1400" dirty="0">
                          <a:solidFill>
                            <a:schemeClr val="tx1"/>
                          </a:solidFill>
                        </a:rPr>
                        <a:t>Straightedge 300 mm and feeler gauges</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Board flatness</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r" indent="0" marL="0">
                        <a:buNone/>
                      </a:pPr>
                      <a:r>
                        <a:rPr lang="en-US" sz="1400" b="1" dirty="0">
                          <a:solidFill>
                            <a:schemeClr val="tx1"/>
                          </a:solidFill>
                        </a:rPr>
                        <a:t>$75 to $240</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r h="617220">
                <a:tc>
                  <a:txBody>
                    <a:bodyPr/>
                    <a:lstStyle/>
                    <a:p>
                      <a:pPr algn="l" indent="0" marL="0">
                        <a:buNone/>
                      </a:pPr>
                      <a:r>
                        <a:rPr lang="en-US" sz="1400" dirty="0">
                          <a:solidFill>
                            <a:schemeClr val="tx1"/>
                          </a:solidFill>
                        </a:rPr>
                        <a:t>Thermometer</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Room temperature at measurement</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r" indent="0" marL="0">
                        <a:buNone/>
                      </a:pPr>
                      <a:r>
                        <a:rPr lang="en-US" sz="1400" b="1" dirty="0">
                          <a:solidFill>
                            <a:schemeClr val="tx1"/>
                          </a:solidFill>
                        </a:rPr>
                        <a:t>$15 to $40</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r>
              <a:tr h="617220">
                <a:tc>
                  <a:txBody>
                    <a:bodyPr/>
                    <a:lstStyle/>
                    <a:p>
                      <a:pPr algn="l" indent="0" marL="0">
                        <a:buNone/>
                      </a:pPr>
                      <a:r>
                        <a:rPr lang="en-US" sz="1400" dirty="0">
                          <a:solidFill>
                            <a:schemeClr val="tx1"/>
                          </a:solidFill>
                        </a:rPr>
                        <a:t>Torque wrench</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Recorded stem and adapter torques</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r" indent="0" marL="0">
                        <a:buNone/>
                      </a:pPr>
                      <a:r>
                        <a:rPr lang="en-US" sz="1400" b="1" dirty="0">
                          <a:solidFill>
                            <a:schemeClr val="tx1"/>
                          </a:solidFill>
                        </a:rPr>
                        <a:t>$80 to $250</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r h="617220">
                <a:tc>
                  <a:txBody>
                    <a:bodyPr/>
                    <a:lstStyle/>
                    <a:p>
                      <a:pPr algn="l" indent="0" marL="0">
                        <a:buNone/>
                      </a:pPr>
                      <a:r>
                        <a:rPr lang="en-US" sz="1400" dirty="0">
                          <a:solidFill>
                            <a:schemeClr val="tx1"/>
                          </a:solidFill>
                        </a:rPr>
                        <a:t>Consumables</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Thread locker, retaining compound, shims, alcohol, padded case</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r" indent="0" marL="0">
                        <a:buNone/>
                      </a:pPr>
                      <a:r>
                        <a:rPr lang="en-US" sz="1400" b="1" dirty="0">
                          <a:solidFill>
                            <a:schemeClr val="tx1"/>
                          </a:solidFill>
                        </a:rPr>
                        <a:t>$50 to $150</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r>
            </a:tbl>
          </a:graphicData>
        </a:graphic>
      </p:graphicFrame>
      <p:sp>
        <p:nvSpPr>
          <p:cNvPr id="4" name="Buy list caption"/>
          <p:cNvSpPr txBox="1"/>
          <p:nvPr/>
        </p:nvSpPr>
        <p:spPr>
          <a:xfrm>
            <a:off x="457200" y="5852160"/>
            <a:ext cx="11277295" cy="274320"/>
          </a:xfrm>
          <a:prstGeom prst="rect">
            <a:avLst/>
          </a:prstGeom>
          <a:noFill/>
          <a:ln/>
        </p:spPr>
        <p:txBody>
          <a:bodyPr wrap="square" lIns="0" tIns="0" rIns="0" bIns="0" rtlCol="0" anchor="b"/>
          <a:lstStyle/>
          <a:p>
            <a:pPr algn="l" indent="0" marL="0">
              <a:buNone/>
            </a:pPr>
            <a:r>
              <a:rPr lang="en-US" sz="1200" dirty="0">
                <a:solidFill>
                  <a:schemeClr val="accent5"/>
                </a:solidFill>
              </a:rPr>
              <a:t>A phone camera is enough for the setup photos. Already in hand: sensor, robot, capture computer with its communication software, analysis computer.</a:t>
            </a:r>
            <a:endParaRPr lang="en-US" sz="12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Building and buying cost about $1,875 to $5,150</a:t>
            </a:r>
            <a:endParaRPr lang="en-US" sz="3400" dirty="0"/>
          </a:p>
        </p:txBody>
      </p:sp>
      <p:graphicFrame>
        <p:nvGraphicFramePr>
          <p:cNvPr id="6" name="Cost table"/>
          <p:cNvGraphicFramePr>
            <a:graphicFrameLocks noGrp="1"/>
          </p:cNvGraphicFramePr>
          <p:nvPr>
            <p:extLst>
              <p:ext uri="{D42A27DB-BD31-4B8C-83A1-F6EECF244321}">
                <p14:modId xmlns:p14="http://schemas.microsoft.com/office/powerpoint/2010/main" val="1579011935"/>
              </p:ext>
            </p:extLst>
          </p:nvPr>
        </p:nvGraphicFramePr>
        <p:xfrm>
          <a:off x="457200" y="1417320"/>
          <a:ext cx="7223760" cy="914400"/>
        </p:xfrm>
        <a:graphic>
          <a:graphicData uri="http://schemas.openxmlformats.org/drawingml/2006/table">
            <a:tbl>
              <a:tblPr/>
              <a:tblGrid>
                <a:gridCol w="5120640"/>
                <a:gridCol w="2103120"/>
              </a:tblGrid>
              <a:tr h="457200">
                <a:tc>
                  <a:txBody>
                    <a:bodyPr/>
                    <a:lstStyle/>
                    <a:p>
                      <a:pPr algn="l" indent="0" marL="0">
                        <a:buNone/>
                      </a:pPr>
                      <a:r>
                        <a:rPr lang="en-US" sz="1400" b="1" dirty="0">
                          <a:solidFill>
                            <a:schemeClr val="bg1"/>
                          </a:solidFill>
                        </a:rPr>
                        <a:t>Item to build</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2"/>
                    </a:solidFill>
                  </a:tcPr>
                </a:tc>
                <a:tc>
                  <a:txBody>
                    <a:bodyPr/>
                    <a:lstStyle/>
                    <a:p>
                      <a:pPr algn="r" indent="0" marL="0">
                        <a:buNone/>
                      </a:pPr>
                      <a:r>
                        <a:rPr lang="en-US" sz="1400" b="1" dirty="0">
                          <a:solidFill>
                            <a:schemeClr val="bg1"/>
                          </a:solidFill>
                        </a:rPr>
                        <a:t>Estimated cost (USD)</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2"/>
                    </a:solidFill>
                  </a:tcPr>
                </a:tc>
              </a:tr>
              <a:tr h="529046">
                <a:tc>
                  <a:txBody>
                    <a:bodyPr/>
                    <a:lstStyle/>
                    <a:p>
                      <a:pPr algn="l" indent="0" marL="0">
                        <a:buNone/>
                      </a:pPr>
                      <a:r>
                        <a:rPr lang="en-US" sz="1400" dirty="0">
                          <a:solidFill>
                            <a:schemeClr val="tx1"/>
                          </a:solidFill>
                        </a:rPr>
                        <a:t>Sphere B with mounting interface</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r" indent="0" marL="0">
                        <a:buNone/>
                      </a:pPr>
                      <a:r>
                        <a:rPr lang="en-US" sz="1400" b="1" dirty="0">
                          <a:solidFill>
                            <a:schemeClr val="tx1"/>
                          </a:solidFill>
                        </a:rPr>
                        <a:t>$500 to $1,500</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r h="529046">
                <a:tc>
                  <a:txBody>
                    <a:bodyPr/>
                    <a:lstStyle/>
                    <a:p>
                      <a:pPr algn="l" indent="0" marL="0">
                        <a:buNone/>
                      </a:pPr>
                      <a:r>
                        <a:rPr lang="en-US" sz="1400" dirty="0">
                          <a:solidFill>
                            <a:schemeClr val="tx1"/>
                          </a:solidFill>
                        </a:rPr>
                        <a:t>Sphere-flange mount: adapter plate and stem</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r" indent="0" marL="0">
                        <a:buNone/>
                      </a:pPr>
                      <a:r>
                        <a:rPr lang="en-US" sz="1400" b="1" dirty="0">
                          <a:solidFill>
                            <a:schemeClr val="tx1"/>
                          </a:solidFill>
                        </a:rPr>
                        <a:t>$200 to $500</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r>
              <a:tr h="529046">
                <a:tc>
                  <a:txBody>
                    <a:bodyPr/>
                    <a:lstStyle/>
                    <a:p>
                      <a:pPr algn="l" indent="0" marL="0">
                        <a:buNone/>
                      </a:pPr>
                      <a:r>
                        <a:rPr lang="en-US" sz="1400" dirty="0">
                          <a:solidFill>
                            <a:schemeClr val="tx1"/>
                          </a:solidFill>
                        </a:rPr>
                        <a:t>Flat target (board)</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r" indent="0" marL="0">
                        <a:buNone/>
                      </a:pPr>
                      <a:r>
                        <a:rPr lang="en-US" sz="1400" b="1" dirty="0">
                          <a:solidFill>
                            <a:schemeClr val="tx1"/>
                          </a:solidFill>
                        </a:rPr>
                        <a:t>$50 to $400</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r h="529046">
                <a:tc>
                  <a:txBody>
                    <a:bodyPr/>
                    <a:lstStyle/>
                    <a:p>
                      <a:pPr algn="l" indent="0" marL="0">
                        <a:buNone/>
                      </a:pPr>
                      <a:r>
                        <a:rPr lang="en-US" sz="1400" dirty="0">
                          <a:solidFill>
                            <a:schemeClr val="tx1"/>
                          </a:solidFill>
                        </a:rPr>
                        <a:t>Flat-target mount (board adapter)</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r" indent="0" marL="0">
                        <a:buNone/>
                      </a:pPr>
                      <a:r>
                        <a:rPr lang="en-US" sz="1400" b="1" dirty="0">
                          <a:solidFill>
                            <a:schemeClr val="tx1"/>
                          </a:solidFill>
                        </a:rPr>
                        <a:t>$250 to $600</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r>
              <a:tr h="529046">
                <a:tc>
                  <a:txBody>
                    <a:bodyPr/>
                    <a:lstStyle/>
                    <a:p>
                      <a:pPr algn="l" indent="0" marL="0">
                        <a:buNone/>
                      </a:pPr>
                      <a:r>
                        <a:rPr lang="en-US" sz="1400" dirty="0">
                          <a:solidFill>
                            <a:schemeClr val="tx1"/>
                          </a:solidFill>
                        </a:rPr>
                        <a:t>Three-ball bed (nest)</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r" indent="0" marL="0">
                        <a:buNone/>
                      </a:pPr>
                      <a:r>
                        <a:rPr lang="en-US" sz="1400" b="1" dirty="0">
                          <a:solidFill>
                            <a:schemeClr val="tx1"/>
                          </a:solidFill>
                        </a:rPr>
                        <a:t>$150 to $450</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r h="529046">
                <a:tc>
                  <a:txBody>
                    <a:bodyPr/>
                    <a:lstStyle/>
                    <a:p>
                      <a:pPr algn="l" indent="0" marL="0">
                        <a:buNone/>
                      </a:pPr>
                      <a:r>
                        <a:rPr lang="en-US" sz="1400" dirty="0">
                          <a:solidFill>
                            <a:schemeClr val="tx1"/>
                          </a:solidFill>
                        </a:rPr>
                        <a:t>Run-out fixture: dial indicator, magnetic base, steel base plate</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r" indent="0" marL="0">
                        <a:buNone/>
                      </a:pPr>
                      <a:r>
                        <a:rPr lang="en-US" sz="1400" b="1" dirty="0">
                          <a:solidFill>
                            <a:schemeClr val="tx1"/>
                          </a:solidFill>
                        </a:rPr>
                        <a:t>$240 to $570</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r>
              <a:tr h="529046">
                <a:tc>
                  <a:txBody>
                    <a:bodyPr/>
                    <a:lstStyle/>
                    <a:p>
                      <a:pPr algn="l" indent="0" marL="0">
                        <a:buNone/>
                      </a:pPr>
                      <a:r>
                        <a:rPr lang="en-US" sz="1400" dirty="0">
                          <a:solidFill>
                            <a:schemeClr val="tx1"/>
                          </a:solidFill>
                        </a:rPr>
                        <a:t>Rigid sensor mount</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r" indent="0" marL="0">
                        <a:buNone/>
                      </a:pPr>
                      <a:r>
                        <a:rPr lang="en-US" sz="1400" b="1" dirty="0">
                          <a:solidFill>
                            <a:schemeClr val="tx1"/>
                          </a:solidFill>
                        </a:rPr>
                        <a:t>not estimated</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bl>
          </a:graphicData>
        </a:graphic>
      </p:graphicFrame>
      <p:sp>
        <p:nvSpPr>
          <p:cNvPr id="4" name="Total 1 card"/>
          <p:cNvSpPr/>
          <p:nvPr/>
        </p:nvSpPr>
        <p:spPr>
          <a:xfrm>
            <a:off x="7955280" y="1417320"/>
            <a:ext cx="3779215" cy="1943100"/>
          </a:xfrm>
          <a:prstGeom prst="roundRect">
            <a:avLst>
              <a:gd name="adj" fmla="val 5647"/>
            </a:avLst>
          </a:prstGeom>
          <a:solidFill>
            <a:schemeClr val="bg2"/>
          </a:solidFill>
          <a:ln/>
        </p:spPr>
      </p:sp>
      <p:sp>
        <p:nvSpPr>
          <p:cNvPr id="5" name="Total 1 value"/>
          <p:cNvSpPr txBox="1"/>
          <p:nvPr/>
        </p:nvSpPr>
        <p:spPr>
          <a:xfrm>
            <a:off x="8183880" y="1840230"/>
            <a:ext cx="3322015" cy="548640"/>
          </a:xfrm>
          <a:prstGeom prst="rect">
            <a:avLst/>
          </a:prstGeom>
          <a:noFill/>
          <a:ln/>
        </p:spPr>
        <p:txBody>
          <a:bodyPr wrap="square" lIns="0" tIns="0" rIns="0" bIns="0" rtlCol="0" anchor="ctr"/>
          <a:lstStyle/>
          <a:p>
            <a:pPr algn="l" indent="0" marL="0">
              <a:buNone/>
            </a:pPr>
            <a:r>
              <a:rPr lang="en-US" sz="3200" b="1" dirty="0">
                <a:solidFill>
                  <a:schemeClr val="accent1"/>
                </a:solidFill>
                <a:latin typeface="+mj-lt" pitchFamily="34" charset="0"/>
                <a:ea typeface="+mj-lt" pitchFamily="34" charset="-122"/>
                <a:cs typeface="+mj-lt" pitchFamily="34" charset="-120"/>
              </a:rPr>
              <a:t>$1,875 to $5,150</a:t>
            </a:r>
            <a:endParaRPr lang="en-US" sz="3200" dirty="0"/>
          </a:p>
        </p:txBody>
      </p:sp>
      <p:sp>
        <p:nvSpPr>
          <p:cNvPr id="6" name="Total 1 label"/>
          <p:cNvSpPr txBox="1"/>
          <p:nvPr/>
        </p:nvSpPr>
        <p:spPr>
          <a:xfrm>
            <a:off x="8183880" y="2388870"/>
            <a:ext cx="3322015" cy="548640"/>
          </a:xfrm>
          <a:prstGeom prst="rect">
            <a:avLst/>
          </a:prstGeom>
          <a:noFill/>
          <a:ln/>
        </p:spPr>
        <p:txBody>
          <a:bodyPr wrap="square" lIns="0" tIns="0" rIns="0" bIns="0" rtlCol="0" anchor="t"/>
          <a:lstStyle/>
          <a:p>
            <a:pPr algn="l" indent="0" marL="0">
              <a:buNone/>
            </a:pPr>
            <a:r>
              <a:rPr lang="en-US" sz="1400" dirty="0">
                <a:solidFill>
                  <a:schemeClr val="tx1"/>
                </a:solidFill>
              </a:rPr>
              <a:t>aluminum sphere B turned by a job shop, tools included</a:t>
            </a:r>
            <a:endParaRPr lang="en-US" sz="1400" dirty="0"/>
          </a:p>
        </p:txBody>
      </p:sp>
      <p:sp>
        <p:nvSpPr>
          <p:cNvPr id="7" name="Total 2 card"/>
          <p:cNvSpPr/>
          <p:nvPr/>
        </p:nvSpPr>
        <p:spPr>
          <a:xfrm>
            <a:off x="7955280" y="3634740"/>
            <a:ext cx="3779215" cy="1943100"/>
          </a:xfrm>
          <a:prstGeom prst="roundRect">
            <a:avLst>
              <a:gd name="adj" fmla="val 5647"/>
            </a:avLst>
          </a:prstGeom>
          <a:solidFill>
            <a:schemeClr val="bg2"/>
          </a:solidFill>
          <a:ln/>
        </p:spPr>
      </p:sp>
      <p:sp>
        <p:nvSpPr>
          <p:cNvPr id="8" name="Total 2 value"/>
          <p:cNvSpPr txBox="1"/>
          <p:nvPr/>
        </p:nvSpPr>
        <p:spPr>
          <a:xfrm>
            <a:off x="8183880" y="4057650"/>
            <a:ext cx="3322015" cy="548640"/>
          </a:xfrm>
          <a:prstGeom prst="rect">
            <a:avLst/>
          </a:prstGeom>
          <a:noFill/>
          <a:ln/>
        </p:spPr>
        <p:txBody>
          <a:bodyPr wrap="square" lIns="0" tIns="0" rIns="0" bIns="0" rtlCol="0" anchor="ctr"/>
          <a:lstStyle/>
          <a:p>
            <a:pPr algn="l" indent="0" marL="0">
              <a:buNone/>
            </a:pPr>
            <a:r>
              <a:rPr lang="en-US" sz="3200" b="1" dirty="0">
                <a:solidFill>
                  <a:schemeClr val="accent1"/>
                </a:solidFill>
                <a:latin typeface="+mj-lt" pitchFamily="34" charset="0"/>
                <a:ea typeface="+mj-lt" pitchFamily="34" charset="-122"/>
                <a:cs typeface="+mj-lt" pitchFamily="34" charset="-120"/>
              </a:rPr>
              <a:t>$3,375 to $9,650</a:t>
            </a:r>
            <a:endParaRPr lang="en-US" sz="3200" dirty="0"/>
          </a:p>
        </p:txBody>
      </p:sp>
      <p:sp>
        <p:nvSpPr>
          <p:cNvPr id="9" name="Total 2 label"/>
          <p:cNvSpPr txBox="1"/>
          <p:nvPr/>
        </p:nvSpPr>
        <p:spPr>
          <a:xfrm>
            <a:off x="8183880" y="4606290"/>
            <a:ext cx="3322015" cy="548640"/>
          </a:xfrm>
          <a:prstGeom prst="rect">
            <a:avLst/>
          </a:prstGeom>
          <a:noFill/>
          <a:ln/>
        </p:spPr>
        <p:txBody>
          <a:bodyPr wrap="square" lIns="0" tIns="0" rIns="0" bIns="0" rtlCol="0" anchor="t"/>
          <a:lstStyle/>
          <a:p>
            <a:pPr algn="l" indent="0" marL="0">
              <a:buNone/>
            </a:pPr>
            <a:r>
              <a:rPr lang="en-US" sz="1400" dirty="0">
                <a:solidFill>
                  <a:schemeClr val="tx1"/>
                </a:solidFill>
              </a:rPr>
              <a:t>sphere B made to order, tools included</a:t>
            </a:r>
            <a:endParaRPr lang="en-US" sz="1400" dirty="0"/>
          </a:p>
        </p:txBody>
      </p:sp>
      <p:sp>
        <p:nvSpPr>
          <p:cNvPr id="10" name="Cost caption"/>
          <p:cNvSpPr txBox="1"/>
          <p:nvPr/>
        </p:nvSpPr>
        <p:spPr>
          <a:xfrm>
            <a:off x="457200" y="5852160"/>
            <a:ext cx="11277295" cy="274320"/>
          </a:xfrm>
          <a:prstGeom prst="rect">
            <a:avLst/>
          </a:prstGeom>
          <a:noFill/>
          <a:ln/>
        </p:spPr>
        <p:txBody>
          <a:bodyPr wrap="square" lIns="0" tIns="0" rIns="0" bIns="0" rtlCol="0" anchor="b"/>
          <a:lstStyle/>
          <a:p>
            <a:pPr algn="l" indent="0" marL="0">
              <a:buNone/>
            </a:pPr>
            <a:r>
              <a:rPr lang="en-US" sz="1200" dirty="0">
                <a:solidFill>
                  <a:schemeClr val="accent5"/>
                </a:solidFill>
              </a:rPr>
              <a:t>Tools and consumables $485 to $1,130, included in the totals. Estimates of October 2026, plus or minus 50 percent; sphere B is the least certain.</a:t>
            </a:r>
            <a:endParaRPr lang="en-US" sz="12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Purchase specification: the target sphere</a:t>
            </a:r>
            <a:endParaRPr lang="en-US" sz="3400" dirty="0"/>
          </a:p>
        </p:txBody>
      </p:sp>
      <p:graphicFrame>
        <p:nvGraphicFramePr>
          <p:cNvPr id="7" name="Sphere specification table"/>
          <p:cNvGraphicFramePr>
            <a:graphicFrameLocks noGrp="1"/>
          </p:cNvGraphicFramePr>
          <p:nvPr>
            <p:extLst>
              <p:ext uri="{D42A27DB-BD31-4B8C-83A1-F6EECF244321}">
                <p14:modId xmlns:p14="http://schemas.microsoft.com/office/powerpoint/2010/main" val="1579011935"/>
              </p:ext>
            </p:extLst>
          </p:nvPr>
        </p:nvGraphicFramePr>
        <p:xfrm>
          <a:off x="457200" y="1417320"/>
          <a:ext cx="11277295" cy="914400"/>
        </p:xfrm>
        <a:graphic>
          <a:graphicData uri="http://schemas.openxmlformats.org/drawingml/2006/table">
            <a:tbl>
              <a:tblPr/>
              <a:tblGrid>
                <a:gridCol w="2377440"/>
                <a:gridCol w="8899855"/>
              </a:tblGrid>
              <a:tr h="457200">
                <a:tc>
                  <a:txBody>
                    <a:bodyPr/>
                    <a:lstStyle/>
                    <a:p>
                      <a:pPr algn="l" indent="0" marL="0">
                        <a:buNone/>
                      </a:pPr>
                      <a:r>
                        <a:rPr lang="en-US" sz="1400" b="1" dirty="0">
                          <a:solidFill>
                            <a:schemeClr val="bg1"/>
                          </a:solidFill>
                        </a:rPr>
                        <a:t>Requirement</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2"/>
                    </a:solidFill>
                  </a:tcPr>
                </a:tc>
                <a:tc>
                  <a:txBody>
                    <a:bodyPr/>
                    <a:lstStyle/>
                    <a:p>
                      <a:pPr algn="l" indent="0" marL="0">
                        <a:buNone/>
                      </a:pPr>
                      <a:r>
                        <a:rPr lang="en-US" sz="1400" b="1" dirty="0">
                          <a:solidFill>
                            <a:schemeClr val="bg1"/>
                          </a:solidFill>
                        </a:rPr>
                        <a:t>Sphere B</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2"/>
                    </a:solidFill>
                  </a:tcPr>
                </a:tc>
              </a:tr>
              <a:tr h="455023">
                <a:tc>
                  <a:txBody>
                    <a:bodyPr/>
                    <a:lstStyle/>
                    <a:p>
                      <a:pPr algn="l" indent="0" marL="0">
                        <a:buNone/>
                      </a:pPr>
                      <a:r>
                        <a:rPr lang="en-US" sz="1400" b="1" dirty="0">
                          <a:solidFill>
                            <a:schemeClr val="tx2"/>
                          </a:solidFill>
                        </a:rPr>
                        <a:t>Nominal diameter</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152.4 mm (6 inch)</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r h="518160">
                <a:tc>
                  <a:txBody>
                    <a:bodyPr/>
                    <a:lstStyle/>
                    <a:p>
                      <a:pPr algn="l" indent="0" marL="0">
                        <a:buNone/>
                      </a:pPr>
                      <a:r>
                        <a:rPr lang="en-US" sz="1400" b="1" dirty="0">
                          <a:solidFill>
                            <a:schemeClr val="tx2"/>
                          </a:solidFill>
                        </a:rPr>
                        <a:t>Diameter</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Known to 0.025 mm, by micrometer at six or more orientations after finishing, at the session's room temperature</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r>
              <a:tr h="455023">
                <a:tc>
                  <a:txBody>
                    <a:bodyPr/>
                    <a:lstStyle/>
                    <a:p>
                      <a:pPr algn="l" indent="0" marL="0">
                        <a:buNone/>
                      </a:pPr>
                      <a:r>
                        <a:rPr lang="en-US" sz="1400" b="1" dirty="0">
                          <a:solidFill>
                            <a:schemeClr val="tx2"/>
                          </a:solidFill>
                        </a:rPr>
                        <a:t>Sphericity</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0.02 mm or better</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r h="455023">
                <a:tc>
                  <a:txBody>
                    <a:bodyPr/>
                    <a:lstStyle/>
                    <a:p>
                      <a:pPr algn="l" indent="0" marL="0">
                        <a:buNone/>
                      </a:pPr>
                      <a:r>
                        <a:rPr lang="en-US" sz="1400" b="1" dirty="0">
                          <a:solidFill>
                            <a:schemeClr val="tx2"/>
                          </a:solidFill>
                        </a:rPr>
                        <a:t>Material</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Turned aluminum (6061-T6), solid or hollow with at least 6 mm wall; ceramic as an alternative</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r>
              <a:tr h="455023">
                <a:tc>
                  <a:txBody>
                    <a:bodyPr/>
                    <a:lstStyle/>
                    <a:p>
                      <a:pPr algn="l" indent="0" marL="0">
                        <a:buNone/>
                      </a:pPr>
                      <a:r>
                        <a:rPr lang="en-US" sz="1400" b="1" dirty="0">
                          <a:solidFill>
                            <a:schemeClr val="tx2"/>
                          </a:solidFill>
                        </a:rPr>
                        <a:t>Surface</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Matte hard anodize, light gray or natural, uniform, free of highlights</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r h="455023">
                <a:tc>
                  <a:txBody>
                    <a:bodyPr/>
                    <a:lstStyle/>
                    <a:p>
                      <a:pPr algn="l" indent="0" marL="0">
                        <a:buNone/>
                      </a:pPr>
                      <a:r>
                        <a:rPr lang="en-US" sz="1400" b="1" dirty="0">
                          <a:solidFill>
                            <a:schemeClr val="tx2"/>
                          </a:solidFill>
                        </a:rPr>
                        <a:t>Mounting interface</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M20 x 30 mm tapped hole at a pole, 32 mm spot face, cut when the sphere is turned</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r>
              <a:tr h="455023">
                <a:tc>
                  <a:txBody>
                    <a:bodyPr/>
                    <a:lstStyle/>
                    <a:p>
                      <a:pPr algn="l" indent="0" marL="0">
                        <a:buNone/>
                      </a:pPr>
                      <a:r>
                        <a:rPr lang="en-US" sz="1400" b="1" dirty="0">
                          <a:solidFill>
                            <a:schemeClr val="tx2"/>
                          </a:solidFill>
                        </a:rPr>
                        <a:t>Approximate mass</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about 5 kg</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r h="455023">
                <a:tc>
                  <a:txBody>
                    <a:bodyPr/>
                    <a:lstStyle/>
                    <a:p>
                      <a:pPr algn="l" indent="0" marL="0">
                        <a:buNone/>
                      </a:pPr>
                      <a:r>
                        <a:rPr lang="en-US" sz="1400" b="1" dirty="0">
                          <a:solidFill>
                            <a:schemeClr val="tx2"/>
                          </a:solidFill>
                        </a:rPr>
                        <a:t>Documents</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The turner's inspection report: diameter and sphericity as turned, thread and spot face</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r>
            </a:tbl>
          </a:graphicData>
        </a:graphic>
      </p:graphicFrame>
      <p:sp>
        <p:nvSpPr>
          <p:cNvPr id="4" name="Sphere specification caption"/>
          <p:cNvSpPr txBox="1"/>
          <p:nvPr/>
        </p:nvSpPr>
        <p:spPr>
          <a:xfrm>
            <a:off x="457200" y="5852160"/>
            <a:ext cx="11277295" cy="274320"/>
          </a:xfrm>
          <a:prstGeom prst="rect">
            <a:avLst/>
          </a:prstGeom>
          <a:noFill/>
          <a:ln/>
        </p:spPr>
        <p:txBody>
          <a:bodyPr wrap="square" lIns="0" tIns="0" rIns="0" bIns="0" rtlCol="0" anchor="b"/>
          <a:lstStyle/>
          <a:p>
            <a:pPr algn="l" indent="0" marL="0">
              <a:buNone/>
            </a:pPr>
            <a:r>
              <a:rPr lang="en-US" sz="1200" dirty="0">
                <a:solidFill>
                  <a:schemeClr val="accent5"/>
                </a:solidFill>
              </a:rPr>
              <a:t>Procedure section 1d; drawing SC1-04 shows the interface.</a:t>
            </a:r>
            <a:endParaRPr lang="en-US" sz="12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Purchase specification: flat plate</a:t>
            </a:r>
            <a:endParaRPr lang="en-US" sz="3400" dirty="0"/>
          </a:p>
        </p:txBody>
      </p:sp>
      <p:graphicFrame>
        <p:nvGraphicFramePr>
          <p:cNvPr id="8" name="Plate specification table"/>
          <p:cNvGraphicFramePr>
            <a:graphicFrameLocks noGrp="1"/>
          </p:cNvGraphicFramePr>
          <p:nvPr>
            <p:extLst>
              <p:ext uri="{D42A27DB-BD31-4B8C-83A1-F6EECF244321}">
                <p14:modId xmlns:p14="http://schemas.microsoft.com/office/powerpoint/2010/main" val="1579011935"/>
              </p:ext>
            </p:extLst>
          </p:nvPr>
        </p:nvGraphicFramePr>
        <p:xfrm>
          <a:off x="457200" y="1417320"/>
          <a:ext cx="7680960" cy="914400"/>
        </p:xfrm>
        <a:graphic>
          <a:graphicData uri="http://schemas.openxmlformats.org/drawingml/2006/table">
            <a:tbl>
              <a:tblPr/>
              <a:tblGrid>
                <a:gridCol w="1554480"/>
                <a:gridCol w="6126480"/>
              </a:tblGrid>
              <a:tr h="457200">
                <a:tc>
                  <a:txBody>
                    <a:bodyPr/>
                    <a:lstStyle/>
                    <a:p>
                      <a:pPr algn="l" indent="0" marL="0">
                        <a:buNone/>
                      </a:pPr>
                      <a:r>
                        <a:rPr lang="en-US" sz="1400" b="1" dirty="0">
                          <a:solidFill>
                            <a:schemeClr val="bg1"/>
                          </a:solidFill>
                        </a:rPr>
                        <a:t>Requirement</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2"/>
                    </a:solidFill>
                  </a:tcPr>
                </a:tc>
                <a:tc>
                  <a:txBody>
                    <a:bodyPr/>
                    <a:lstStyle/>
                    <a:p>
                      <a:pPr algn="l" indent="0" marL="0">
                        <a:buNone/>
                      </a:pPr>
                      <a:r>
                        <a:rPr lang="en-US" sz="1400" b="1" dirty="0">
                          <a:solidFill>
                            <a:schemeClr val="bg1"/>
                          </a:solidFill>
                        </a:rPr>
                        <a:t>Flat plate (board)</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2"/>
                    </a:solidFill>
                  </a:tcPr>
                </a:tc>
              </a:tr>
              <a:tr h="617220">
                <a:tc>
                  <a:txBody>
                    <a:bodyPr/>
                    <a:lstStyle/>
                    <a:p>
                      <a:pPr algn="l" indent="0" marL="0">
                        <a:buNone/>
                      </a:pPr>
                      <a:r>
                        <a:rPr lang="en-US" sz="1400" b="1" dirty="0">
                          <a:solidFill>
                            <a:schemeClr val="tx2"/>
                          </a:solidFill>
                        </a:rPr>
                        <a:t>Size</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200 x 150 mm, at least 6 mm thick</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r h="617220">
                <a:tc>
                  <a:txBody>
                    <a:bodyPr/>
                    <a:lstStyle/>
                    <a:p>
                      <a:pPr algn="l" indent="0" marL="0">
                        <a:buNone/>
                      </a:pPr>
                      <a:r>
                        <a:rPr lang="en-US" sz="1400" b="1" dirty="0">
                          <a:solidFill>
                            <a:schemeClr val="tx2"/>
                          </a:solidFill>
                        </a:rPr>
                        <a:t>Material</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Finish-ground aluminum tooling plate (for example MIC-6) or float glass</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r>
              <a:tr h="617220">
                <a:tc>
                  <a:txBody>
                    <a:bodyPr/>
                    <a:lstStyle/>
                    <a:p>
                      <a:pPr algn="l" indent="0" marL="0">
                        <a:buNone/>
                      </a:pPr>
                      <a:r>
                        <a:rPr lang="en-US" sz="1400" b="1" dirty="0">
                          <a:solidFill>
                            <a:schemeClr val="tx2"/>
                          </a:solidFill>
                        </a:rPr>
                        <a:t>Flatness</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0.05 mm over the front face, checked with a straightedge and a 0.05 mm feeler leaf after painting and after mounting</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r h="617220">
                <a:tc>
                  <a:txBody>
                    <a:bodyPr/>
                    <a:lstStyle/>
                    <a:p>
                      <a:pPr algn="l" indent="0" marL="0">
                        <a:buNone/>
                      </a:pPr>
                      <a:r>
                        <a:rPr lang="en-US" sz="1400" b="1" dirty="0">
                          <a:solidFill>
                            <a:schemeClr val="tx2"/>
                          </a:solidFill>
                        </a:rPr>
                        <a:t>Front face</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Thin, even matte light-gray paint; do not bead-blast a plate thinner than about 10 mm</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r>
              <a:tr h="617220">
                <a:tc>
                  <a:txBody>
                    <a:bodyPr/>
                    <a:lstStyle/>
                    <a:p>
                      <a:pPr algn="l" indent="0" marL="0">
                        <a:buNone/>
                      </a:pPr>
                      <a:r>
                        <a:rPr lang="en-US" sz="1400" b="1" dirty="0">
                          <a:solidFill>
                            <a:schemeClr val="tx2"/>
                          </a:solidFill>
                        </a:rPr>
                        <a:t>Edges</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Bottom long edge and left short edge square and clean: they rest on the adapter's edge pins</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r h="617220">
                <a:tc>
                  <a:txBody>
                    <a:bodyPr/>
                    <a:lstStyle/>
                    <a:p>
                      <a:pPr algn="l" indent="0" marL="0">
                        <a:buNone/>
                      </a:pPr>
                      <a:r>
                        <a:rPr lang="en-US" sz="1400" b="1" dirty="0">
                          <a:solidFill>
                            <a:schemeClr val="tx2"/>
                          </a:solidFill>
                        </a:rPr>
                        <a:t>Documents</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Supplier's flatness report, kept with the session notes</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r>
            </a:tbl>
          </a:graphicData>
        </a:graphic>
      </p:graphicFrame>
      <p:sp>
        <p:nvSpPr>
          <p:cNvPr id="4" name="Plate drawing card"/>
          <p:cNvSpPr/>
          <p:nvPr/>
        </p:nvSpPr>
        <p:spPr>
          <a:xfrm>
            <a:off x="8412480" y="1417320"/>
            <a:ext cx="3322015" cy="4160520"/>
          </a:xfrm>
          <a:prstGeom prst="roundRect">
            <a:avLst>
              <a:gd name="adj" fmla="val 3303"/>
            </a:avLst>
          </a:prstGeom>
          <a:solidFill>
            <a:schemeClr val="bg1"/>
          </a:solidFill>
          <a:ln w="12700">
            <a:solidFill>
              <a:schemeClr val="accent6"/>
            </a:solidFill>
            <a:prstDash val="solid"/>
          </a:ln>
        </p:spPr>
      </p:sp>
      <p:sp>
        <p:nvSpPr>
          <p:cNvPr id="5" name="Plate outline"/>
          <p:cNvSpPr/>
          <p:nvPr/>
        </p:nvSpPr>
        <p:spPr>
          <a:xfrm>
            <a:off x="8701888" y="1965960"/>
            <a:ext cx="2743200" cy="2057400"/>
          </a:xfrm>
          <a:prstGeom prst="rect">
            <a:avLst/>
          </a:prstGeom>
          <a:solidFill>
            <a:schemeClr val="bg2"/>
          </a:solidFill>
          <a:ln w="19050">
            <a:solidFill>
              <a:schemeClr val="accent5"/>
            </a:solidFill>
            <a:prstDash val="solid"/>
          </a:ln>
        </p:spPr>
      </p:sp>
      <p:sp>
        <p:nvSpPr>
          <p:cNvPr id="6" name="Plate bottom edge (locating)"/>
          <p:cNvSpPr/>
          <p:nvPr/>
        </p:nvSpPr>
        <p:spPr>
          <a:xfrm>
            <a:off x="8701888" y="4023360"/>
            <a:ext cx="2743200" cy="0"/>
          </a:xfrm>
          <a:prstGeom prst="line">
            <a:avLst/>
          </a:prstGeom>
          <a:noFill/>
          <a:ln w="63500">
            <a:solidFill>
              <a:schemeClr val="accent1"/>
            </a:solidFill>
            <a:prstDash val="solid"/>
          </a:ln>
        </p:spPr>
      </p:sp>
      <p:sp>
        <p:nvSpPr>
          <p:cNvPr id="7" name="Plate left edge (locating)"/>
          <p:cNvSpPr/>
          <p:nvPr/>
        </p:nvSpPr>
        <p:spPr>
          <a:xfrm>
            <a:off x="8701888" y="1965960"/>
            <a:ext cx="0" cy="2057400"/>
          </a:xfrm>
          <a:prstGeom prst="line">
            <a:avLst/>
          </a:prstGeom>
          <a:noFill/>
          <a:ln w="63500">
            <a:solidFill>
              <a:schemeClr val="accent1"/>
            </a:solidFill>
            <a:prstDash val="solid"/>
          </a:ln>
        </p:spPr>
      </p:sp>
      <p:sp>
        <p:nvSpPr>
          <p:cNvPr id="8" name="Support pad 1"/>
          <p:cNvSpPr/>
          <p:nvPr/>
        </p:nvSpPr>
        <p:spPr>
          <a:xfrm>
            <a:off x="8708746" y="3810762"/>
            <a:ext cx="205740" cy="205740"/>
          </a:xfrm>
          <a:prstGeom prst="ellipse">
            <a:avLst/>
          </a:prstGeom>
          <a:solidFill>
            <a:schemeClr val="accent2"/>
          </a:solidFill>
          <a:ln/>
        </p:spPr>
      </p:sp>
      <p:sp>
        <p:nvSpPr>
          <p:cNvPr id="9" name="Support pad 2"/>
          <p:cNvSpPr/>
          <p:nvPr/>
        </p:nvSpPr>
        <p:spPr>
          <a:xfrm>
            <a:off x="11232490" y="3810762"/>
            <a:ext cx="205740" cy="205740"/>
          </a:xfrm>
          <a:prstGeom prst="ellipse">
            <a:avLst/>
          </a:prstGeom>
          <a:solidFill>
            <a:schemeClr val="accent2"/>
          </a:solidFill>
          <a:ln/>
        </p:spPr>
      </p:sp>
      <p:sp>
        <p:nvSpPr>
          <p:cNvPr id="10" name="Support pad 3"/>
          <p:cNvSpPr/>
          <p:nvPr/>
        </p:nvSpPr>
        <p:spPr>
          <a:xfrm>
            <a:off x="9970618" y="1972818"/>
            <a:ext cx="205740" cy="205740"/>
          </a:xfrm>
          <a:prstGeom prst="ellipse">
            <a:avLst/>
          </a:prstGeom>
          <a:solidFill>
            <a:schemeClr val="accent2"/>
          </a:solidFill>
          <a:ln/>
        </p:spPr>
      </p:sp>
      <p:sp>
        <p:nvSpPr>
          <p:cNvPr id="11" name="Legend key locating edges"/>
          <p:cNvSpPr/>
          <p:nvPr/>
        </p:nvSpPr>
        <p:spPr>
          <a:xfrm>
            <a:off x="8701888" y="4366260"/>
            <a:ext cx="457200" cy="0"/>
          </a:xfrm>
          <a:prstGeom prst="line">
            <a:avLst/>
          </a:prstGeom>
          <a:noFill/>
          <a:ln w="63500">
            <a:solidFill>
              <a:schemeClr val="accent1"/>
            </a:solidFill>
            <a:prstDash val="solid"/>
          </a:ln>
        </p:spPr>
      </p:sp>
      <p:sp>
        <p:nvSpPr>
          <p:cNvPr id="12" name="Legend Locating edges"/>
          <p:cNvSpPr txBox="1"/>
          <p:nvPr/>
        </p:nvSpPr>
        <p:spPr>
          <a:xfrm>
            <a:off x="9341968" y="4206240"/>
            <a:ext cx="2103120" cy="320040"/>
          </a:xfrm>
          <a:prstGeom prst="rect">
            <a:avLst/>
          </a:prstGeom>
          <a:noFill/>
          <a:ln/>
        </p:spPr>
        <p:txBody>
          <a:bodyPr wrap="square" lIns="0" tIns="0" rIns="0" bIns="0" rtlCol="0" anchor="ctr"/>
          <a:lstStyle/>
          <a:p>
            <a:pPr algn="l" indent="0" marL="0">
              <a:buNone/>
            </a:pPr>
            <a:r>
              <a:rPr lang="en-US" sz="1400" dirty="0">
                <a:solidFill>
                  <a:schemeClr val="tx1"/>
                </a:solidFill>
              </a:rPr>
              <a:t>Locating edges</a:t>
            </a:r>
            <a:endParaRPr lang="en-US" sz="1400" dirty="0"/>
          </a:p>
        </p:txBody>
      </p:sp>
      <p:sp>
        <p:nvSpPr>
          <p:cNvPr id="13" name="Legend key support pads"/>
          <p:cNvSpPr/>
          <p:nvPr/>
        </p:nvSpPr>
        <p:spPr>
          <a:xfrm>
            <a:off x="8827618" y="4766310"/>
            <a:ext cx="205740" cy="205740"/>
          </a:xfrm>
          <a:prstGeom prst="ellipse">
            <a:avLst/>
          </a:prstGeom>
          <a:solidFill>
            <a:schemeClr val="accent2"/>
          </a:solidFill>
          <a:ln/>
        </p:spPr>
      </p:sp>
      <p:sp>
        <p:nvSpPr>
          <p:cNvPr id="14" name="Legend Support pads"/>
          <p:cNvSpPr txBox="1"/>
          <p:nvPr/>
        </p:nvSpPr>
        <p:spPr>
          <a:xfrm>
            <a:off x="9341968" y="4709160"/>
            <a:ext cx="2103120" cy="320040"/>
          </a:xfrm>
          <a:prstGeom prst="rect">
            <a:avLst/>
          </a:prstGeom>
          <a:noFill/>
          <a:ln/>
        </p:spPr>
        <p:txBody>
          <a:bodyPr wrap="square" lIns="0" tIns="0" rIns="0" bIns="0" rtlCol="0" anchor="ctr"/>
          <a:lstStyle/>
          <a:p>
            <a:pPr algn="l" indent="0" marL="0">
              <a:buNone/>
            </a:pPr>
            <a:r>
              <a:rPr lang="en-US" sz="1400" dirty="0">
                <a:solidFill>
                  <a:schemeClr val="tx1"/>
                </a:solidFill>
              </a:rPr>
              <a:t>Support pads</a:t>
            </a:r>
            <a:endParaRPr lang="en-US" sz="1400" dirty="0"/>
          </a:p>
        </p:txBody>
      </p:sp>
      <p:sp>
        <p:nvSpPr>
          <p:cNvPr id="15" name="Plate specification caption"/>
          <p:cNvSpPr txBox="1"/>
          <p:nvPr/>
        </p:nvSpPr>
        <p:spPr>
          <a:xfrm>
            <a:off x="457200" y="5852160"/>
            <a:ext cx="11277295" cy="274320"/>
          </a:xfrm>
          <a:prstGeom prst="rect">
            <a:avLst/>
          </a:prstGeom>
          <a:noFill/>
          <a:ln/>
        </p:spPr>
        <p:txBody>
          <a:bodyPr wrap="square" lIns="0" tIns="0" rIns="0" bIns="0" rtlCol="0" anchor="b"/>
          <a:lstStyle/>
          <a:p>
            <a:pPr algn="l" indent="0" marL="0">
              <a:buNone/>
            </a:pPr>
            <a:r>
              <a:rPr lang="en-US" sz="1200" dirty="0">
                <a:solidFill>
                  <a:schemeClr val="accent5"/>
                </a:solidFill>
              </a:rPr>
              <a:t>Procedure section 1d; the board outline is on drawing SC1-05.</a:t>
            </a:r>
            <a:endParaRPr lang="en-US" sz="12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The sphere must be matte and measured, not certified</a:t>
            </a:r>
            <a:endParaRPr lang="en-US" sz="3400" dirty="0"/>
          </a:p>
        </p:txBody>
      </p:sp>
      <p:sp>
        <p:nvSpPr>
          <p:cNvPr id="3" name="Column 1 card"/>
          <p:cNvSpPr/>
          <p:nvPr/>
        </p:nvSpPr>
        <p:spPr>
          <a:xfrm>
            <a:off x="457200" y="1417320"/>
            <a:ext cx="3576218" cy="4709160"/>
          </a:xfrm>
          <a:prstGeom prst="roundRect">
            <a:avLst>
              <a:gd name="adj" fmla="val 3068"/>
            </a:avLst>
          </a:prstGeom>
          <a:solidFill>
            <a:schemeClr val="bg2"/>
          </a:solidFill>
          <a:ln/>
        </p:spPr>
      </p:sp>
      <p:sp>
        <p:nvSpPr>
          <p:cNvPr id="4" name="Column 1 icon circle"/>
          <p:cNvSpPr/>
          <p:nvPr/>
        </p:nvSpPr>
        <p:spPr>
          <a:xfrm>
            <a:off x="685800" y="1645920"/>
            <a:ext cx="640080" cy="640080"/>
          </a:xfrm>
          <a:prstGeom prst="ellipse">
            <a:avLst/>
          </a:prstGeom>
          <a:solidFill>
            <a:schemeClr val="accent2"/>
          </a:solidFill>
          <a:ln/>
        </p:spPr>
      </p:sp>
      <p:pic>
        <p:nvPicPr>
          <p:cNvPr id="5" name="Column 1 icon glyph" descr="spray icon">    </p:cNvPr>
          <p:cNvPicPr>
            <a:picLocks noChangeAspect="1"/>
          </p:cNvPicPr>
          <p:nvPr/>
        </p:nvPicPr>
        <p:blipFill>
          <a:blip r:embed="rId1"/>
          <a:stretch>
            <a:fillRect/>
          </a:stretch>
        </p:blipFill>
        <p:spPr>
          <a:xfrm>
            <a:off x="845820" y="1805940"/>
            <a:ext cx="320040" cy="320040"/>
          </a:xfrm>
          <a:prstGeom prst="rect">
            <a:avLst/>
          </a:prstGeom>
        </p:spPr>
      </p:pic>
      <p:sp>
        <p:nvSpPr>
          <p:cNvPr id="6" name="Column 1 head"/>
          <p:cNvSpPr txBox="1"/>
          <p:nvPr/>
        </p:nvSpPr>
        <p:spPr>
          <a:xfrm>
            <a:off x="685800" y="2468880"/>
            <a:ext cx="3119018" cy="365760"/>
          </a:xfrm>
          <a:prstGeom prst="rect">
            <a:avLst/>
          </a:prstGeom>
          <a:noFill/>
          <a:ln/>
        </p:spPr>
        <p:txBody>
          <a:bodyPr wrap="square" lIns="0" tIns="0" rIns="0" bIns="0" rtlCol="0" anchor="t"/>
          <a:lstStyle/>
          <a:p>
            <a:pPr algn="l" indent="0" marL="0">
              <a:buNone/>
            </a:pPr>
            <a:r>
              <a:rPr lang="en-US" sz="2000" b="1" dirty="0">
                <a:solidFill>
                  <a:schemeClr val="tx2"/>
                </a:solidFill>
                <a:latin typeface="+mj-lt" pitchFamily="34" charset="0"/>
                <a:ea typeface="+mj-lt" pitchFamily="34" charset="-122"/>
                <a:cs typeface="+mj-lt" pitchFamily="34" charset="-120"/>
              </a:rPr>
              <a:t>Finish</a:t>
            </a:r>
            <a:endParaRPr lang="en-US" sz="2000" dirty="0"/>
          </a:p>
        </p:txBody>
      </p:sp>
      <p:sp>
        <p:nvSpPr>
          <p:cNvPr id="7" name="Column 1 points"/>
          <p:cNvSpPr txBox="1"/>
          <p:nvPr/>
        </p:nvSpPr>
        <p:spPr>
          <a:xfrm>
            <a:off x="685800" y="2926080"/>
            <a:ext cx="3119018" cy="2971800"/>
          </a:xfrm>
          <a:prstGeom prst="rect">
            <a:avLst/>
          </a:prstGeom>
          <a:noFill/>
          <a:ln/>
        </p:spPr>
        <p:txBody>
          <a:bodyPr wrap="square" lIns="0" tIns="0" rIns="0" bIns="0" rtlCol="0" anchor="t"/>
          <a:lstStyle/>
          <a:p>
            <a:pPr algn="l" marL="177800" indent="-177800">
              <a:spcAft>
                <a:spcPts val="1200"/>
              </a:spcAft>
              <a:buSzPct val="100000"/>
              <a:buChar char="•"/>
            </a:pPr>
            <a:r>
              <a:rPr lang="en-US" sz="1600" dirty="0">
                <a:solidFill>
                  <a:schemeClr val="tx1"/>
                </a:solidFill>
              </a:rPr>
              <a:t>Matte hard anodize on the turned aluminum sphere</a:t>
            </a:r>
            <a:endParaRPr lang="en-US" sz="1600" dirty="0"/>
          </a:p>
          <a:p>
            <a:pPr algn="l" marL="177800" indent="-177800">
              <a:spcAft>
                <a:spcPts val="1200"/>
              </a:spcAft>
              <a:buSzPct val="100000"/>
              <a:buChar char="•"/>
            </a:pPr>
            <a:r>
              <a:rPr lang="en-US" sz="1600" dirty="0">
                <a:solidFill>
                  <a:schemeClr val="tx1"/>
                </a:solidFill>
              </a:rPr>
              <a:t>A mirror sphere is unusable: one bright highlight</a:t>
            </a:r>
            <a:endParaRPr lang="en-US" sz="1600" dirty="0"/>
          </a:p>
          <a:p>
            <a:pPr algn="l" marL="177800" indent="-177800">
              <a:spcAft>
                <a:spcPts val="1200"/>
              </a:spcAft>
              <a:buSzPct val="100000"/>
              <a:buChar char="•"/>
            </a:pPr>
            <a:r>
              <a:rPr lang="en-US" sz="1600" dirty="0">
                <a:solidFill>
                  <a:schemeClr val="tx1"/>
                </a:solidFill>
              </a:rPr>
              <a:t>Steel or ceramic alternative: bead-blast with fine glass bead</a:t>
            </a:r>
            <a:endParaRPr lang="en-US" sz="1600" dirty="0"/>
          </a:p>
          <a:p>
            <a:pPr algn="l" marL="177800" indent="-177800">
              <a:spcAft>
                <a:spcPts val="1200"/>
              </a:spcAft>
              <a:buSzPct val="100000"/>
              <a:buChar char="•"/>
            </a:pPr>
            <a:r>
              <a:rPr lang="en-US" sz="1600" dirty="0">
                <a:solidFill>
                  <a:schemeClr val="tx1"/>
                </a:solidFill>
              </a:rPr>
              <a:t>Matte paint is the last resort: 0.02 to 0.05 mm per coat</a:t>
            </a:r>
            <a:endParaRPr lang="en-US" sz="1600" dirty="0"/>
          </a:p>
        </p:txBody>
      </p:sp>
      <p:sp>
        <p:nvSpPr>
          <p:cNvPr id="8" name="Column 2 card"/>
          <p:cNvSpPr/>
          <p:nvPr/>
        </p:nvSpPr>
        <p:spPr>
          <a:xfrm>
            <a:off x="4307738" y="1417320"/>
            <a:ext cx="3576218" cy="4709160"/>
          </a:xfrm>
          <a:prstGeom prst="roundRect">
            <a:avLst>
              <a:gd name="adj" fmla="val 3068"/>
            </a:avLst>
          </a:prstGeom>
          <a:solidFill>
            <a:schemeClr val="bg2"/>
          </a:solidFill>
          <a:ln/>
        </p:spPr>
      </p:sp>
      <p:sp>
        <p:nvSpPr>
          <p:cNvPr id="9" name="Column 2 icon circle"/>
          <p:cNvSpPr/>
          <p:nvPr/>
        </p:nvSpPr>
        <p:spPr>
          <a:xfrm>
            <a:off x="4536338" y="1645920"/>
            <a:ext cx="640080" cy="640080"/>
          </a:xfrm>
          <a:prstGeom prst="ellipse">
            <a:avLst/>
          </a:prstGeom>
          <a:solidFill>
            <a:schemeClr val="accent2"/>
          </a:solidFill>
          <a:ln/>
        </p:spPr>
      </p:sp>
      <p:pic>
        <p:nvPicPr>
          <p:cNvPr id="10" name="Column 2 icon glyph" descr="ruler icon">    </p:cNvPr>
          <p:cNvPicPr>
            <a:picLocks noChangeAspect="1"/>
          </p:cNvPicPr>
          <p:nvPr/>
        </p:nvPicPr>
        <p:blipFill>
          <a:blip r:embed="rId2"/>
          <a:stretch>
            <a:fillRect/>
          </a:stretch>
        </p:blipFill>
        <p:spPr>
          <a:xfrm>
            <a:off x="4696358" y="1805940"/>
            <a:ext cx="320040" cy="320040"/>
          </a:xfrm>
          <a:prstGeom prst="rect">
            <a:avLst/>
          </a:prstGeom>
        </p:spPr>
      </p:pic>
      <p:sp>
        <p:nvSpPr>
          <p:cNvPr id="11" name="Column 2 head"/>
          <p:cNvSpPr txBox="1"/>
          <p:nvPr/>
        </p:nvSpPr>
        <p:spPr>
          <a:xfrm>
            <a:off x="4536338" y="2468880"/>
            <a:ext cx="3119018" cy="365760"/>
          </a:xfrm>
          <a:prstGeom prst="rect">
            <a:avLst/>
          </a:prstGeom>
          <a:noFill/>
          <a:ln/>
        </p:spPr>
        <p:txBody>
          <a:bodyPr wrap="square" lIns="0" tIns="0" rIns="0" bIns="0" rtlCol="0" anchor="t"/>
          <a:lstStyle/>
          <a:p>
            <a:pPr algn="l" indent="0" marL="0">
              <a:buNone/>
            </a:pPr>
            <a:r>
              <a:rPr lang="en-US" sz="2000" b="1" dirty="0">
                <a:solidFill>
                  <a:schemeClr val="tx2"/>
                </a:solidFill>
                <a:latin typeface="+mj-lt" pitchFamily="34" charset="0"/>
                <a:ea typeface="+mj-lt" pitchFamily="34" charset="-122"/>
                <a:cs typeface="+mj-lt" pitchFamily="34" charset="-120"/>
              </a:rPr>
              <a:t>Diameter</a:t>
            </a:r>
            <a:endParaRPr lang="en-US" sz="2000" dirty="0"/>
          </a:p>
        </p:txBody>
      </p:sp>
      <p:sp>
        <p:nvSpPr>
          <p:cNvPr id="12" name="Column 2 points"/>
          <p:cNvSpPr txBox="1"/>
          <p:nvPr/>
        </p:nvSpPr>
        <p:spPr>
          <a:xfrm>
            <a:off x="4536338" y="2926080"/>
            <a:ext cx="3119018" cy="2971800"/>
          </a:xfrm>
          <a:prstGeom prst="rect">
            <a:avLst/>
          </a:prstGeom>
          <a:noFill/>
          <a:ln/>
        </p:spPr>
        <p:txBody>
          <a:bodyPr wrap="square" lIns="0" tIns="0" rIns="0" bIns="0" rtlCol="0" anchor="t"/>
          <a:lstStyle/>
          <a:p>
            <a:pPr algn="l" marL="177800" indent="-177800">
              <a:spcAft>
                <a:spcPts val="1200"/>
              </a:spcAft>
              <a:buSzPct val="100000"/>
              <a:buChar char="•"/>
            </a:pPr>
            <a:r>
              <a:rPr lang="en-US" sz="1600" dirty="0">
                <a:solidFill>
                  <a:schemeClr val="tx1"/>
                </a:solidFill>
              </a:rPr>
              <a:t>Known to 0.025 mm, measured after the finish</a:t>
            </a:r>
            <a:endParaRPr lang="en-US" sz="1600" dirty="0"/>
          </a:p>
          <a:p>
            <a:pPr algn="l" marL="177800" indent="-177800">
              <a:spcAft>
                <a:spcPts val="1200"/>
              </a:spcAft>
              <a:buSzPct val="100000"/>
              <a:buChar char="•"/>
            </a:pPr>
            <a:r>
              <a:rPr lang="en-US" sz="1600" dirty="0">
                <a:solidFill>
                  <a:schemeClr val="tx1"/>
                </a:solidFill>
              </a:rPr>
              <a:t>Measured in-house by outside micrometer at six or more orientations</a:t>
            </a:r>
            <a:endParaRPr lang="en-US" sz="1600" dirty="0"/>
          </a:p>
          <a:p>
            <a:pPr algn="l" marL="177800" indent="-177800">
              <a:spcAft>
                <a:spcPts val="1200"/>
              </a:spcAft>
              <a:buSzPct val="100000"/>
              <a:buChar char="•"/>
            </a:pPr>
            <a:r>
              <a:rPr lang="en-US" sz="1600" dirty="0">
                <a:solidFill>
                  <a:schemeClr val="tx1"/>
                </a:solidFill>
              </a:rPr>
              <a:t>Aluminum grows 0.0035 mm per degree C: measure at session temperature</a:t>
            </a:r>
            <a:endParaRPr lang="en-US" sz="1600" dirty="0"/>
          </a:p>
          <a:p>
            <a:pPr algn="l" marL="177800" indent="-177800">
              <a:spcAft>
                <a:spcPts val="1200"/>
              </a:spcAft>
              <a:buSzPct val="100000"/>
              <a:buChar char="•"/>
            </a:pPr>
            <a:r>
              <a:rPr lang="en-US" sz="1600" dirty="0">
                <a:solidFill>
                  <a:schemeClr val="tx1"/>
                </a:solidFill>
              </a:rPr>
              <a:t>The mean goes in the pose log; the spread checks sphericity</a:t>
            </a:r>
            <a:endParaRPr lang="en-US" sz="1600" dirty="0"/>
          </a:p>
        </p:txBody>
      </p:sp>
      <p:sp>
        <p:nvSpPr>
          <p:cNvPr id="13" name="Column 3 card"/>
          <p:cNvSpPr/>
          <p:nvPr/>
        </p:nvSpPr>
        <p:spPr>
          <a:xfrm>
            <a:off x="8158277" y="1417320"/>
            <a:ext cx="3576218" cy="4709160"/>
          </a:xfrm>
          <a:prstGeom prst="roundRect">
            <a:avLst>
              <a:gd name="adj" fmla="val 3068"/>
            </a:avLst>
          </a:prstGeom>
          <a:solidFill>
            <a:schemeClr val="bg2"/>
          </a:solidFill>
          <a:ln/>
        </p:spPr>
      </p:sp>
      <p:sp>
        <p:nvSpPr>
          <p:cNvPr id="14" name="Column 3 icon circle"/>
          <p:cNvSpPr/>
          <p:nvPr/>
        </p:nvSpPr>
        <p:spPr>
          <a:xfrm>
            <a:off x="8386877" y="1645920"/>
            <a:ext cx="640080" cy="640080"/>
          </a:xfrm>
          <a:prstGeom prst="ellipse">
            <a:avLst/>
          </a:prstGeom>
          <a:solidFill>
            <a:schemeClr val="accent2"/>
          </a:solidFill>
          <a:ln/>
        </p:spPr>
      </p:sp>
      <p:pic>
        <p:nvPicPr>
          <p:cNvPr id="15" name="Column 3 icon glyph" descr="wrench icon">    </p:cNvPr>
          <p:cNvPicPr>
            <a:picLocks noChangeAspect="1"/>
          </p:cNvPicPr>
          <p:nvPr/>
        </p:nvPicPr>
        <p:blipFill>
          <a:blip r:embed="rId3"/>
          <a:stretch>
            <a:fillRect/>
          </a:stretch>
        </p:blipFill>
        <p:spPr>
          <a:xfrm>
            <a:off x="8546897" y="1805940"/>
            <a:ext cx="320040" cy="320040"/>
          </a:xfrm>
          <a:prstGeom prst="rect">
            <a:avLst/>
          </a:prstGeom>
        </p:spPr>
      </p:pic>
      <p:sp>
        <p:nvSpPr>
          <p:cNvPr id="16" name="Column 3 head"/>
          <p:cNvSpPr txBox="1"/>
          <p:nvPr/>
        </p:nvSpPr>
        <p:spPr>
          <a:xfrm>
            <a:off x="8386877" y="2468880"/>
            <a:ext cx="3119018" cy="365760"/>
          </a:xfrm>
          <a:prstGeom prst="rect">
            <a:avLst/>
          </a:prstGeom>
          <a:noFill/>
          <a:ln/>
        </p:spPr>
        <p:txBody>
          <a:bodyPr wrap="square" lIns="0" tIns="0" rIns="0" bIns="0" rtlCol="0" anchor="t"/>
          <a:lstStyle/>
          <a:p>
            <a:pPr algn="l" indent="0" marL="0">
              <a:buNone/>
            </a:pPr>
            <a:r>
              <a:rPr lang="en-US" sz="2000" b="1" dirty="0">
                <a:solidFill>
                  <a:schemeClr val="tx2"/>
                </a:solidFill>
                <a:latin typeface="+mj-lt" pitchFamily="34" charset="0"/>
                <a:ea typeface="+mj-lt" pitchFamily="34" charset="-122"/>
                <a:cs typeface="+mj-lt" pitchFamily="34" charset="-120"/>
              </a:rPr>
              <a:t>Mounting</a:t>
            </a:r>
            <a:endParaRPr lang="en-US" sz="2000" dirty="0"/>
          </a:p>
        </p:txBody>
      </p:sp>
      <p:sp>
        <p:nvSpPr>
          <p:cNvPr id="17" name="Column 3 points"/>
          <p:cNvSpPr txBox="1"/>
          <p:nvPr/>
        </p:nvSpPr>
        <p:spPr>
          <a:xfrm>
            <a:off x="8386877" y="2926080"/>
            <a:ext cx="3119018" cy="2971800"/>
          </a:xfrm>
          <a:prstGeom prst="rect">
            <a:avLst/>
          </a:prstGeom>
          <a:noFill/>
          <a:ln/>
        </p:spPr>
        <p:txBody>
          <a:bodyPr wrap="square" lIns="0" tIns="0" rIns="0" bIns="0" rtlCol="0" anchor="t"/>
          <a:lstStyle/>
          <a:p>
            <a:pPr algn="l" marL="177800" indent="-177800">
              <a:spcAft>
                <a:spcPts val="1200"/>
              </a:spcAft>
              <a:buSzPct val="100000"/>
              <a:buChar char="•"/>
            </a:pPr>
            <a:r>
              <a:rPr lang="en-US" sz="1600" dirty="0">
                <a:solidFill>
                  <a:schemeClr val="tx1"/>
                </a:solidFill>
              </a:rPr>
              <a:t>M20 thread cut at the pole when the sphere is turned</a:t>
            </a:r>
            <a:endParaRPr lang="en-US" sz="1600" dirty="0"/>
          </a:p>
          <a:p>
            <a:pPr algn="l" marL="177800" indent="-177800">
              <a:spcAft>
                <a:spcPts val="1200"/>
              </a:spcAft>
              <a:buSzPct val="100000"/>
              <a:buChar char="•"/>
            </a:pPr>
            <a:r>
              <a:rPr lang="en-US" sz="1600" dirty="0">
                <a:solidFill>
                  <a:schemeClr val="tx1"/>
                </a:solidFill>
              </a:rPr>
              <a:t>Hardened steel or ceramic cannot be tapped</a:t>
            </a:r>
            <a:endParaRPr lang="en-US" sz="1600" dirty="0"/>
          </a:p>
          <a:p>
            <a:pPr algn="l" marL="177800" indent="-177800">
              <a:spcAft>
                <a:spcPts val="1200"/>
              </a:spcAft>
              <a:buSzPct val="100000"/>
              <a:buChar char="•"/>
            </a:pPr>
            <a:r>
              <a:rPr lang="en-US" sz="1600" dirty="0">
                <a:solidFill>
                  <a:schemeClr val="tx1"/>
                </a:solidFill>
              </a:rPr>
              <a:t>Alternative: blind hole 16 H7 x 46 mm, stem bonded</a:t>
            </a:r>
            <a:endParaRPr lang="en-US" sz="1600" dirty="0"/>
          </a:p>
          <a:p>
            <a:pPr algn="l" marL="177800" indent="-177800">
              <a:spcAft>
                <a:spcPts val="1200"/>
              </a:spcAft>
              <a:buSzPct val="100000"/>
              <a:buChar char="•"/>
            </a:pPr>
            <a:r>
              <a:rPr lang="en-US" sz="1600" dirty="0">
                <a:solidFill>
                  <a:schemeClr val="tx1"/>
                </a:solidFill>
              </a:rPr>
              <a:t>No tapped 6 inch precision sphere is stocked</a:t>
            </a:r>
            <a:endParaRPr lang="en-US" sz="16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Candidate suppliers</a:t>
            </a:r>
            <a:endParaRPr lang="en-US" sz="3400" dirty="0"/>
          </a:p>
        </p:txBody>
      </p:sp>
      <p:graphicFrame>
        <p:nvGraphicFramePr>
          <p:cNvPr id="10" name="Suppliers table"/>
          <p:cNvGraphicFramePr>
            <a:graphicFrameLocks noGrp="1"/>
          </p:cNvGraphicFramePr>
          <p:nvPr>
            <p:extLst>
              <p:ext uri="{D42A27DB-BD31-4B8C-83A1-F6EECF244321}">
                <p14:modId xmlns:p14="http://schemas.microsoft.com/office/powerpoint/2010/main" val="1579011935"/>
              </p:ext>
            </p:extLst>
          </p:nvPr>
        </p:nvGraphicFramePr>
        <p:xfrm>
          <a:off x="457200" y="1417320"/>
          <a:ext cx="11277295" cy="914400"/>
        </p:xfrm>
        <a:graphic>
          <a:graphicData uri="http://schemas.openxmlformats.org/drawingml/2006/table">
            <a:tbl>
              <a:tblPr/>
              <a:tblGrid>
                <a:gridCol w="2834640"/>
                <a:gridCol w="4754880"/>
                <a:gridCol w="3687775"/>
              </a:tblGrid>
              <a:tr h="457200">
                <a:tc>
                  <a:txBody>
                    <a:bodyPr/>
                    <a:lstStyle/>
                    <a:p>
                      <a:pPr algn="l" indent="0" marL="0">
                        <a:buNone/>
                      </a:pPr>
                      <a:r>
                        <a:rPr lang="en-US" sz="1400" b="1" dirty="0">
                          <a:solidFill>
                            <a:schemeClr val="bg1"/>
                          </a:solidFill>
                        </a:rPr>
                        <a:t>Item</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2"/>
                    </a:solidFill>
                  </a:tcPr>
                </a:tc>
                <a:tc>
                  <a:txBody>
                    <a:bodyPr/>
                    <a:lstStyle/>
                    <a:p>
                      <a:pPr algn="l" indent="0" marL="0">
                        <a:buNone/>
                      </a:pPr>
                      <a:r>
                        <a:rPr lang="en-US" sz="1400" b="1" dirty="0">
                          <a:solidFill>
                            <a:schemeClr val="bg1"/>
                          </a:solidFill>
                        </a:rPr>
                        <a:t>Candidate suppliers</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2"/>
                    </a:solidFill>
                  </a:tcPr>
                </a:tc>
                <a:tc>
                  <a:txBody>
                    <a:bodyPr/>
                    <a:lstStyle/>
                    <a:p>
                      <a:pPr algn="l" indent="0" marL="0">
                        <a:buNone/>
                      </a:pPr>
                      <a:r>
                        <a:rPr lang="en-US" sz="1400" b="1" dirty="0">
                          <a:solidFill>
                            <a:schemeClr val="bg1"/>
                          </a:solidFill>
                        </a:rPr>
                        <a:t>Notes</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2"/>
                    </a:solidFill>
                  </a:tcPr>
                </a:tc>
              </a:tr>
              <a:tr h="529046">
                <a:tc>
                  <a:txBody>
                    <a:bodyPr/>
                    <a:lstStyle/>
                    <a:p>
                      <a:pPr algn="l" indent="0" marL="0">
                        <a:buNone/>
                      </a:pPr>
                      <a:r>
                        <a:rPr lang="en-US" sz="1400" b="1" dirty="0">
                          <a:solidFill>
                            <a:schemeClr val="tx2"/>
                          </a:solidFill>
                        </a:rPr>
                        <a:t>Sphere, made to order</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Precision turning shop (aluminum); Bal-tec; RGP Balls; Industrial Tectonics; Morgan Advanced Materials</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A 6 inch matte sphere with a mounting hole is a custom item</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r h="529046">
                <a:tc>
                  <a:txBody>
                    <a:bodyPr/>
                    <a:lstStyle/>
                    <a:p>
                      <a:pPr algn="l" indent="0" marL="0">
                        <a:buNone/>
                      </a:pPr>
                      <a:r>
                        <a:rPr lang="en-US" sz="1400" b="1" dirty="0">
                          <a:solidFill>
                            <a:schemeClr val="tx2"/>
                          </a:solidFill>
                        </a:rPr>
                        <a:t>Stock reference spheres</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Laser-scanner spheres, Rothbucher RSLB10M among them</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Not usable: form errors of 0.3 to 2 mm</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r>
              <a:tr h="529046">
                <a:tc>
                  <a:txBody>
                    <a:bodyPr/>
                    <a:lstStyle/>
                    <a:p>
                      <a:pPr algn="l" indent="0" marL="0">
                        <a:buNone/>
                      </a:pPr>
                      <a:r>
                        <a:rPr lang="en-US" sz="1400" b="1" dirty="0">
                          <a:solidFill>
                            <a:schemeClr val="tx2"/>
                          </a:solidFill>
                        </a:rPr>
                        <a:t>Board plate</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McMaster-Carr MIC-6 plus a grinding shop; Edmund Optics float glass</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Painted matte after grinding; flatness checked after mounting</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r h="529046">
                <a:tc>
                  <a:txBody>
                    <a:bodyPr/>
                    <a:lstStyle/>
                    <a:p>
                      <a:pPr algn="l" indent="0" marL="0">
                        <a:buNone/>
                      </a:pPr>
                      <a:r>
                        <a:rPr lang="en-US" sz="1400" b="1" dirty="0">
                          <a:solidFill>
                            <a:schemeClr val="tx2"/>
                          </a:solidFill>
                        </a:rPr>
                        <a:t>Nest balls</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McMaster-Carr; Bal-tec</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Grade-25 bearing balls</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r>
              <a:tr h="529046">
                <a:tc>
                  <a:txBody>
                    <a:bodyPr/>
                    <a:lstStyle/>
                    <a:p>
                      <a:pPr algn="l" indent="0" marL="0">
                        <a:buNone/>
                      </a:pPr>
                      <a:r>
                        <a:rPr lang="en-US" sz="1400" b="1" dirty="0">
                          <a:solidFill>
                            <a:schemeClr val="tx2"/>
                          </a:solidFill>
                        </a:rPr>
                        <a:t>Adapter, stem, board adapter, nest base</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Local machine shop</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Inspection report of the toleranced features on each order</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r h="529046">
                <a:tc>
                  <a:txBody>
                    <a:bodyPr/>
                    <a:lstStyle/>
                    <a:p>
                      <a:pPr algn="l" indent="0" marL="0">
                        <a:buNone/>
                      </a:pPr>
                      <a:r>
                        <a:rPr lang="en-US" sz="1400" b="1" dirty="0">
                          <a:solidFill>
                            <a:schemeClr val="tx2"/>
                          </a:solidFill>
                        </a:rPr>
                        <a:t>Diameter measurement</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Outside micrometer 150-175 mm: Mitutoyo 103-143-10, or Starrett</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In-house, after the matte finish; setting standard included</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r>
              <a:tr h="529046">
                <a:tc>
                  <a:txBody>
                    <a:bodyPr/>
                    <a:lstStyle/>
                    <a:p>
                      <a:pPr algn="l" indent="0" marL="0">
                        <a:buNone/>
                      </a:pPr>
                      <a:r>
                        <a:rPr lang="en-US" sz="1400" b="1" dirty="0">
                          <a:solidFill>
                            <a:schemeClr val="tx2"/>
                          </a:solidFill>
                        </a:rPr>
                        <a:t>Dial indicator and magnetic base</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Mitutoyo 2046 series; Noga MG71003 or DG-61003</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For the run-out fixture</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bl>
          </a:graphicData>
        </a:graphic>
      </p:graphicFrame>
      <p:sp>
        <p:nvSpPr>
          <p:cNvPr id="4" name="Suppliers caption"/>
          <p:cNvSpPr txBox="1"/>
          <p:nvPr/>
        </p:nvSpPr>
        <p:spPr>
          <a:xfrm>
            <a:off x="457200" y="5852160"/>
            <a:ext cx="11277295" cy="274320"/>
          </a:xfrm>
          <a:prstGeom prst="rect">
            <a:avLst/>
          </a:prstGeom>
          <a:noFill/>
          <a:ln/>
        </p:spPr>
        <p:txBody>
          <a:bodyPr wrap="square" lIns="0" tIns="0" rIns="0" bIns="0" rtlCol="0" anchor="b"/>
          <a:lstStyle/>
          <a:p>
            <a:pPr algn="l" indent="0" marL="0">
              <a:buNone/>
            </a:pPr>
            <a:r>
              <a:rPr lang="en-US" sz="1200" dirty="0">
                <a:solidFill>
                  <a:schemeClr val="accent5"/>
                </a:solidFill>
              </a:rPr>
              <a:t>From suppliers' web pages, October 2026; not an endorsement. Confirm size, finish, measurement and thread before ordering.</a:t>
            </a:r>
            <a:endParaRPr lang="en-US" sz="12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Run-out fixture: dial indicator and its mounting</a:t>
            </a:r>
            <a:endParaRPr lang="en-US" sz="3400" dirty="0"/>
          </a:p>
        </p:txBody>
      </p:sp>
      <p:pic>
        <p:nvPicPr>
          <p:cNvPr id="3" name="Run-out check on the board" descr="Run-out check on the board">    </p:cNvPr>
          <p:cNvPicPr>
            <a:picLocks noChangeAspect="1"/>
          </p:cNvPicPr>
          <p:nvPr/>
        </p:nvPicPr>
        <p:blipFill>
          <a:blip r:embed="rId1"/>
          <a:stretch>
            <a:fillRect/>
          </a:stretch>
        </p:blipFill>
        <p:spPr>
          <a:xfrm>
            <a:off x="457200" y="1417320"/>
            <a:ext cx="4335697" cy="4069080"/>
          </a:xfrm>
          <a:prstGeom prst="rect">
            <a:avLst/>
          </a:prstGeom>
        </p:spPr>
      </p:pic>
      <p:sp>
        <p:nvSpPr>
          <p:cNvPr id="4" name="Run-out check on the board frame"/>
          <p:cNvSpPr/>
          <p:nvPr/>
        </p:nvSpPr>
        <p:spPr>
          <a:xfrm>
            <a:off x="457200" y="1417320"/>
            <a:ext cx="4335697" cy="4069080"/>
          </a:xfrm>
          <a:prstGeom prst="rect">
            <a:avLst/>
          </a:prstGeom>
          <a:ln w="12700">
            <a:solidFill>
              <a:schemeClr val="accent6"/>
            </a:solidFill>
            <a:prstDash val="solid"/>
          </a:ln>
        </p:spPr>
      </p:sp>
      <p:sp>
        <p:nvSpPr>
          <p:cNvPr id="5" name="Figure caption"/>
          <p:cNvSpPr txBox="1"/>
          <p:nvPr/>
        </p:nvSpPr>
        <p:spPr>
          <a:xfrm>
            <a:off x="457200" y="5669280"/>
            <a:ext cx="4335697" cy="457200"/>
          </a:xfrm>
          <a:prstGeom prst="rect">
            <a:avLst/>
          </a:prstGeom>
          <a:noFill/>
          <a:ln/>
        </p:spPr>
        <p:txBody>
          <a:bodyPr wrap="square" lIns="0" tIns="0" rIns="0" bIns="0" rtlCol="0" anchor="t"/>
          <a:lstStyle/>
          <a:p>
            <a:pPr algn="l" indent="0" marL="0">
              <a:buNone/>
            </a:pPr>
            <a:r>
              <a:rPr lang="en-US" sz="1200" dirty="0">
                <a:solidFill>
                  <a:schemeClr val="accent5"/>
                </a:solidFill>
              </a:rPr>
              <a:t>The run-out check: the flange turns, the indicator stays still, the reading must stay within 0.05 mm.</a:t>
            </a:r>
            <a:endParaRPr lang="en-US" sz="1200" dirty="0"/>
          </a:p>
        </p:txBody>
      </p:sp>
      <p:sp>
        <p:nvSpPr>
          <p:cNvPr id="6" name="Run-out part 1 card"/>
          <p:cNvSpPr/>
          <p:nvPr/>
        </p:nvSpPr>
        <p:spPr>
          <a:xfrm>
            <a:off x="5067217" y="1417320"/>
            <a:ext cx="6667278" cy="919316"/>
          </a:xfrm>
          <a:prstGeom prst="roundRect">
            <a:avLst>
              <a:gd name="adj" fmla="val 11936"/>
            </a:avLst>
          </a:prstGeom>
          <a:solidFill>
            <a:schemeClr val="bg2"/>
          </a:solidFill>
          <a:ln/>
        </p:spPr>
      </p:sp>
      <p:sp>
        <p:nvSpPr>
          <p:cNvPr id="7" name="Run-out part 1 icon circle"/>
          <p:cNvSpPr/>
          <p:nvPr/>
        </p:nvSpPr>
        <p:spPr>
          <a:xfrm>
            <a:off x="5295817" y="1556938"/>
            <a:ext cx="640080" cy="640080"/>
          </a:xfrm>
          <a:prstGeom prst="ellipse">
            <a:avLst/>
          </a:prstGeom>
          <a:solidFill>
            <a:schemeClr val="accent2"/>
          </a:solidFill>
          <a:ln/>
        </p:spPr>
      </p:sp>
      <p:pic>
        <p:nvPicPr>
          <p:cNvPr id="8" name="Run-out part 1 icon glyph" descr="gauge icon">    </p:cNvPr>
          <p:cNvPicPr>
            <a:picLocks noChangeAspect="1"/>
          </p:cNvPicPr>
          <p:nvPr/>
        </p:nvPicPr>
        <p:blipFill>
          <a:blip r:embed="rId2"/>
          <a:stretch>
            <a:fillRect/>
          </a:stretch>
        </p:blipFill>
        <p:spPr>
          <a:xfrm>
            <a:off x="5455837" y="1716958"/>
            <a:ext cx="320040" cy="320040"/>
          </a:xfrm>
          <a:prstGeom prst="rect">
            <a:avLst/>
          </a:prstGeom>
        </p:spPr>
      </p:pic>
      <p:sp>
        <p:nvSpPr>
          <p:cNvPr id="9" name="Run-out part 1 text"/>
          <p:cNvSpPr txBox="1"/>
          <p:nvPr/>
        </p:nvSpPr>
        <p:spPr>
          <a:xfrm>
            <a:off x="6118777" y="1508760"/>
            <a:ext cx="4975638" cy="736436"/>
          </a:xfrm>
          <a:prstGeom prst="rect">
            <a:avLst/>
          </a:prstGeom>
          <a:noFill/>
          <a:ln/>
        </p:spPr>
        <p:txBody>
          <a:bodyPr wrap="square" lIns="0" tIns="0" rIns="0" bIns="0" rtlCol="0" anchor="ctr"/>
          <a:lstStyle/>
          <a:p>
            <a:pPr algn="l" indent="0" marL="0">
              <a:buNone/>
            </a:pPr>
            <a:r>
              <a:rPr lang="en-US" sz="1800" b="1" dirty="0">
                <a:solidFill>
                  <a:schemeClr val="tx2"/>
                </a:solidFill>
              </a:rPr>
              <a:t>Dial indicator</a:t>
            </a:r>
            <a:endParaRPr lang="en-US" sz="1600" dirty="0"/>
          </a:p>
          <a:p>
            <a:pPr algn="l" indent="0" marL="0">
              <a:buNone/>
            </a:pPr>
            <a:r>
              <a:rPr lang="en-US" sz="1400" dirty="0">
                <a:solidFill>
                  <a:schemeClr val="tx1"/>
                </a:solidFill>
              </a:rPr>
              <a:t>0.01 mm graduation, about 10 mm travel; for example Mitutoyo 2046 series, about $50 to $150</a:t>
            </a:r>
            <a:endParaRPr lang="en-US" sz="1600" dirty="0"/>
          </a:p>
        </p:txBody>
      </p:sp>
      <p:sp>
        <p:nvSpPr>
          <p:cNvPr id="10" name="Run-out part 2 card"/>
          <p:cNvSpPr/>
          <p:nvPr/>
        </p:nvSpPr>
        <p:spPr>
          <a:xfrm>
            <a:off x="5067217" y="2610956"/>
            <a:ext cx="6667278" cy="919316"/>
          </a:xfrm>
          <a:prstGeom prst="roundRect">
            <a:avLst>
              <a:gd name="adj" fmla="val 11936"/>
            </a:avLst>
          </a:prstGeom>
          <a:solidFill>
            <a:schemeClr val="bg2"/>
          </a:solidFill>
          <a:ln/>
        </p:spPr>
      </p:sp>
      <p:sp>
        <p:nvSpPr>
          <p:cNvPr id="11" name="Run-out part 2 icon circle"/>
          <p:cNvSpPr/>
          <p:nvPr/>
        </p:nvSpPr>
        <p:spPr>
          <a:xfrm>
            <a:off x="5295817" y="2750574"/>
            <a:ext cx="640080" cy="640080"/>
          </a:xfrm>
          <a:prstGeom prst="ellipse">
            <a:avLst/>
          </a:prstGeom>
          <a:solidFill>
            <a:schemeClr val="accent2"/>
          </a:solidFill>
          <a:ln/>
        </p:spPr>
      </p:sp>
      <p:pic>
        <p:nvPicPr>
          <p:cNvPr id="12" name="Run-out part 2 icon glyph" descr="magnet icon">    </p:cNvPr>
          <p:cNvPicPr>
            <a:picLocks noChangeAspect="1"/>
          </p:cNvPicPr>
          <p:nvPr/>
        </p:nvPicPr>
        <p:blipFill>
          <a:blip r:embed="rId3"/>
          <a:stretch>
            <a:fillRect/>
          </a:stretch>
        </p:blipFill>
        <p:spPr>
          <a:xfrm>
            <a:off x="5455837" y="2910594"/>
            <a:ext cx="320040" cy="320040"/>
          </a:xfrm>
          <a:prstGeom prst="rect">
            <a:avLst/>
          </a:prstGeom>
        </p:spPr>
      </p:pic>
      <p:sp>
        <p:nvSpPr>
          <p:cNvPr id="13" name="Run-out part 2 text"/>
          <p:cNvSpPr txBox="1"/>
          <p:nvPr/>
        </p:nvSpPr>
        <p:spPr>
          <a:xfrm>
            <a:off x="6118777" y="2702396"/>
            <a:ext cx="4975638" cy="736436"/>
          </a:xfrm>
          <a:prstGeom prst="rect">
            <a:avLst/>
          </a:prstGeom>
          <a:noFill/>
          <a:ln/>
        </p:spPr>
        <p:txBody>
          <a:bodyPr wrap="square" lIns="0" tIns="0" rIns="0" bIns="0" rtlCol="0" anchor="ctr"/>
          <a:lstStyle/>
          <a:p>
            <a:pPr algn="l" indent="0" marL="0">
              <a:buNone/>
            </a:pPr>
            <a:r>
              <a:rPr lang="en-US" sz="1800" b="1" dirty="0">
                <a:solidFill>
                  <a:schemeClr val="tx2"/>
                </a:solidFill>
              </a:rPr>
              <a:t>Magnetic base</a:t>
            </a:r>
            <a:endParaRPr lang="en-US" sz="1600" dirty="0"/>
          </a:p>
          <a:p>
            <a:pPr algn="l" indent="0" marL="0">
              <a:buNone/>
            </a:pPr>
            <a:r>
              <a:rPr lang="en-US" sz="1400" dirty="0">
                <a:solidFill>
                  <a:schemeClr val="tx1"/>
                </a:solidFill>
              </a:rPr>
              <a:t>Articulating, with fine adjustment; for example Noga MG71003 or DG-61003, about $140 to $320</a:t>
            </a:r>
            <a:endParaRPr lang="en-US" sz="1600" dirty="0"/>
          </a:p>
        </p:txBody>
      </p:sp>
      <p:sp>
        <p:nvSpPr>
          <p:cNvPr id="14" name="Run-out part 3 card"/>
          <p:cNvSpPr/>
          <p:nvPr/>
        </p:nvSpPr>
        <p:spPr>
          <a:xfrm>
            <a:off x="5067217" y="3804592"/>
            <a:ext cx="6667278" cy="1128252"/>
          </a:xfrm>
          <a:prstGeom prst="roundRect">
            <a:avLst>
              <a:gd name="adj" fmla="val 9725"/>
            </a:avLst>
          </a:prstGeom>
          <a:solidFill>
            <a:schemeClr val="bg2"/>
          </a:solidFill>
          <a:ln/>
        </p:spPr>
      </p:sp>
      <p:sp>
        <p:nvSpPr>
          <p:cNvPr id="15" name="Run-out part 3 icon circle"/>
          <p:cNvSpPr/>
          <p:nvPr/>
        </p:nvSpPr>
        <p:spPr>
          <a:xfrm>
            <a:off x="5295817" y="4048678"/>
            <a:ext cx="640080" cy="640080"/>
          </a:xfrm>
          <a:prstGeom prst="ellipse">
            <a:avLst/>
          </a:prstGeom>
          <a:solidFill>
            <a:schemeClr val="accent2"/>
          </a:solidFill>
          <a:ln/>
        </p:spPr>
      </p:sp>
      <p:pic>
        <p:nvPicPr>
          <p:cNvPr id="16" name="Run-out part 3 icon glyph" descr="layers icon">    </p:cNvPr>
          <p:cNvPicPr>
            <a:picLocks noChangeAspect="1"/>
          </p:cNvPicPr>
          <p:nvPr/>
        </p:nvPicPr>
        <p:blipFill>
          <a:blip r:embed="rId4"/>
          <a:stretch>
            <a:fillRect/>
          </a:stretch>
        </p:blipFill>
        <p:spPr>
          <a:xfrm>
            <a:off x="5455837" y="4208698"/>
            <a:ext cx="320040" cy="320040"/>
          </a:xfrm>
          <a:prstGeom prst="rect">
            <a:avLst/>
          </a:prstGeom>
        </p:spPr>
      </p:pic>
      <p:sp>
        <p:nvSpPr>
          <p:cNvPr id="17" name="Run-out part 3 text"/>
          <p:cNvSpPr txBox="1"/>
          <p:nvPr/>
        </p:nvSpPr>
        <p:spPr>
          <a:xfrm>
            <a:off x="6118777" y="3896032"/>
            <a:ext cx="4975638" cy="945372"/>
          </a:xfrm>
          <a:prstGeom prst="rect">
            <a:avLst/>
          </a:prstGeom>
          <a:noFill/>
          <a:ln/>
        </p:spPr>
        <p:txBody>
          <a:bodyPr wrap="square" lIns="0" tIns="0" rIns="0" bIns="0" rtlCol="0" anchor="ctr"/>
          <a:lstStyle/>
          <a:p>
            <a:pPr algn="l" indent="0" marL="0">
              <a:buNone/>
            </a:pPr>
            <a:r>
              <a:rPr lang="en-US" sz="1800" b="1" dirty="0">
                <a:solidFill>
                  <a:schemeClr val="tx2"/>
                </a:solidFill>
              </a:rPr>
              <a:t>Steel base plate</a:t>
            </a:r>
            <a:endParaRPr lang="en-US" sz="1600" dirty="0"/>
          </a:p>
          <a:p>
            <a:pPr algn="l" indent="0" marL="0">
              <a:buNone/>
            </a:pPr>
            <a:r>
              <a:rPr lang="en-US" sz="1400" dirty="0">
                <a:solidFill>
                  <a:schemeClr val="tx1"/>
                </a:solidFill>
              </a:rPr>
              <a:t>About 150 x 100 x 12 mm, bolted to the cell table with two M8 screws, so the base holds on a non-magnetic table and does not creep</a:t>
            </a:r>
            <a:endParaRPr lang="en-US" sz="1600" dirty="0"/>
          </a:p>
        </p:txBody>
      </p:sp>
      <p:sp>
        <p:nvSpPr>
          <p:cNvPr id="18" name="Run-out part 4 card"/>
          <p:cNvSpPr/>
          <p:nvPr/>
        </p:nvSpPr>
        <p:spPr>
          <a:xfrm>
            <a:off x="5067217" y="5207164"/>
            <a:ext cx="6667278" cy="919316"/>
          </a:xfrm>
          <a:prstGeom prst="roundRect">
            <a:avLst>
              <a:gd name="adj" fmla="val 11936"/>
            </a:avLst>
          </a:prstGeom>
          <a:solidFill>
            <a:schemeClr val="bg2"/>
          </a:solidFill>
          <a:ln/>
        </p:spPr>
      </p:sp>
      <p:sp>
        <p:nvSpPr>
          <p:cNvPr id="19" name="Run-out part 4 icon circle"/>
          <p:cNvSpPr/>
          <p:nvPr/>
        </p:nvSpPr>
        <p:spPr>
          <a:xfrm>
            <a:off x="5295817" y="5346782"/>
            <a:ext cx="640080" cy="640080"/>
          </a:xfrm>
          <a:prstGeom prst="ellipse">
            <a:avLst/>
          </a:prstGeom>
          <a:solidFill>
            <a:schemeClr val="accent2"/>
          </a:solidFill>
          <a:ln/>
        </p:spPr>
      </p:sp>
      <p:pic>
        <p:nvPicPr>
          <p:cNvPr id="20" name="Run-out part 4 icon glyph" descr="crosshairs icon">    </p:cNvPr>
          <p:cNvPicPr>
            <a:picLocks noChangeAspect="1"/>
          </p:cNvPicPr>
          <p:nvPr/>
        </p:nvPicPr>
        <p:blipFill>
          <a:blip r:embed="rId5"/>
          <a:stretch>
            <a:fillRect/>
          </a:stretch>
        </p:blipFill>
        <p:spPr>
          <a:xfrm>
            <a:off x="5455837" y="5506802"/>
            <a:ext cx="320040" cy="320040"/>
          </a:xfrm>
          <a:prstGeom prst="rect">
            <a:avLst/>
          </a:prstGeom>
        </p:spPr>
      </p:pic>
      <p:sp>
        <p:nvSpPr>
          <p:cNvPr id="21" name="Run-out part 4 text"/>
          <p:cNvSpPr txBox="1"/>
          <p:nvPr/>
        </p:nvSpPr>
        <p:spPr>
          <a:xfrm>
            <a:off x="6118777" y="5298604"/>
            <a:ext cx="4975638" cy="736436"/>
          </a:xfrm>
          <a:prstGeom prst="rect">
            <a:avLst/>
          </a:prstGeom>
          <a:noFill/>
          <a:ln/>
        </p:spPr>
        <p:txBody>
          <a:bodyPr wrap="square" lIns="0" tIns="0" rIns="0" bIns="0" rtlCol="0" anchor="ctr"/>
          <a:lstStyle/>
          <a:p>
            <a:pPr algn="l" indent="0" marL="0">
              <a:buNone/>
            </a:pPr>
            <a:r>
              <a:rPr lang="en-US" sz="1800" b="1" dirty="0">
                <a:solidFill>
                  <a:schemeClr val="tx2"/>
                </a:solidFill>
              </a:rPr>
              <a:t>Placement</a:t>
            </a:r>
            <a:endParaRPr lang="en-US" sz="1600" dirty="0"/>
          </a:p>
          <a:p>
            <a:pPr algn="l" indent="0" marL="0">
              <a:buNone/>
            </a:pPr>
            <a:r>
              <a:rPr lang="en-US" sz="1400" dirty="0">
                <a:solidFill>
                  <a:schemeClr val="tx1"/>
                </a:solidFill>
              </a:rPr>
              <a:t>Where the indicator tip reaches the board's front face about 20 mm from an edge with the robot in its run-out pose</a:t>
            </a:r>
            <a:endParaRPr lang="en-US" sz="16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A stiff, repeatable chain from flange to sphere</a:t>
            </a:r>
            <a:endParaRPr lang="en-US" sz="3400" dirty="0"/>
          </a:p>
        </p:txBody>
      </p:sp>
      <p:pic>
        <p:nvPicPr>
          <p:cNvPr id="3" name="Adapter on flange with stem" descr="Adapter on flange with stem">    </p:cNvPr>
          <p:cNvPicPr>
            <a:picLocks noChangeAspect="1"/>
          </p:cNvPicPr>
          <p:nvPr/>
        </p:nvPicPr>
        <p:blipFill>
          <a:blip r:embed="rId1"/>
          <a:stretch>
            <a:fillRect/>
          </a:stretch>
        </p:blipFill>
        <p:spPr>
          <a:xfrm>
            <a:off x="457200" y="1417320"/>
            <a:ext cx="6384984" cy="4709160"/>
          </a:xfrm>
          <a:prstGeom prst="rect">
            <a:avLst/>
          </a:prstGeom>
        </p:spPr>
      </p:pic>
      <p:sp>
        <p:nvSpPr>
          <p:cNvPr id="4" name="Adapter on flange with stem frame"/>
          <p:cNvSpPr/>
          <p:nvPr/>
        </p:nvSpPr>
        <p:spPr>
          <a:xfrm>
            <a:off x="457200" y="1417320"/>
            <a:ext cx="6384984" cy="4709160"/>
          </a:xfrm>
          <a:prstGeom prst="rect">
            <a:avLst/>
          </a:prstGeom>
          <a:ln w="12700">
            <a:solidFill>
              <a:schemeClr val="accent6"/>
            </a:solidFill>
            <a:prstDash val="solid"/>
          </a:ln>
        </p:spPr>
      </p:sp>
      <p:sp>
        <p:nvSpPr>
          <p:cNvPr id="5" name="Points card"/>
          <p:cNvSpPr/>
          <p:nvPr/>
        </p:nvSpPr>
        <p:spPr>
          <a:xfrm>
            <a:off x="7116504" y="1417320"/>
            <a:ext cx="4617991" cy="3977640"/>
          </a:xfrm>
          <a:prstGeom prst="roundRect">
            <a:avLst>
              <a:gd name="adj" fmla="val 2759"/>
            </a:avLst>
          </a:prstGeom>
          <a:solidFill>
            <a:schemeClr val="bg2"/>
          </a:solidFill>
          <a:ln/>
        </p:spPr>
      </p:sp>
      <p:sp>
        <p:nvSpPr>
          <p:cNvPr id="6" name="Mounting points"/>
          <p:cNvSpPr txBox="1"/>
          <p:nvPr/>
        </p:nvSpPr>
        <p:spPr>
          <a:xfrm>
            <a:off x="7345104" y="1645920"/>
            <a:ext cx="4160791" cy="3520440"/>
          </a:xfrm>
          <a:prstGeom prst="rect">
            <a:avLst/>
          </a:prstGeom>
          <a:noFill/>
          <a:ln/>
        </p:spPr>
        <p:txBody>
          <a:bodyPr wrap="square" lIns="0" tIns="0" rIns="0" bIns="0" rtlCol="0" anchor="ctr"/>
          <a:lstStyle/>
          <a:p>
            <a:pPr algn="l" marL="177800" indent="-177800">
              <a:spcAft>
                <a:spcPts val="1200"/>
              </a:spcAft>
              <a:buSzPct val="100000"/>
              <a:buChar char="•"/>
            </a:pPr>
            <a:r>
              <a:rPr lang="en-US" sz="1600" dirty="0">
                <a:solidFill>
                  <a:schemeClr val="tx1"/>
                </a:solidFill>
              </a:rPr>
              <a:t>Adapter located by the flange dowel, so a remount lands in the same place</a:t>
            </a:r>
            <a:endParaRPr lang="en-US" sz="1600" dirty="0"/>
          </a:p>
          <a:p>
            <a:pPr algn="l" marL="177800" indent="-177800">
              <a:spcAft>
                <a:spcPts val="1200"/>
              </a:spcAft>
              <a:buSzPct val="100000"/>
              <a:buChar char="•"/>
            </a:pPr>
            <a:r>
              <a:rPr lang="en-US" sz="1600" dirty="0">
                <a:solidFill>
                  <a:schemeClr val="tx1"/>
                </a:solidFill>
              </a:rPr>
              <a:t>Ground 30 mm stem keeps sag to about 0.05 mm</a:t>
            </a:r>
            <a:endParaRPr lang="en-US" sz="1600" dirty="0"/>
          </a:p>
          <a:p>
            <a:pPr algn="l" marL="177800" indent="-177800">
              <a:spcAft>
                <a:spcPts val="1200"/>
              </a:spcAft>
              <a:buSzPct val="100000"/>
              <a:buChar char="•"/>
            </a:pPr>
            <a:r>
              <a:rPr lang="en-US" sz="1600" dirty="0">
                <a:solidFill>
                  <a:schemeClr val="tx1"/>
                </a:solidFill>
              </a:rPr>
              <a:t>Stem length at least 2R + 50 mm, so the sphere hides the stem</a:t>
            </a:r>
            <a:endParaRPr lang="en-US" sz="1600" dirty="0"/>
          </a:p>
          <a:p>
            <a:pPr algn="l" marL="177800" indent="-177800">
              <a:spcAft>
                <a:spcPts val="1200"/>
              </a:spcAft>
              <a:buSzPct val="100000"/>
              <a:buChar char="•"/>
            </a:pPr>
            <a:r>
              <a:rPr lang="en-US" sz="1600" dirty="0">
                <a:solidFill>
                  <a:schemeClr val="tx1"/>
                </a:solidFill>
              </a:rPr>
              <a:t>Witness mark across stem and adapter shows a loosened joint</a:t>
            </a:r>
            <a:endParaRPr lang="en-US" sz="1600" dirty="0"/>
          </a:p>
          <a:p>
            <a:pPr algn="l" marL="177800" indent="-177800">
              <a:spcAft>
                <a:spcPts val="1200"/>
              </a:spcAft>
              <a:buSzPct val="100000"/>
              <a:buChar char="•"/>
            </a:pPr>
            <a:r>
              <a:rPr lang="en-US" sz="1600" dirty="0">
                <a:solidFill>
                  <a:schemeClr val="tx1"/>
                </a:solidFill>
              </a:rPr>
              <a:t>After any remount, re-check in the nest: readings within 0.1 mm</a:t>
            </a:r>
            <a:endParaRPr lang="en-US" sz="1600" dirty="0"/>
          </a:p>
        </p:txBody>
      </p:sp>
      <p:sp>
        <p:nvSpPr>
          <p:cNvPr id="7" name="Figure caption"/>
          <p:cNvSpPr txBox="1"/>
          <p:nvPr/>
        </p:nvSpPr>
        <p:spPr>
          <a:xfrm>
            <a:off x="7116504" y="5669280"/>
            <a:ext cx="4617991" cy="457200"/>
          </a:xfrm>
          <a:prstGeom prst="rect">
            <a:avLst/>
          </a:prstGeom>
          <a:noFill/>
          <a:ln/>
        </p:spPr>
        <p:txBody>
          <a:bodyPr wrap="square" lIns="0" tIns="0" rIns="0" bIns="0" rtlCol="0" anchor="b"/>
          <a:lstStyle/>
          <a:p>
            <a:pPr algn="l" indent="0" marL="0">
              <a:buNone/>
            </a:pPr>
            <a:r>
              <a:rPr lang="en-US" sz="1200" dirty="0">
                <a:solidFill>
                  <a:schemeClr val="accent5"/>
                </a:solidFill>
              </a:rPr>
              <a:t>Adapter on the flange's dowel, with the stem's shoulder seated on the adapter face.</a:t>
            </a:r>
            <a:endParaRPr lang="en-US" sz="12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The sphere end: thread cut at the pole, or a bonded stem</a:t>
            </a:r>
            <a:endParaRPr lang="en-US" sz="3400" dirty="0"/>
          </a:p>
        </p:txBody>
      </p:sp>
      <p:pic>
        <p:nvPicPr>
          <p:cNvPr id="3" name="Ceramic sphere with threaded insert" descr="Ceramic sphere with threaded insert">    </p:cNvPr>
          <p:cNvPicPr>
            <a:picLocks noChangeAspect="1"/>
          </p:cNvPicPr>
          <p:nvPr/>
        </p:nvPicPr>
        <p:blipFill>
          <a:blip r:embed="rId1"/>
          <a:stretch>
            <a:fillRect/>
          </a:stretch>
        </p:blipFill>
        <p:spPr>
          <a:xfrm>
            <a:off x="457200" y="1417320"/>
            <a:ext cx="5134708" cy="3657600"/>
          </a:xfrm>
          <a:prstGeom prst="rect">
            <a:avLst/>
          </a:prstGeom>
        </p:spPr>
      </p:pic>
      <p:sp>
        <p:nvSpPr>
          <p:cNvPr id="4" name="Ceramic sphere with threaded insert frame"/>
          <p:cNvSpPr/>
          <p:nvPr/>
        </p:nvSpPr>
        <p:spPr>
          <a:xfrm>
            <a:off x="457200" y="1417320"/>
            <a:ext cx="5134708" cy="3657600"/>
          </a:xfrm>
          <a:prstGeom prst="rect">
            <a:avLst/>
          </a:prstGeom>
          <a:ln w="12700">
            <a:solidFill>
              <a:schemeClr val="accent6"/>
            </a:solidFill>
            <a:prstDash val="solid"/>
          </a:ln>
        </p:spPr>
      </p:sp>
      <p:pic>
        <p:nvPicPr>
          <p:cNvPr id="5" name="Steel sphere with bonded blind hole" descr="Steel sphere with bonded blind hole">    </p:cNvPr>
          <p:cNvPicPr>
            <a:picLocks noChangeAspect="1"/>
          </p:cNvPicPr>
          <p:nvPr/>
        </p:nvPicPr>
        <p:blipFill>
          <a:blip r:embed="rId2"/>
          <a:stretch>
            <a:fillRect/>
          </a:stretch>
        </p:blipFill>
        <p:spPr>
          <a:xfrm>
            <a:off x="6747498" y="1417320"/>
            <a:ext cx="4986997" cy="3657600"/>
          </a:xfrm>
          <a:prstGeom prst="rect">
            <a:avLst/>
          </a:prstGeom>
        </p:spPr>
      </p:pic>
      <p:sp>
        <p:nvSpPr>
          <p:cNvPr id="6" name="Steel sphere with bonded blind hole frame"/>
          <p:cNvSpPr/>
          <p:nvPr/>
        </p:nvSpPr>
        <p:spPr>
          <a:xfrm>
            <a:off x="6747498" y="1417320"/>
            <a:ext cx="4986997" cy="3657600"/>
          </a:xfrm>
          <a:prstGeom prst="rect">
            <a:avLst/>
          </a:prstGeom>
          <a:ln w="12700">
            <a:solidFill>
              <a:schemeClr val="accent6"/>
            </a:solidFill>
            <a:prstDash val="solid"/>
          </a:ln>
        </p:spPr>
      </p:sp>
      <p:sp>
        <p:nvSpPr>
          <p:cNvPr id="7" name="Label ceramic sphere"/>
          <p:cNvSpPr txBox="1"/>
          <p:nvPr/>
        </p:nvSpPr>
        <p:spPr>
          <a:xfrm>
            <a:off x="457200" y="5257800"/>
            <a:ext cx="5134708" cy="320040"/>
          </a:xfrm>
          <a:prstGeom prst="rect">
            <a:avLst/>
          </a:prstGeom>
          <a:noFill/>
          <a:ln/>
        </p:spPr>
        <p:txBody>
          <a:bodyPr wrap="square" lIns="0" tIns="0" rIns="0" bIns="0" rtlCol="0" anchor="t"/>
          <a:lstStyle/>
          <a:p>
            <a:pPr algn="l" indent="0" marL="0">
              <a:buNone/>
            </a:pPr>
            <a:r>
              <a:rPr lang="en-US" sz="1600" b="1" dirty="0">
                <a:solidFill>
                  <a:schemeClr val="tx2"/>
                </a:solidFill>
              </a:rPr>
              <a:t>Aluminum sphere B: thread cut at the pole</a:t>
            </a:r>
            <a:endParaRPr lang="en-US" sz="1600" dirty="0"/>
          </a:p>
        </p:txBody>
      </p:sp>
      <p:sp>
        <p:nvSpPr>
          <p:cNvPr id="8" name="Label steel sphere"/>
          <p:cNvSpPr txBox="1"/>
          <p:nvPr/>
        </p:nvSpPr>
        <p:spPr>
          <a:xfrm>
            <a:off x="6747498" y="5257800"/>
            <a:ext cx="4986997" cy="320040"/>
          </a:xfrm>
          <a:prstGeom prst="rect">
            <a:avLst/>
          </a:prstGeom>
          <a:noFill/>
          <a:ln/>
        </p:spPr>
        <p:txBody>
          <a:bodyPr wrap="square" lIns="0" tIns="0" rIns="0" bIns="0" rtlCol="0" anchor="t"/>
          <a:lstStyle/>
          <a:p>
            <a:pPr algn="l" indent="0" marL="0">
              <a:buNone/>
            </a:pPr>
            <a:r>
              <a:rPr lang="en-US" sz="1600" b="1" dirty="0">
                <a:solidFill>
                  <a:schemeClr val="tx2"/>
                </a:solidFill>
              </a:rPr>
              <a:t>Steel or ceramic alternative: bonded blind hole</a:t>
            </a:r>
            <a:endParaRPr lang="en-US" sz="1600" dirty="0"/>
          </a:p>
        </p:txBody>
      </p:sp>
      <p:sp>
        <p:nvSpPr>
          <p:cNvPr id="9" name="Figure caption"/>
          <p:cNvSpPr txBox="1"/>
          <p:nvPr/>
        </p:nvSpPr>
        <p:spPr>
          <a:xfrm>
            <a:off x="457200" y="5852160"/>
            <a:ext cx="11277295" cy="274320"/>
          </a:xfrm>
          <a:prstGeom prst="rect">
            <a:avLst/>
          </a:prstGeom>
          <a:noFill/>
          <a:ln/>
        </p:spPr>
        <p:txBody>
          <a:bodyPr wrap="square" lIns="0" tIns="0" rIns="0" bIns="0" rtlCol="0" anchor="b"/>
          <a:lstStyle/>
          <a:p>
            <a:pPr algn="l" indent="0" marL="0">
              <a:buNone/>
            </a:pPr>
            <a:r>
              <a:rPr lang="en-US" sz="1200" dirty="0">
                <a:solidFill>
                  <a:schemeClr val="accent5"/>
                </a:solidFill>
              </a:rPr>
              <a:t>The hole need not be exactly radial: the tool-center-point routine measures the center wherever it ends up.</a:t>
            </a:r>
            <a:endParaRPr lang="en-US" sz="12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The board must stay flat after finishing and mounting</a:t>
            </a:r>
            <a:endParaRPr lang="en-US" sz="3400" dirty="0"/>
          </a:p>
        </p:txBody>
      </p:sp>
      <p:pic>
        <p:nvPicPr>
          <p:cNvPr id="3" name="Board on its adapter" descr="Board on its adapter">    </p:cNvPr>
          <p:cNvPicPr>
            <a:picLocks noChangeAspect="1"/>
          </p:cNvPicPr>
          <p:nvPr/>
        </p:nvPicPr>
        <p:blipFill>
          <a:blip r:embed="rId1"/>
          <a:stretch>
            <a:fillRect/>
          </a:stretch>
        </p:blipFill>
        <p:spPr>
          <a:xfrm>
            <a:off x="457200" y="1417320"/>
            <a:ext cx="4335697" cy="4069080"/>
          </a:xfrm>
          <a:prstGeom prst="rect">
            <a:avLst/>
          </a:prstGeom>
        </p:spPr>
      </p:pic>
      <p:sp>
        <p:nvSpPr>
          <p:cNvPr id="4" name="Board on its adapter frame"/>
          <p:cNvSpPr/>
          <p:nvPr/>
        </p:nvSpPr>
        <p:spPr>
          <a:xfrm>
            <a:off x="457200" y="1417320"/>
            <a:ext cx="4335697" cy="4069080"/>
          </a:xfrm>
          <a:prstGeom prst="rect">
            <a:avLst/>
          </a:prstGeom>
          <a:ln w="12700">
            <a:solidFill>
              <a:schemeClr val="accent6"/>
            </a:solidFill>
            <a:prstDash val="solid"/>
          </a:ln>
        </p:spPr>
      </p:sp>
      <p:sp>
        <p:nvSpPr>
          <p:cNvPr id="5" name="Figure caption"/>
          <p:cNvSpPr txBox="1"/>
          <p:nvPr/>
        </p:nvSpPr>
        <p:spPr>
          <a:xfrm>
            <a:off x="457200" y="5669280"/>
            <a:ext cx="4335697" cy="457200"/>
          </a:xfrm>
          <a:prstGeom prst="rect">
            <a:avLst/>
          </a:prstGeom>
          <a:noFill/>
          <a:ln/>
        </p:spPr>
        <p:txBody>
          <a:bodyPr wrap="square" lIns="0" tIns="0" rIns="0" bIns="0" rtlCol="0" anchor="t"/>
          <a:lstStyle/>
          <a:p>
            <a:pPr algn="l" indent="0" marL="0">
              <a:buNone/>
            </a:pPr>
            <a:r>
              <a:rPr lang="en-US" sz="1200" dirty="0">
                <a:solidFill>
                  <a:schemeClr val="accent5"/>
                </a:solidFill>
              </a:rPr>
              <a:t>Board on its adapter. The runout and frame checks shown here are done at setup (deck 2).</a:t>
            </a:r>
            <a:endParaRPr lang="en-US" sz="1200" dirty="0"/>
          </a:p>
        </p:txBody>
      </p:sp>
      <p:sp>
        <p:nvSpPr>
          <p:cNvPr id="6" name="Board part 1 card"/>
          <p:cNvSpPr/>
          <p:nvPr/>
        </p:nvSpPr>
        <p:spPr>
          <a:xfrm>
            <a:off x="5067217" y="1417320"/>
            <a:ext cx="6667278" cy="919316"/>
          </a:xfrm>
          <a:prstGeom prst="roundRect">
            <a:avLst>
              <a:gd name="adj" fmla="val 11936"/>
            </a:avLst>
          </a:prstGeom>
          <a:solidFill>
            <a:schemeClr val="bg2"/>
          </a:solidFill>
          <a:ln/>
        </p:spPr>
      </p:sp>
      <p:sp>
        <p:nvSpPr>
          <p:cNvPr id="7" name="Board part 1 icon circle"/>
          <p:cNvSpPr/>
          <p:nvPr/>
        </p:nvSpPr>
        <p:spPr>
          <a:xfrm>
            <a:off x="5295817" y="1556938"/>
            <a:ext cx="640080" cy="640080"/>
          </a:xfrm>
          <a:prstGeom prst="ellipse">
            <a:avLst/>
          </a:prstGeom>
          <a:solidFill>
            <a:schemeClr val="accent2"/>
          </a:solidFill>
          <a:ln/>
        </p:spPr>
      </p:sp>
      <p:pic>
        <p:nvPicPr>
          <p:cNvPr id="8" name="Board part 1 icon glyph" descr="board icon">    </p:cNvPr>
          <p:cNvPicPr>
            <a:picLocks noChangeAspect="1"/>
          </p:cNvPicPr>
          <p:nvPr/>
        </p:nvPicPr>
        <p:blipFill>
          <a:blip r:embed="rId2"/>
          <a:stretch>
            <a:fillRect/>
          </a:stretch>
        </p:blipFill>
        <p:spPr>
          <a:xfrm>
            <a:off x="5455837" y="1716958"/>
            <a:ext cx="320040" cy="320040"/>
          </a:xfrm>
          <a:prstGeom prst="rect">
            <a:avLst/>
          </a:prstGeom>
        </p:spPr>
      </p:pic>
      <p:sp>
        <p:nvSpPr>
          <p:cNvPr id="9" name="Board part 1 text"/>
          <p:cNvSpPr txBox="1"/>
          <p:nvPr/>
        </p:nvSpPr>
        <p:spPr>
          <a:xfrm>
            <a:off x="6118777" y="1508760"/>
            <a:ext cx="5387118" cy="736436"/>
          </a:xfrm>
          <a:prstGeom prst="rect">
            <a:avLst/>
          </a:prstGeom>
          <a:noFill/>
          <a:ln/>
        </p:spPr>
        <p:txBody>
          <a:bodyPr wrap="square" lIns="0" tIns="0" rIns="0" bIns="0" rtlCol="0" anchor="ctr"/>
          <a:lstStyle/>
          <a:p>
            <a:pPr algn="l" indent="0" marL="0">
              <a:buNone/>
            </a:pPr>
            <a:r>
              <a:rPr lang="en-US" sz="1800" b="1" dirty="0">
                <a:solidFill>
                  <a:schemeClr val="tx2"/>
                </a:solidFill>
              </a:rPr>
              <a:t>Plate</a:t>
            </a:r>
            <a:endParaRPr lang="en-US" sz="1600" dirty="0"/>
          </a:p>
          <a:p>
            <a:pPr algn="l" indent="0" marL="0">
              <a:buNone/>
            </a:pPr>
            <a:r>
              <a:rPr lang="en-US" sz="1400" dirty="0">
                <a:solidFill>
                  <a:schemeClr val="tx1"/>
                </a:solidFill>
              </a:rPr>
              <a:t>200 x 150 mm, at least 6 mm thick; ground aluminum tooling plate or float glass</a:t>
            </a:r>
            <a:endParaRPr lang="en-US" sz="1600" dirty="0"/>
          </a:p>
        </p:txBody>
      </p:sp>
      <p:sp>
        <p:nvSpPr>
          <p:cNvPr id="10" name="Board part 2 card"/>
          <p:cNvSpPr/>
          <p:nvPr/>
        </p:nvSpPr>
        <p:spPr>
          <a:xfrm>
            <a:off x="5067217" y="2610956"/>
            <a:ext cx="6667278" cy="919316"/>
          </a:xfrm>
          <a:prstGeom prst="roundRect">
            <a:avLst>
              <a:gd name="adj" fmla="val 11936"/>
            </a:avLst>
          </a:prstGeom>
          <a:solidFill>
            <a:schemeClr val="bg2"/>
          </a:solidFill>
          <a:ln/>
        </p:spPr>
      </p:sp>
      <p:sp>
        <p:nvSpPr>
          <p:cNvPr id="11" name="Board part 2 icon circle"/>
          <p:cNvSpPr/>
          <p:nvPr/>
        </p:nvSpPr>
        <p:spPr>
          <a:xfrm>
            <a:off x="5295817" y="2750574"/>
            <a:ext cx="640080" cy="640080"/>
          </a:xfrm>
          <a:prstGeom prst="ellipse">
            <a:avLst/>
          </a:prstGeom>
          <a:solidFill>
            <a:schemeClr val="accent2"/>
          </a:solidFill>
          <a:ln/>
        </p:spPr>
      </p:sp>
      <p:pic>
        <p:nvPicPr>
          <p:cNvPr id="12" name="Board part 2 icon glyph" descr="paint icon">    </p:cNvPr>
          <p:cNvPicPr>
            <a:picLocks noChangeAspect="1"/>
          </p:cNvPicPr>
          <p:nvPr/>
        </p:nvPicPr>
        <p:blipFill>
          <a:blip r:embed="rId3"/>
          <a:stretch>
            <a:fillRect/>
          </a:stretch>
        </p:blipFill>
        <p:spPr>
          <a:xfrm>
            <a:off x="5455837" y="2910594"/>
            <a:ext cx="320040" cy="320040"/>
          </a:xfrm>
          <a:prstGeom prst="rect">
            <a:avLst/>
          </a:prstGeom>
        </p:spPr>
      </p:pic>
      <p:sp>
        <p:nvSpPr>
          <p:cNvPr id="13" name="Board part 2 text"/>
          <p:cNvSpPr txBox="1"/>
          <p:nvPr/>
        </p:nvSpPr>
        <p:spPr>
          <a:xfrm>
            <a:off x="6118777" y="2702396"/>
            <a:ext cx="5387118" cy="736436"/>
          </a:xfrm>
          <a:prstGeom prst="rect">
            <a:avLst/>
          </a:prstGeom>
          <a:noFill/>
          <a:ln/>
        </p:spPr>
        <p:txBody>
          <a:bodyPr wrap="square" lIns="0" tIns="0" rIns="0" bIns="0" rtlCol="0" anchor="ctr"/>
          <a:lstStyle/>
          <a:p>
            <a:pPr algn="l" indent="0" marL="0">
              <a:buNone/>
            </a:pPr>
            <a:r>
              <a:rPr lang="en-US" sz="1800" b="1" dirty="0">
                <a:solidFill>
                  <a:schemeClr val="tx2"/>
                </a:solidFill>
              </a:rPr>
              <a:t>Finish</a:t>
            </a:r>
            <a:endParaRPr lang="en-US" sz="1600" dirty="0"/>
          </a:p>
          <a:p>
            <a:pPr algn="l" indent="0" marL="0">
              <a:buNone/>
            </a:pPr>
            <a:r>
              <a:rPr lang="en-US" sz="1400" dirty="0">
                <a:solidFill>
                  <a:schemeClr val="tx1"/>
                </a:solidFill>
              </a:rPr>
              <a:t>Matte light gray paint on the front face; do not bead-blast a plate thinner than about 10 mm, it bows</a:t>
            </a:r>
            <a:endParaRPr lang="en-US" sz="1600" dirty="0"/>
          </a:p>
        </p:txBody>
      </p:sp>
      <p:sp>
        <p:nvSpPr>
          <p:cNvPr id="14" name="Board part 3 card"/>
          <p:cNvSpPr/>
          <p:nvPr/>
        </p:nvSpPr>
        <p:spPr>
          <a:xfrm>
            <a:off x="5067217" y="3804592"/>
            <a:ext cx="6667278" cy="919316"/>
          </a:xfrm>
          <a:prstGeom prst="roundRect">
            <a:avLst>
              <a:gd name="adj" fmla="val 11936"/>
            </a:avLst>
          </a:prstGeom>
          <a:solidFill>
            <a:schemeClr val="bg2"/>
          </a:solidFill>
          <a:ln/>
        </p:spPr>
      </p:sp>
      <p:sp>
        <p:nvSpPr>
          <p:cNvPr id="15" name="Board part 3 icon circle"/>
          <p:cNvSpPr/>
          <p:nvPr/>
        </p:nvSpPr>
        <p:spPr>
          <a:xfrm>
            <a:off x="5295817" y="3944210"/>
            <a:ext cx="640080" cy="640080"/>
          </a:xfrm>
          <a:prstGeom prst="ellipse">
            <a:avLst/>
          </a:prstGeom>
          <a:solidFill>
            <a:schemeClr val="accent2"/>
          </a:solidFill>
          <a:ln/>
        </p:spPr>
      </p:sp>
      <p:pic>
        <p:nvPicPr>
          <p:cNvPr id="16" name="Board part 3 icon glyph" descr="ruler icon">    </p:cNvPr>
          <p:cNvPicPr>
            <a:picLocks noChangeAspect="1"/>
          </p:cNvPicPr>
          <p:nvPr/>
        </p:nvPicPr>
        <p:blipFill>
          <a:blip r:embed="rId4"/>
          <a:stretch>
            <a:fillRect/>
          </a:stretch>
        </p:blipFill>
        <p:spPr>
          <a:xfrm>
            <a:off x="5455837" y="4104230"/>
            <a:ext cx="320040" cy="320040"/>
          </a:xfrm>
          <a:prstGeom prst="rect">
            <a:avLst/>
          </a:prstGeom>
        </p:spPr>
      </p:pic>
      <p:sp>
        <p:nvSpPr>
          <p:cNvPr id="17" name="Board part 3 text"/>
          <p:cNvSpPr txBox="1"/>
          <p:nvPr/>
        </p:nvSpPr>
        <p:spPr>
          <a:xfrm>
            <a:off x="6118777" y="3896032"/>
            <a:ext cx="5387118" cy="736436"/>
          </a:xfrm>
          <a:prstGeom prst="rect">
            <a:avLst/>
          </a:prstGeom>
          <a:noFill/>
          <a:ln/>
        </p:spPr>
        <p:txBody>
          <a:bodyPr wrap="square" lIns="0" tIns="0" rIns="0" bIns="0" rtlCol="0" anchor="ctr"/>
          <a:lstStyle/>
          <a:p>
            <a:pPr algn="l" indent="0" marL="0">
              <a:buNone/>
            </a:pPr>
            <a:r>
              <a:rPr lang="en-US" sz="1800" b="1" dirty="0">
                <a:solidFill>
                  <a:schemeClr val="tx2"/>
                </a:solidFill>
              </a:rPr>
              <a:t>Flatness</a:t>
            </a:r>
            <a:endParaRPr lang="en-US" sz="1600" dirty="0"/>
          </a:p>
          <a:p>
            <a:pPr algn="l" indent="0" marL="0">
              <a:buNone/>
            </a:pPr>
            <a:r>
              <a:rPr lang="en-US" sz="1400" dirty="0">
                <a:solidFill>
                  <a:schemeClr val="tx1"/>
                </a:solidFill>
              </a:rPr>
              <a:t>0.05 mm, checked after painting and mounting, not before; keep the flatness report</a:t>
            </a:r>
            <a:endParaRPr lang="en-US" sz="1600" dirty="0"/>
          </a:p>
        </p:txBody>
      </p:sp>
      <p:sp>
        <p:nvSpPr>
          <p:cNvPr id="18" name="Board part 4 card"/>
          <p:cNvSpPr/>
          <p:nvPr/>
        </p:nvSpPr>
        <p:spPr>
          <a:xfrm>
            <a:off x="5067217" y="4998228"/>
            <a:ext cx="6667278" cy="1128252"/>
          </a:xfrm>
          <a:prstGeom prst="roundRect">
            <a:avLst>
              <a:gd name="adj" fmla="val 9725"/>
            </a:avLst>
          </a:prstGeom>
          <a:solidFill>
            <a:schemeClr val="bg2"/>
          </a:solidFill>
          <a:ln/>
        </p:spPr>
      </p:sp>
      <p:sp>
        <p:nvSpPr>
          <p:cNvPr id="19" name="Board part 4 icon circle"/>
          <p:cNvSpPr/>
          <p:nvPr/>
        </p:nvSpPr>
        <p:spPr>
          <a:xfrm>
            <a:off x="5295817" y="5242314"/>
            <a:ext cx="640080" cy="640080"/>
          </a:xfrm>
          <a:prstGeom prst="ellipse">
            <a:avLst/>
          </a:prstGeom>
          <a:solidFill>
            <a:schemeClr val="accent2"/>
          </a:solidFill>
          <a:ln/>
        </p:spPr>
      </p:sp>
      <p:pic>
        <p:nvPicPr>
          <p:cNvPr id="20" name="Board part 4 icon glyph" descr="wrench icon">    </p:cNvPr>
          <p:cNvPicPr>
            <a:picLocks noChangeAspect="1"/>
          </p:cNvPicPr>
          <p:nvPr/>
        </p:nvPicPr>
        <p:blipFill>
          <a:blip r:embed="rId5"/>
          <a:stretch>
            <a:fillRect/>
          </a:stretch>
        </p:blipFill>
        <p:spPr>
          <a:xfrm>
            <a:off x="5455837" y="5402334"/>
            <a:ext cx="320040" cy="320040"/>
          </a:xfrm>
          <a:prstGeom prst="rect">
            <a:avLst/>
          </a:prstGeom>
        </p:spPr>
      </p:pic>
      <p:sp>
        <p:nvSpPr>
          <p:cNvPr id="21" name="Board part 4 text"/>
          <p:cNvSpPr txBox="1"/>
          <p:nvPr/>
        </p:nvSpPr>
        <p:spPr>
          <a:xfrm>
            <a:off x="6118777" y="5089668"/>
            <a:ext cx="5387118" cy="945372"/>
          </a:xfrm>
          <a:prstGeom prst="rect">
            <a:avLst/>
          </a:prstGeom>
          <a:noFill/>
          <a:ln/>
        </p:spPr>
        <p:txBody>
          <a:bodyPr wrap="square" lIns="0" tIns="0" rIns="0" bIns="0" rtlCol="0" anchor="ctr"/>
          <a:lstStyle/>
          <a:p>
            <a:pPr algn="l" indent="0" marL="0">
              <a:buNone/>
            </a:pPr>
            <a:r>
              <a:rPr lang="en-US" sz="1800" b="1" dirty="0">
                <a:solidFill>
                  <a:schemeClr val="tx2"/>
                </a:solidFill>
              </a:rPr>
              <a:t>Adapter</a:t>
            </a:r>
            <a:endParaRPr lang="en-US" sz="1600" dirty="0"/>
          </a:p>
          <a:p>
            <a:pPr algn="l" indent="0" marL="0">
              <a:buNone/>
            </a:pPr>
            <a:r>
              <a:rPr lang="en-US" sz="1400" dirty="0">
                <a:solidFill>
                  <a:schemeClr val="tx1"/>
                </a:solidFill>
              </a:rPr>
              <a:t>Three support pads, three edge pins and three clamp fingers hold the board square to the flange axis, centered on it, and in the same place after a remount</a:t>
            </a:r>
            <a:endParaRPr lang="en-US" sz="16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A three-ball nest holds the sphere at a fixed center</a:t>
            </a:r>
            <a:endParaRPr lang="en-US" sz="3400" dirty="0"/>
          </a:p>
        </p:txBody>
      </p:sp>
      <p:sp>
        <p:nvSpPr>
          <p:cNvPr id="3" name="Nest diagram card"/>
          <p:cNvSpPr/>
          <p:nvPr/>
        </p:nvSpPr>
        <p:spPr>
          <a:xfrm>
            <a:off x="457200" y="1417320"/>
            <a:ext cx="6035040" cy="4709160"/>
          </a:xfrm>
          <a:prstGeom prst="roundRect">
            <a:avLst>
              <a:gd name="adj" fmla="val 2330"/>
            </a:avLst>
          </a:prstGeom>
          <a:solidFill>
            <a:schemeClr val="bg1"/>
          </a:solidFill>
          <a:ln w="12700">
            <a:solidFill>
              <a:schemeClr val="accent6"/>
            </a:solidFill>
            <a:prstDash val="solid"/>
          </a:ln>
        </p:spPr>
      </p:sp>
      <p:sp>
        <p:nvSpPr>
          <p:cNvPr id="4" name="Side view base plate"/>
          <p:cNvSpPr/>
          <p:nvPr/>
        </p:nvSpPr>
        <p:spPr>
          <a:xfrm>
            <a:off x="685800" y="4630801"/>
            <a:ext cx="2651760" cy="256032"/>
          </a:xfrm>
          <a:prstGeom prst="rect">
            <a:avLst/>
          </a:prstGeom>
          <a:solidFill>
            <a:schemeClr val="accent3"/>
          </a:solidFill>
          <a:ln/>
        </p:spPr>
      </p:sp>
      <p:sp>
        <p:nvSpPr>
          <p:cNvPr id="5" name="Side view ball 1"/>
          <p:cNvSpPr/>
          <p:nvPr/>
        </p:nvSpPr>
        <p:spPr>
          <a:xfrm>
            <a:off x="1167197" y="4082161"/>
            <a:ext cx="548640" cy="548640"/>
          </a:xfrm>
          <a:prstGeom prst="ellipse">
            <a:avLst/>
          </a:prstGeom>
          <a:solidFill>
            <a:schemeClr val="accent5"/>
          </a:solidFill>
          <a:ln w="19050">
            <a:solidFill>
              <a:schemeClr val="accent5"/>
            </a:solidFill>
            <a:prstDash val="solid"/>
          </a:ln>
        </p:spPr>
      </p:sp>
      <p:sp>
        <p:nvSpPr>
          <p:cNvPr id="6" name="Side view ball 2"/>
          <p:cNvSpPr/>
          <p:nvPr/>
        </p:nvSpPr>
        <p:spPr>
          <a:xfrm>
            <a:off x="2307523" y="4082161"/>
            <a:ext cx="548640" cy="548640"/>
          </a:xfrm>
          <a:prstGeom prst="ellipse">
            <a:avLst/>
          </a:prstGeom>
          <a:solidFill>
            <a:schemeClr val="accent5"/>
          </a:solidFill>
          <a:ln w="19050">
            <a:solidFill>
              <a:schemeClr val="accent5"/>
            </a:solidFill>
            <a:prstDash val="solid"/>
          </a:ln>
        </p:spPr>
      </p:sp>
      <p:sp>
        <p:nvSpPr>
          <p:cNvPr id="7" name="Side view sphere"/>
          <p:cNvSpPr/>
          <p:nvPr/>
        </p:nvSpPr>
        <p:spPr>
          <a:xfrm>
            <a:off x="960120" y="2154047"/>
            <a:ext cx="2103120" cy="2103120"/>
          </a:xfrm>
          <a:prstGeom prst="ellipse">
            <a:avLst/>
          </a:prstGeom>
          <a:solidFill>
            <a:schemeClr val="bg2"/>
          </a:solidFill>
          <a:ln w="19050">
            <a:solidFill>
              <a:schemeClr val="accent5"/>
            </a:solidFill>
            <a:prstDash val="solid"/>
          </a:ln>
        </p:spPr>
      </p:sp>
      <p:sp>
        <p:nvSpPr>
          <p:cNvPr id="8" name="Side view sphere center cross horizontal"/>
          <p:cNvSpPr/>
          <p:nvPr/>
        </p:nvSpPr>
        <p:spPr>
          <a:xfrm>
            <a:off x="1828800" y="3205607"/>
            <a:ext cx="365760" cy="0"/>
          </a:xfrm>
          <a:prstGeom prst="line">
            <a:avLst/>
          </a:prstGeom>
          <a:noFill/>
          <a:ln w="38100">
            <a:solidFill>
              <a:schemeClr val="accent4"/>
            </a:solidFill>
            <a:prstDash val="solid"/>
          </a:ln>
        </p:spPr>
      </p:sp>
      <p:sp>
        <p:nvSpPr>
          <p:cNvPr id="9" name="Side view sphere center cross vertical"/>
          <p:cNvSpPr/>
          <p:nvPr/>
        </p:nvSpPr>
        <p:spPr>
          <a:xfrm>
            <a:off x="2011680" y="3022727"/>
            <a:ext cx="0" cy="365760"/>
          </a:xfrm>
          <a:prstGeom prst="line">
            <a:avLst/>
          </a:prstGeom>
          <a:noFill/>
          <a:ln w="38100">
            <a:solidFill>
              <a:schemeClr val="accent4"/>
            </a:solidFill>
            <a:prstDash val="solid"/>
          </a:ln>
        </p:spPr>
      </p:sp>
      <p:sp>
        <p:nvSpPr>
          <p:cNvPr id="10" name="Side view label"/>
          <p:cNvSpPr txBox="1"/>
          <p:nvPr/>
        </p:nvSpPr>
        <p:spPr>
          <a:xfrm>
            <a:off x="685800" y="5069713"/>
            <a:ext cx="2651760" cy="320040"/>
          </a:xfrm>
          <a:prstGeom prst="rect">
            <a:avLst/>
          </a:prstGeom>
          <a:noFill/>
          <a:ln/>
        </p:spPr>
        <p:txBody>
          <a:bodyPr wrap="square" lIns="0" tIns="0" rIns="0" bIns="0" rtlCol="0" anchor="t"/>
          <a:lstStyle/>
          <a:p>
            <a:pPr algn="ctr" indent="0" marL="0">
              <a:buNone/>
            </a:pPr>
            <a:r>
              <a:rPr lang="en-US" sz="1400" b="1" dirty="0">
                <a:solidFill>
                  <a:schemeClr val="accent5"/>
                </a:solidFill>
              </a:rPr>
              <a:t>Side view</a:t>
            </a:r>
            <a:endParaRPr lang="en-US" sz="1400" dirty="0"/>
          </a:p>
        </p:txBody>
      </p:sp>
      <p:sp>
        <p:nvSpPr>
          <p:cNvPr id="11" name="Top view base outline"/>
          <p:cNvSpPr/>
          <p:nvPr/>
        </p:nvSpPr>
        <p:spPr>
          <a:xfrm>
            <a:off x="3611880" y="2235073"/>
            <a:ext cx="2651760" cy="2651760"/>
          </a:xfrm>
          <a:prstGeom prst="roundRect">
            <a:avLst>
              <a:gd name="adj" fmla="val 2759"/>
            </a:avLst>
          </a:prstGeom>
          <a:solidFill>
            <a:schemeClr val="accent6"/>
          </a:solidFill>
          <a:ln w="19050">
            <a:solidFill>
              <a:schemeClr val="accent3"/>
            </a:solidFill>
            <a:prstDash val="solid"/>
          </a:ln>
        </p:spPr>
      </p:sp>
      <p:sp>
        <p:nvSpPr>
          <p:cNvPr id="12" name="Top view ball 1"/>
          <p:cNvSpPr/>
          <p:nvPr/>
        </p:nvSpPr>
        <p:spPr>
          <a:xfrm>
            <a:off x="4663440" y="2628265"/>
            <a:ext cx="548640" cy="548640"/>
          </a:xfrm>
          <a:prstGeom prst="ellipse">
            <a:avLst/>
          </a:prstGeom>
          <a:solidFill>
            <a:schemeClr val="accent5"/>
          </a:solidFill>
          <a:ln w="19050">
            <a:solidFill>
              <a:schemeClr val="accent5"/>
            </a:solidFill>
            <a:prstDash val="solid"/>
          </a:ln>
        </p:spPr>
      </p:sp>
      <p:sp>
        <p:nvSpPr>
          <p:cNvPr id="13" name="Top view ball 2"/>
          <p:cNvSpPr/>
          <p:nvPr/>
        </p:nvSpPr>
        <p:spPr>
          <a:xfrm>
            <a:off x="5233603" y="3615817"/>
            <a:ext cx="548640" cy="548640"/>
          </a:xfrm>
          <a:prstGeom prst="ellipse">
            <a:avLst/>
          </a:prstGeom>
          <a:solidFill>
            <a:schemeClr val="accent5"/>
          </a:solidFill>
          <a:ln w="19050">
            <a:solidFill>
              <a:schemeClr val="accent5"/>
            </a:solidFill>
            <a:prstDash val="solid"/>
          </a:ln>
        </p:spPr>
      </p:sp>
      <p:sp>
        <p:nvSpPr>
          <p:cNvPr id="14" name="Top view ball 3"/>
          <p:cNvSpPr/>
          <p:nvPr/>
        </p:nvSpPr>
        <p:spPr>
          <a:xfrm>
            <a:off x="4093277" y="3615817"/>
            <a:ext cx="548640" cy="548640"/>
          </a:xfrm>
          <a:prstGeom prst="ellipse">
            <a:avLst/>
          </a:prstGeom>
          <a:solidFill>
            <a:schemeClr val="accent5"/>
          </a:solidFill>
          <a:ln w="19050">
            <a:solidFill>
              <a:schemeClr val="accent5"/>
            </a:solidFill>
            <a:prstDash val="solid"/>
          </a:ln>
        </p:spPr>
      </p:sp>
      <p:sp>
        <p:nvSpPr>
          <p:cNvPr id="15" name="Top view sphere outline"/>
          <p:cNvSpPr/>
          <p:nvPr/>
        </p:nvSpPr>
        <p:spPr>
          <a:xfrm>
            <a:off x="3886200" y="2509393"/>
            <a:ext cx="2103120" cy="2103120"/>
          </a:xfrm>
          <a:prstGeom prst="ellipse">
            <a:avLst/>
          </a:prstGeom>
          <a:ln w="25400">
            <a:solidFill>
              <a:schemeClr val="tx2"/>
            </a:solidFill>
            <a:prstDash val="dash"/>
          </a:ln>
        </p:spPr>
      </p:sp>
      <p:sp>
        <p:nvSpPr>
          <p:cNvPr id="16" name="Top view sphere center cross horizontal"/>
          <p:cNvSpPr/>
          <p:nvPr/>
        </p:nvSpPr>
        <p:spPr>
          <a:xfrm>
            <a:off x="4754880" y="3560953"/>
            <a:ext cx="365760" cy="0"/>
          </a:xfrm>
          <a:prstGeom prst="line">
            <a:avLst/>
          </a:prstGeom>
          <a:noFill/>
          <a:ln w="38100">
            <a:solidFill>
              <a:schemeClr val="accent4"/>
            </a:solidFill>
            <a:prstDash val="solid"/>
          </a:ln>
        </p:spPr>
      </p:sp>
      <p:sp>
        <p:nvSpPr>
          <p:cNvPr id="17" name="Top view sphere center cross vertical"/>
          <p:cNvSpPr/>
          <p:nvPr/>
        </p:nvSpPr>
        <p:spPr>
          <a:xfrm>
            <a:off x="4937760" y="3378073"/>
            <a:ext cx="0" cy="365760"/>
          </a:xfrm>
          <a:prstGeom prst="line">
            <a:avLst/>
          </a:prstGeom>
          <a:noFill/>
          <a:ln w="38100">
            <a:solidFill>
              <a:schemeClr val="accent4"/>
            </a:solidFill>
            <a:prstDash val="solid"/>
          </a:ln>
        </p:spPr>
      </p:sp>
      <p:sp>
        <p:nvSpPr>
          <p:cNvPr id="18" name="Top view label"/>
          <p:cNvSpPr txBox="1"/>
          <p:nvPr/>
        </p:nvSpPr>
        <p:spPr>
          <a:xfrm>
            <a:off x="3611880" y="5069713"/>
            <a:ext cx="2651760" cy="320040"/>
          </a:xfrm>
          <a:prstGeom prst="rect">
            <a:avLst/>
          </a:prstGeom>
          <a:noFill/>
          <a:ln/>
        </p:spPr>
        <p:txBody>
          <a:bodyPr wrap="square" lIns="0" tIns="0" rIns="0" bIns="0" rtlCol="0" anchor="t"/>
          <a:lstStyle/>
          <a:p>
            <a:pPr algn="ctr" indent="0" marL="0">
              <a:buNone/>
            </a:pPr>
            <a:r>
              <a:rPr lang="en-US" sz="1400" b="1" dirty="0">
                <a:solidFill>
                  <a:schemeClr val="accent5"/>
                </a:solidFill>
              </a:rPr>
              <a:t>Top view</a:t>
            </a:r>
            <a:endParaRPr lang="en-US" sz="1400" dirty="0"/>
          </a:p>
        </p:txBody>
      </p:sp>
      <p:sp>
        <p:nvSpPr>
          <p:cNvPr id="19" name="Nest point row 1 card"/>
          <p:cNvSpPr/>
          <p:nvPr/>
        </p:nvSpPr>
        <p:spPr>
          <a:xfrm>
            <a:off x="6766560" y="1417320"/>
            <a:ext cx="4967935" cy="971550"/>
          </a:xfrm>
          <a:prstGeom prst="roundRect">
            <a:avLst>
              <a:gd name="adj" fmla="val 11294"/>
            </a:avLst>
          </a:prstGeom>
          <a:solidFill>
            <a:schemeClr val="bg2"/>
          </a:solidFill>
          <a:ln/>
        </p:spPr>
      </p:sp>
      <p:sp>
        <p:nvSpPr>
          <p:cNvPr id="20" name="Nest point icon 1 circle"/>
          <p:cNvSpPr/>
          <p:nvPr/>
        </p:nvSpPr>
        <p:spPr>
          <a:xfrm>
            <a:off x="6949440" y="1697355"/>
            <a:ext cx="411480" cy="411480"/>
          </a:xfrm>
          <a:prstGeom prst="ellipse">
            <a:avLst/>
          </a:prstGeom>
          <a:solidFill>
            <a:schemeClr val="accent2"/>
          </a:solidFill>
          <a:ln/>
        </p:spPr>
      </p:sp>
      <p:pic>
        <p:nvPicPr>
          <p:cNvPr id="21" name="Nest point icon 1 glyph" descr="circle icon">    </p:cNvPr>
          <p:cNvPicPr>
            <a:picLocks noChangeAspect="1"/>
          </p:cNvPicPr>
          <p:nvPr/>
        </p:nvPicPr>
        <p:blipFill>
          <a:blip r:embed="rId1"/>
          <a:stretch>
            <a:fillRect/>
          </a:stretch>
        </p:blipFill>
        <p:spPr>
          <a:xfrm>
            <a:off x="7052310" y="1800225"/>
            <a:ext cx="205740" cy="205740"/>
          </a:xfrm>
          <a:prstGeom prst="rect">
            <a:avLst/>
          </a:prstGeom>
        </p:spPr>
      </p:pic>
      <p:sp>
        <p:nvSpPr>
          <p:cNvPr id="22" name="Nest point text 1"/>
          <p:cNvSpPr txBox="1"/>
          <p:nvPr/>
        </p:nvSpPr>
        <p:spPr>
          <a:xfrm>
            <a:off x="7543800" y="1417320"/>
            <a:ext cx="4007815" cy="971550"/>
          </a:xfrm>
          <a:prstGeom prst="rect">
            <a:avLst/>
          </a:prstGeom>
          <a:noFill/>
          <a:ln/>
        </p:spPr>
        <p:txBody>
          <a:bodyPr wrap="square" lIns="0" tIns="0" rIns="0" bIns="0" rtlCol="0" anchor="ctr"/>
          <a:lstStyle/>
          <a:p>
            <a:pPr algn="l" indent="0" marL="0">
              <a:buNone/>
            </a:pPr>
            <a:r>
              <a:rPr lang="en-US" sz="1600" dirty="0">
                <a:solidFill>
                  <a:schemeClr val="tx1"/>
                </a:solidFill>
              </a:rPr>
              <a:t>Three hardened balls, 24 mm diameter, bonded into pockets on a 60 mm circle in a 120 mm steel base</a:t>
            </a:r>
            <a:endParaRPr lang="en-US" sz="1600" dirty="0"/>
          </a:p>
        </p:txBody>
      </p:sp>
      <p:sp>
        <p:nvSpPr>
          <p:cNvPr id="23" name="Nest point row 2 card"/>
          <p:cNvSpPr/>
          <p:nvPr/>
        </p:nvSpPr>
        <p:spPr>
          <a:xfrm>
            <a:off x="6766560" y="2663190"/>
            <a:ext cx="4967935" cy="971550"/>
          </a:xfrm>
          <a:prstGeom prst="roundRect">
            <a:avLst>
              <a:gd name="adj" fmla="val 11294"/>
            </a:avLst>
          </a:prstGeom>
          <a:solidFill>
            <a:schemeClr val="bg2"/>
          </a:solidFill>
          <a:ln/>
        </p:spPr>
      </p:sp>
      <p:sp>
        <p:nvSpPr>
          <p:cNvPr id="24" name="Nest point icon 2 circle"/>
          <p:cNvSpPr/>
          <p:nvPr/>
        </p:nvSpPr>
        <p:spPr>
          <a:xfrm>
            <a:off x="6949440" y="2943225"/>
            <a:ext cx="411480" cy="411480"/>
          </a:xfrm>
          <a:prstGeom prst="ellipse">
            <a:avLst/>
          </a:prstGeom>
          <a:solidFill>
            <a:schemeClr val="accent2"/>
          </a:solidFill>
          <a:ln/>
        </p:spPr>
      </p:sp>
      <p:pic>
        <p:nvPicPr>
          <p:cNvPr id="25" name="Nest point icon 2 glyph" descr="check icon">    </p:cNvPr>
          <p:cNvPicPr>
            <a:picLocks noChangeAspect="1"/>
          </p:cNvPicPr>
          <p:nvPr/>
        </p:nvPicPr>
        <p:blipFill>
          <a:blip r:embed="rId2"/>
          <a:stretch>
            <a:fillRect/>
          </a:stretch>
        </p:blipFill>
        <p:spPr>
          <a:xfrm>
            <a:off x="7052310" y="3046095"/>
            <a:ext cx="205740" cy="205740"/>
          </a:xfrm>
          <a:prstGeom prst="rect">
            <a:avLst/>
          </a:prstGeom>
        </p:spPr>
      </p:pic>
      <p:sp>
        <p:nvSpPr>
          <p:cNvPr id="26" name="Nest point text 2"/>
          <p:cNvSpPr txBox="1"/>
          <p:nvPr/>
        </p:nvSpPr>
        <p:spPr>
          <a:xfrm>
            <a:off x="7543800" y="2663190"/>
            <a:ext cx="4007815" cy="971550"/>
          </a:xfrm>
          <a:prstGeom prst="rect">
            <a:avLst/>
          </a:prstGeom>
          <a:noFill/>
          <a:ln/>
        </p:spPr>
        <p:txBody>
          <a:bodyPr wrap="square" lIns="0" tIns="0" rIns="0" bIns="0" rtlCol="0" anchor="ctr"/>
          <a:lstStyle/>
          <a:p>
            <a:pPr algn="l" indent="0" marL="0">
              <a:buNone/>
            </a:pPr>
            <a:r>
              <a:rPr lang="en-US" sz="1600" dirty="0">
                <a:solidFill>
                  <a:schemeClr val="tx1"/>
                </a:solidFill>
              </a:rPr>
              <a:t>Ordinary grade-25 bearing balls are good enough: the nest's quality comes from the balls being rigidly fixed</a:t>
            </a:r>
            <a:endParaRPr lang="en-US" sz="1600" dirty="0"/>
          </a:p>
        </p:txBody>
      </p:sp>
      <p:sp>
        <p:nvSpPr>
          <p:cNvPr id="27" name="Nest point row 3 card"/>
          <p:cNvSpPr/>
          <p:nvPr/>
        </p:nvSpPr>
        <p:spPr>
          <a:xfrm>
            <a:off x="6766560" y="3909060"/>
            <a:ext cx="4967935" cy="971550"/>
          </a:xfrm>
          <a:prstGeom prst="roundRect">
            <a:avLst>
              <a:gd name="adj" fmla="val 11294"/>
            </a:avLst>
          </a:prstGeom>
          <a:solidFill>
            <a:schemeClr val="bg2"/>
          </a:solidFill>
          <a:ln/>
        </p:spPr>
      </p:sp>
      <p:sp>
        <p:nvSpPr>
          <p:cNvPr id="28" name="Nest point icon 3 circle"/>
          <p:cNvSpPr/>
          <p:nvPr/>
        </p:nvSpPr>
        <p:spPr>
          <a:xfrm>
            <a:off x="6949440" y="4189095"/>
            <a:ext cx="411480" cy="411480"/>
          </a:xfrm>
          <a:prstGeom prst="ellipse">
            <a:avLst/>
          </a:prstGeom>
          <a:solidFill>
            <a:schemeClr val="accent2"/>
          </a:solidFill>
          <a:ln/>
        </p:spPr>
      </p:sp>
      <p:pic>
        <p:nvPicPr>
          <p:cNvPr id="29" name="Nest point icon 3 glyph" descr="tool icon">    </p:cNvPr>
          <p:cNvPicPr>
            <a:picLocks noChangeAspect="1"/>
          </p:cNvPicPr>
          <p:nvPr/>
        </p:nvPicPr>
        <p:blipFill>
          <a:blip r:embed="rId3"/>
          <a:stretch>
            <a:fillRect/>
          </a:stretch>
        </p:blipFill>
        <p:spPr>
          <a:xfrm>
            <a:off x="7052310" y="4291965"/>
            <a:ext cx="205740" cy="205740"/>
          </a:xfrm>
          <a:prstGeom prst="rect">
            <a:avLst/>
          </a:prstGeom>
        </p:spPr>
      </p:pic>
      <p:sp>
        <p:nvSpPr>
          <p:cNvPr id="30" name="Nest point text 3"/>
          <p:cNvSpPr txBox="1"/>
          <p:nvPr/>
        </p:nvSpPr>
        <p:spPr>
          <a:xfrm>
            <a:off x="7543800" y="3909060"/>
            <a:ext cx="4007815" cy="971550"/>
          </a:xfrm>
          <a:prstGeom prst="rect">
            <a:avLst/>
          </a:prstGeom>
          <a:noFill/>
          <a:ln/>
        </p:spPr>
        <p:txBody>
          <a:bodyPr wrap="square" lIns="0" tIns="0" rIns="0" bIns="0" rtlCol="0" anchor="ctr"/>
          <a:lstStyle/>
          <a:p>
            <a:pPr algn="l" indent="0" marL="0">
              <a:buNone/>
            </a:pPr>
            <a:r>
              <a:rPr lang="en-US" sz="1600" dirty="0">
                <a:solidFill>
                  <a:schemeClr val="tx1"/>
                </a:solidFill>
              </a:rPr>
              <a:t>Bolted to the table where the robot reaches with the wrist down and tilted about 40 degrees to either side</a:t>
            </a:r>
            <a:endParaRPr lang="en-US" sz="1600" dirty="0"/>
          </a:p>
        </p:txBody>
      </p:sp>
      <p:sp>
        <p:nvSpPr>
          <p:cNvPr id="31" name="Nest point row 4 card"/>
          <p:cNvSpPr/>
          <p:nvPr/>
        </p:nvSpPr>
        <p:spPr>
          <a:xfrm>
            <a:off x="6766560" y="5154930"/>
            <a:ext cx="4967935" cy="971550"/>
          </a:xfrm>
          <a:prstGeom prst="roundRect">
            <a:avLst>
              <a:gd name="adj" fmla="val 11294"/>
            </a:avLst>
          </a:prstGeom>
          <a:solidFill>
            <a:schemeClr val="bg2"/>
          </a:solidFill>
          <a:ln/>
        </p:spPr>
      </p:sp>
      <p:sp>
        <p:nvSpPr>
          <p:cNvPr id="32" name="Nest point icon 4 circle"/>
          <p:cNvSpPr/>
          <p:nvPr/>
        </p:nvSpPr>
        <p:spPr>
          <a:xfrm>
            <a:off x="6949440" y="5434965"/>
            <a:ext cx="411480" cy="411480"/>
          </a:xfrm>
          <a:prstGeom prst="ellipse">
            <a:avLst/>
          </a:prstGeom>
          <a:solidFill>
            <a:schemeClr val="accent2"/>
          </a:solidFill>
          <a:ln/>
        </p:spPr>
      </p:sp>
      <p:pic>
        <p:nvPicPr>
          <p:cNvPr id="33" name="Nest point icon 4 glyph" descr="clock icon">    </p:cNvPr>
          <p:cNvPicPr>
            <a:picLocks noChangeAspect="1"/>
          </p:cNvPicPr>
          <p:nvPr/>
        </p:nvPicPr>
        <p:blipFill>
          <a:blip r:embed="rId4"/>
          <a:stretch>
            <a:fillRect/>
          </a:stretch>
        </p:blipFill>
        <p:spPr>
          <a:xfrm>
            <a:off x="7052310" y="5537835"/>
            <a:ext cx="205740" cy="205740"/>
          </a:xfrm>
          <a:prstGeom prst="rect">
            <a:avLst/>
          </a:prstGeom>
        </p:spPr>
      </p:pic>
      <p:sp>
        <p:nvSpPr>
          <p:cNvPr id="34" name="Nest point text 4"/>
          <p:cNvSpPr txBox="1"/>
          <p:nvPr/>
        </p:nvSpPr>
        <p:spPr>
          <a:xfrm>
            <a:off x="7543800" y="5154930"/>
            <a:ext cx="4007815" cy="971550"/>
          </a:xfrm>
          <a:prstGeom prst="rect">
            <a:avLst/>
          </a:prstGeom>
          <a:noFill/>
          <a:ln/>
        </p:spPr>
        <p:txBody>
          <a:bodyPr wrap="square" lIns="0" tIns="0" rIns="0" bIns="0" rtlCol="0" anchor="ctr"/>
          <a:lstStyle/>
          <a:p>
            <a:pPr algn="l" indent="0" marL="0">
              <a:buNone/>
            </a:pPr>
            <a:r>
              <a:rPr lang="en-US" sz="1600" dirty="0">
                <a:solidFill>
                  <a:schemeClr val="tx1"/>
                </a:solidFill>
              </a:rPr>
              <a:t>Used once at setup, and after any remount of the adapter or stem</a:t>
            </a:r>
            <a:endParaRPr lang="en-US" sz="16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Checks before the fixtures go to the robot cell</a:t>
            </a:r>
            <a:endParaRPr lang="en-US" sz="3400" dirty="0"/>
          </a:p>
        </p:txBody>
      </p:sp>
      <p:pic>
        <p:nvPicPr>
          <p:cNvPr id="3" name="Checklist check 1" descr="check icon">    </p:cNvPr>
          <p:cNvPicPr>
            <a:picLocks noChangeAspect="1"/>
          </p:cNvPicPr>
          <p:nvPr/>
        </p:nvPicPr>
        <p:blipFill>
          <a:blip r:embed="rId1"/>
          <a:stretch>
            <a:fillRect/>
          </a:stretch>
        </p:blipFill>
        <p:spPr>
          <a:xfrm>
            <a:off x="457200" y="1469571"/>
            <a:ext cx="411480" cy="411480"/>
          </a:xfrm>
          <a:prstGeom prst="rect">
            <a:avLst/>
          </a:prstGeom>
        </p:spPr>
      </p:pic>
      <p:sp>
        <p:nvSpPr>
          <p:cNvPr id="4" name="Checklist text 1"/>
          <p:cNvSpPr txBox="1"/>
          <p:nvPr/>
        </p:nvSpPr>
        <p:spPr>
          <a:xfrm>
            <a:off x="1051560" y="1417320"/>
            <a:ext cx="7360920" cy="515983"/>
          </a:xfrm>
          <a:prstGeom prst="rect">
            <a:avLst/>
          </a:prstGeom>
          <a:noFill/>
          <a:ln/>
        </p:spPr>
        <p:txBody>
          <a:bodyPr wrap="square" lIns="0" tIns="0" rIns="0" bIns="0" rtlCol="0" anchor="ctr"/>
          <a:lstStyle/>
          <a:p>
            <a:pPr algn="l" indent="0" marL="0">
              <a:buNone/>
            </a:pPr>
            <a:r>
              <a:rPr lang="en-US" sz="1600" dirty="0">
                <a:solidFill>
                  <a:schemeClr val="tx1"/>
                </a:solidFill>
              </a:rPr>
              <a:t>Fabricator's inspection report received for the sphere and for SC1-02, SC1-04, SC1-05 and SC1-06</a:t>
            </a:r>
            <a:endParaRPr lang="en-US" sz="1600" dirty="0"/>
          </a:p>
        </p:txBody>
      </p:sp>
      <p:pic>
        <p:nvPicPr>
          <p:cNvPr id="5" name="Checklist check 2" descr="check icon">    </p:cNvPr>
          <p:cNvPicPr>
            <a:picLocks noChangeAspect="1"/>
          </p:cNvPicPr>
          <p:nvPr/>
        </p:nvPicPr>
        <p:blipFill>
          <a:blip r:embed="rId2"/>
          <a:stretch>
            <a:fillRect/>
          </a:stretch>
        </p:blipFill>
        <p:spPr>
          <a:xfrm>
            <a:off x="457200" y="2168434"/>
            <a:ext cx="411480" cy="411480"/>
          </a:xfrm>
          <a:prstGeom prst="rect">
            <a:avLst/>
          </a:prstGeom>
        </p:spPr>
      </p:pic>
      <p:sp>
        <p:nvSpPr>
          <p:cNvPr id="6" name="Checklist text 2"/>
          <p:cNvSpPr txBox="1"/>
          <p:nvPr/>
        </p:nvSpPr>
        <p:spPr>
          <a:xfrm>
            <a:off x="1051560" y="2116183"/>
            <a:ext cx="7360920" cy="515983"/>
          </a:xfrm>
          <a:prstGeom prst="rect">
            <a:avLst/>
          </a:prstGeom>
          <a:noFill/>
          <a:ln/>
        </p:spPr>
        <p:txBody>
          <a:bodyPr wrap="square" lIns="0" tIns="0" rIns="0" bIns="0" rtlCol="0" anchor="ctr"/>
          <a:lstStyle/>
          <a:p>
            <a:pPr algn="l" indent="0" marL="0">
              <a:buNone/>
            </a:pPr>
            <a:r>
              <a:rPr lang="en-US" sz="1600" dirty="0">
                <a:solidFill>
                  <a:schemeClr val="tx1"/>
                </a:solidFill>
              </a:rPr>
              <a:t>Sphere matte, uniform and free of highlights</a:t>
            </a:r>
            <a:endParaRPr lang="en-US" sz="1600" dirty="0"/>
          </a:p>
        </p:txBody>
      </p:sp>
      <p:pic>
        <p:nvPicPr>
          <p:cNvPr id="7" name="Checklist check 3" descr="check icon">    </p:cNvPr>
          <p:cNvPicPr>
            <a:picLocks noChangeAspect="1"/>
          </p:cNvPicPr>
          <p:nvPr/>
        </p:nvPicPr>
        <p:blipFill>
          <a:blip r:embed="rId3"/>
          <a:stretch>
            <a:fillRect/>
          </a:stretch>
        </p:blipFill>
        <p:spPr>
          <a:xfrm>
            <a:off x="457200" y="2867297"/>
            <a:ext cx="411480" cy="411480"/>
          </a:xfrm>
          <a:prstGeom prst="rect">
            <a:avLst/>
          </a:prstGeom>
        </p:spPr>
      </p:pic>
      <p:sp>
        <p:nvSpPr>
          <p:cNvPr id="8" name="Checklist text 3"/>
          <p:cNvSpPr txBox="1"/>
          <p:nvPr/>
        </p:nvSpPr>
        <p:spPr>
          <a:xfrm>
            <a:off x="1051560" y="2815046"/>
            <a:ext cx="7360920" cy="515983"/>
          </a:xfrm>
          <a:prstGeom prst="rect">
            <a:avLst/>
          </a:prstGeom>
          <a:noFill/>
          <a:ln/>
        </p:spPr>
        <p:txBody>
          <a:bodyPr wrap="square" lIns="0" tIns="0" rIns="0" bIns="0" rtlCol="0" anchor="ctr"/>
          <a:lstStyle/>
          <a:p>
            <a:pPr algn="l" indent="0" marL="0">
              <a:buNone/>
            </a:pPr>
            <a:r>
              <a:rPr lang="en-US" sz="1600" dirty="0">
                <a:solidFill>
                  <a:schemeClr val="tx1"/>
                </a:solidFill>
              </a:rPr>
              <a:t>Sphere diameter and sphericity by micrometer after finishing: spread within 0.02 mm, temperature recorded</a:t>
            </a:r>
            <a:endParaRPr lang="en-US" sz="1600" dirty="0"/>
          </a:p>
        </p:txBody>
      </p:sp>
      <p:pic>
        <p:nvPicPr>
          <p:cNvPr id="9" name="Checklist check 4" descr="check icon">    </p:cNvPr>
          <p:cNvPicPr>
            <a:picLocks noChangeAspect="1"/>
          </p:cNvPicPr>
          <p:nvPr/>
        </p:nvPicPr>
        <p:blipFill>
          <a:blip r:embed="rId4"/>
          <a:stretch>
            <a:fillRect/>
          </a:stretch>
        </p:blipFill>
        <p:spPr>
          <a:xfrm>
            <a:off x="457200" y="3566160"/>
            <a:ext cx="411480" cy="411480"/>
          </a:xfrm>
          <a:prstGeom prst="rect">
            <a:avLst/>
          </a:prstGeom>
        </p:spPr>
      </p:pic>
      <p:sp>
        <p:nvSpPr>
          <p:cNvPr id="10" name="Checklist text 4"/>
          <p:cNvSpPr txBox="1"/>
          <p:nvPr/>
        </p:nvSpPr>
        <p:spPr>
          <a:xfrm>
            <a:off x="1051560" y="3513909"/>
            <a:ext cx="7360920" cy="515983"/>
          </a:xfrm>
          <a:prstGeom prst="rect">
            <a:avLst/>
          </a:prstGeom>
          <a:noFill/>
          <a:ln/>
        </p:spPr>
        <p:txBody>
          <a:bodyPr wrap="square" lIns="0" tIns="0" rIns="0" bIns="0" rtlCol="0" anchor="ctr"/>
          <a:lstStyle/>
          <a:p>
            <a:pPr algn="l" indent="0" marL="0">
              <a:buNone/>
            </a:pPr>
            <a:r>
              <a:rPr lang="en-US" sz="1600" dirty="0">
                <a:solidFill>
                  <a:schemeClr val="tx1"/>
                </a:solidFill>
              </a:rPr>
              <a:t>Board flat to 0.05 mm by straightedge and feeler leaf, after painting and mounting</a:t>
            </a:r>
            <a:endParaRPr lang="en-US" sz="1600" dirty="0"/>
          </a:p>
        </p:txBody>
      </p:sp>
      <p:pic>
        <p:nvPicPr>
          <p:cNvPr id="11" name="Checklist check 5" descr="check icon">    </p:cNvPr>
          <p:cNvPicPr>
            <a:picLocks noChangeAspect="1"/>
          </p:cNvPicPr>
          <p:nvPr/>
        </p:nvPicPr>
        <p:blipFill>
          <a:blip r:embed="rId5"/>
          <a:stretch>
            <a:fillRect/>
          </a:stretch>
        </p:blipFill>
        <p:spPr>
          <a:xfrm>
            <a:off x="457200" y="4265023"/>
            <a:ext cx="411480" cy="411480"/>
          </a:xfrm>
          <a:prstGeom prst="rect">
            <a:avLst/>
          </a:prstGeom>
        </p:spPr>
      </p:pic>
      <p:sp>
        <p:nvSpPr>
          <p:cNvPr id="12" name="Checklist text 5"/>
          <p:cNvSpPr txBox="1"/>
          <p:nvPr/>
        </p:nvSpPr>
        <p:spPr>
          <a:xfrm>
            <a:off x="1051560" y="4212771"/>
            <a:ext cx="7360920" cy="515983"/>
          </a:xfrm>
          <a:prstGeom prst="rect">
            <a:avLst/>
          </a:prstGeom>
          <a:noFill/>
          <a:ln/>
        </p:spPr>
        <p:txBody>
          <a:bodyPr wrap="square" lIns="0" tIns="0" rIns="0" bIns="0" rtlCol="0" anchor="ctr"/>
          <a:lstStyle/>
          <a:p>
            <a:pPr algn="l" indent="0" marL="0">
              <a:buNone/>
            </a:pPr>
            <a:r>
              <a:rPr lang="en-US" sz="1600" dirty="0">
                <a:solidFill>
                  <a:schemeClr val="tx1"/>
                </a:solidFill>
              </a:rPr>
              <a:t>Board width and length measured with calipers</a:t>
            </a:r>
            <a:endParaRPr lang="en-US" sz="1600" dirty="0"/>
          </a:p>
        </p:txBody>
      </p:sp>
      <p:pic>
        <p:nvPicPr>
          <p:cNvPr id="13" name="Checklist check 6" descr="check icon">    </p:cNvPr>
          <p:cNvPicPr>
            <a:picLocks noChangeAspect="1"/>
          </p:cNvPicPr>
          <p:nvPr/>
        </p:nvPicPr>
        <p:blipFill>
          <a:blip r:embed="rId6"/>
          <a:stretch>
            <a:fillRect/>
          </a:stretch>
        </p:blipFill>
        <p:spPr>
          <a:xfrm>
            <a:off x="457200" y="4963886"/>
            <a:ext cx="411480" cy="411480"/>
          </a:xfrm>
          <a:prstGeom prst="rect">
            <a:avLst/>
          </a:prstGeom>
        </p:spPr>
      </p:pic>
      <p:sp>
        <p:nvSpPr>
          <p:cNvPr id="14" name="Checklist text 6"/>
          <p:cNvSpPr txBox="1"/>
          <p:nvPr/>
        </p:nvSpPr>
        <p:spPr>
          <a:xfrm>
            <a:off x="1051560" y="4911634"/>
            <a:ext cx="7360920" cy="515983"/>
          </a:xfrm>
          <a:prstGeom prst="rect">
            <a:avLst/>
          </a:prstGeom>
          <a:noFill/>
          <a:ln/>
        </p:spPr>
        <p:txBody>
          <a:bodyPr wrap="square" lIns="0" tIns="0" rIns="0" bIns="0" rtlCol="0" anchor="ctr"/>
          <a:lstStyle/>
          <a:p>
            <a:pPr algn="l" indent="0" marL="0">
              <a:buNone/>
            </a:pPr>
            <a:r>
              <a:rPr lang="en-US" sz="1600" dirty="0">
                <a:solidFill>
                  <a:schemeClr val="tx1"/>
                </a:solidFill>
              </a:rPr>
              <a:t>At setup (deck 2): board run-out within 0.05 mm on the robot; nest re-seat within 0.1 mm</a:t>
            </a:r>
            <a:endParaRPr lang="en-US" sz="1600" dirty="0"/>
          </a:p>
        </p:txBody>
      </p:sp>
      <p:pic>
        <p:nvPicPr>
          <p:cNvPr id="15" name="Checklist check 7" descr="check icon">    </p:cNvPr>
          <p:cNvPicPr>
            <a:picLocks noChangeAspect="1"/>
          </p:cNvPicPr>
          <p:nvPr/>
        </p:nvPicPr>
        <p:blipFill>
          <a:blip r:embed="rId7"/>
          <a:stretch>
            <a:fillRect/>
          </a:stretch>
        </p:blipFill>
        <p:spPr>
          <a:xfrm>
            <a:off x="457200" y="5662749"/>
            <a:ext cx="411480" cy="411480"/>
          </a:xfrm>
          <a:prstGeom prst="rect">
            <a:avLst/>
          </a:prstGeom>
        </p:spPr>
      </p:pic>
      <p:sp>
        <p:nvSpPr>
          <p:cNvPr id="16" name="Checklist text 7"/>
          <p:cNvSpPr txBox="1"/>
          <p:nvPr/>
        </p:nvSpPr>
        <p:spPr>
          <a:xfrm>
            <a:off x="1051560" y="5610497"/>
            <a:ext cx="7360920" cy="515983"/>
          </a:xfrm>
          <a:prstGeom prst="rect">
            <a:avLst/>
          </a:prstGeom>
          <a:noFill/>
          <a:ln/>
        </p:spPr>
        <p:txBody>
          <a:bodyPr wrap="square" lIns="0" tIns="0" rIns="0" bIns="0" rtlCol="0" anchor="ctr"/>
          <a:lstStyle/>
          <a:p>
            <a:pPr algn="l" indent="0" marL="0">
              <a:buNone/>
            </a:pPr>
            <a:r>
              <a:rPr lang="en-US" sz="1600" dirty="0">
                <a:solidFill>
                  <a:schemeClr val="tx1"/>
                </a:solidFill>
              </a:rPr>
              <a:t>Each fixture weighed for its tool load data; witness mark across the stem-adapter joint</a:t>
            </a:r>
            <a:endParaRPr lang="en-US" sz="1600" dirty="0"/>
          </a:p>
        </p:txBody>
      </p:sp>
      <p:sp>
        <p:nvSpPr>
          <p:cNvPr id="17" name="Visual card"/>
          <p:cNvSpPr/>
          <p:nvPr/>
        </p:nvSpPr>
        <p:spPr>
          <a:xfrm>
            <a:off x="8686800" y="1417320"/>
            <a:ext cx="3047695" cy="4709160"/>
          </a:xfrm>
          <a:prstGeom prst="roundRect">
            <a:avLst>
              <a:gd name="adj" fmla="val 3600"/>
            </a:avLst>
          </a:prstGeom>
          <a:solidFill>
            <a:schemeClr val="bg2"/>
          </a:solidFill>
          <a:ln/>
        </p:spPr>
      </p:sp>
      <p:sp>
        <p:nvSpPr>
          <p:cNvPr id="18" name="Clipboard check icon circle"/>
          <p:cNvSpPr/>
          <p:nvPr/>
        </p:nvSpPr>
        <p:spPr>
          <a:xfrm>
            <a:off x="9021928" y="2583180"/>
            <a:ext cx="2377440" cy="2377440"/>
          </a:xfrm>
          <a:prstGeom prst="ellipse">
            <a:avLst/>
          </a:prstGeom>
          <a:solidFill>
            <a:schemeClr val="accent2"/>
          </a:solidFill>
          <a:ln/>
        </p:spPr>
      </p:sp>
      <p:pic>
        <p:nvPicPr>
          <p:cNvPr id="19" name="Clipboard check icon glyph" descr="clipboardCheck icon">    </p:cNvPr>
          <p:cNvPicPr>
            <a:picLocks noChangeAspect="1"/>
          </p:cNvPicPr>
          <p:nvPr/>
        </p:nvPicPr>
        <p:blipFill>
          <a:blip r:embed="rId8"/>
          <a:stretch>
            <a:fillRect/>
          </a:stretch>
        </p:blipFill>
        <p:spPr>
          <a:xfrm>
            <a:off x="9616288" y="3177540"/>
            <a:ext cx="1188720" cy="1188720"/>
          </a:xfrm>
          <a:prstGeom prst="rect">
            <a:avLst/>
          </a:prstGeom>
        </p:spPr>
      </p:pic>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15</a:t>
            </a:fld>
            <a:endParaRPr lang="en-US"/>
          </a:p>
        </p:txBody>
      </p:sp>
    </p:spTree>
  </p:cSld>
  <p:clrMapOvr>
    <a:masterClrMapping/>
  </p:clrMapOvr>
</p:sld>
</file>

<file path=ppt/theme/theme1.xml><?xml version="1.0" encoding="utf-8"?>
<a:theme xmlns:a="http://schemas.openxmlformats.org/drawingml/2006/main" name="Stage-1 Capture">
  <a:themeElements>
    <a:clrScheme name="Stage-1 Capture">
      <a:dk1>
        <a:srgbClr val="1F2A30"/>
      </a:dk1>
      <a:lt1>
        <a:srgbClr val="FFFFFF"/>
      </a:lt1>
      <a:dk2>
        <a:srgbClr val="2E4A52"/>
      </a:dk2>
      <a:lt2>
        <a:srgbClr val="EEF2F3"/>
      </a:lt2>
      <a:accent1>
        <a:srgbClr val="D9731A"/>
      </a:accent1>
      <a:accent2>
        <a:srgbClr val="3E7C87"/>
      </a:accent2>
      <a:accent3>
        <a:srgbClr val="8FA9AE"/>
      </a:accent3>
      <a:accent4>
        <a:srgbClr val="B23A2E"/>
      </a:accent4>
      <a:accent5>
        <a:srgbClr val="5B6B70"/>
      </a:accent5>
      <a:accent6>
        <a:srgbClr val="C9D6D8"/>
      </a:accent6>
      <a:hlink>
        <a:srgbClr val="3E7C87"/>
      </a:hlink>
      <a:folHlink>
        <a:srgbClr val="5B6B70"/>
      </a:folHlink>
    </a:clrScheme>
    <a:fontScheme name="Stage-1 Captur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Stage-1 Calibration: Procurement and Build</dc:title>
  <dc:subject>Stage-1 depth-sensor calibration captures</dc:subject>
  <dc:creator>Depth calibration from spherical target</dc:creator>
  <cp:lastModifiedBy>Depth calibration from spherical target</cp:lastModifiedBy>
  <cp:revision>1</cp:revision>
  <dcterms:created xsi:type="dcterms:W3CDTF">2026-10-08T19:01:52Z</dcterms:created>
  <dcterms:modified xsi:type="dcterms:W3CDTF">2026-10-08T19:01:52Z</dcterms:modified>
</cp:coreProperties>
</file>