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54f1a1d-a46b-8f63-ef00-023de9a958a4}">
          <p14:sldIdLst>
            <p14:sldId id="256"/>
            <p14:sldId id="257"/>
          </p14:sldIdLst>
        </p14:section>
        <p14:section name="Scope of work" id="{8f9132ad-4ce3-89e7-b00c-c3df993f14f9}">
          <p14:sldIdLst>
            <p14:sldId id="258"/>
            <p14:sldId id="259"/>
            <p14:sldId id="260"/>
          </p14:sldIdLst>
        </p14:section>
        <p14:section name="Procurement" id="{175d0e93-2f74-411c-c88b-2ce8c86b17bb}">
          <p14:sldIdLst>
            <p14:sldId id="261"/>
            <p14:sldId id="262"/>
            <p14:sldId id="263"/>
            <p14:sldId id="264"/>
            <p14:sldId id="265"/>
          </p14:sldIdLst>
        </p14:section>
        <p14:section name="Mechanical build" id="{b31fbc3d-863b-d1a6-f66d-dabccb5b983f}">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stage-1 calibration captures. It covers what has to be bought and made before a capture session: two matte spheres, a flat board, their mountings on the robot flange, and a three-ball nest, with estimated costs and candidate suppliers. The second deck covers the test procedure itself and what the robot program must do. Both are summaries of the stage-1 capture procedure in docs/procedures, whose section 3a and appendix A hold the full build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compares what the sensor measures with targets of known shape held at known poses by the robot. Two sphere sizes are used because the bias from averaging over a curved surface depends on curvature; two radii a factor of two apart let the correction map carry curvature as an input and remove that bias. Both spheres are used around 500 to 550 mm so the two radii overlap. The board supplies zero curvature and controlled tilts. A sphere's orientation does not matter, only its center, which is why the mounting must hold the center fixed rather than aim the sphere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to build before the first session, as section 1b of the procedure gives it. The dimensioned shop drawings are in appendix D of the stage-1 procedure, and as PNG files in docs/procedures/drawings/ of the repository: SC1-01 and SC1-02 adapter plates, SC1-03 and SC1-04 stems with the sphere interfaces, SC1-05 board adapter, SC1-06 nest base. The rigid sensor mount is built from the existing drawing from previous work. The run-out fixture needs no drawing: it is a bought dial indicator on a bought magnetic base, standing on a plain steel plate bolted to the table. Everything already in hand, everything to buy and the preparation tasks are on the following slides and in sections 1a, 1c and 1f.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tools and consumables, section 1c of the procedure. The two outside micrometers replace any laboratory measurement: the sphere diameters are measured in-house after the matte finish, at six or more orientations, and the spread of the readings doubles as the sphericity check. The micrometers come with setting standards, which are used to check them before each measurement. The straightedge with a 0.05 mm feeler leaf checks the board's flatness after painting and after mounting. Items already in hand are the sensor, the robot, the capture computer with its communication software, which also takes the capture trigger from the robot, and the analysis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estimates come from suppliers' list prices where they exist and from typical job-shop rates of about 80 to 150 dollars an hour otherwise. The sphere figures no longer include a laboratory measurement: the diameters are measured in-house with the micrometers on the buy list. The two totals differ only in the spheres: a bearing ball with a bonded stem and a turned aluminum sphere, against both spheres made to order by a ball or ceramics maker. The rigid sensor mount is built from an existing drawing and is not estimated here. Quotes are needed before ordering, and the sphere choice is still to be settled after a canvass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to hand to a supplier or a machine shop. The diameter requirement is decision D-13: known to 0.025 mm after the matte finish, measured in-house with the outside micrometers; the mean of six or more readings goes in the pose log, and their spread checks the 0.02 mm sphericity. Aluminum grows 0.0035 mm in diameter per degree C at sphere B's size, so it is measured at the temperature of the session.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is checked flat after painting and after mounting because that is the state the sensor sees, and the flatness report is the reference for the board-flatness check in the validation. A 6 mm plate sags only about 0.002 mm under its own weight, so thickness is a matter of surviving the finish and the mounting, not stiffness. The bottom and left edges locate the board against the three edge pins of the board adapter, which centers it on the flange axis.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 finish returns one bright highlight from the sensor's projector and almost nothing else, so every sphere must be made matte. Bead-blasting is preferred because it changes the diameter by only micrometers. The diameter requirement is decision D-13: known to 0.025 mm after finishing, which is a radius error of about 0.0125 mm, an eighth of the target at 500 mm; no maker's certificate is needed. The diameter is measured in-house with the outside micrometers; EDM means electrical discharge machining. Bearing-grade balls are hardened to about 60 HRC and cannot be tapped afterwards, which is why steel spheres get a bonded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appendix A of the procedure in brief. No supplier was found that stocks a precision sphere of the needed sizes with a mounting hole, so the spheres are either made to order or built from a bearing ball by a machine shop. The laser-scanner reference spheres sold in the right sizes generally have form errors of 0.5 to 2 mm, far too coarse; the Rothbucher sphere is the best specified of them. The finished diameters are measured in-house with outside micrometers, which is cheaper than buying certified spheres and is what the calibration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A magnetic base alone can creep or fail to hold on an aluminum or stone table, so it stands on a small steel plate bolted to the table. All three items are stocked by McMaster-Carr and the usual tool suppliers. The fixture needs no drawing beyond the plate's size and its two bolt 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sphere center ends up does not need to be known from drawings, because the tool-center-point routine measures it; what matters is that it does not move afterwards. The adapter plate's mounting face, outer face and tapped hole are machined in one lathe setup, located on the flange pilot, so the hole is perpendicular to the face within 0.02 mm over 100 mm. The stems are deliberately thick: a 12 mm stem would let sphere A sag about 0.07 mm, and that sag would change with the robot's orientation. The shoulder on the stem, machined square in the same setup as its thread, sets the stem perpendicular to the adapter. The dimensioned shop drawings are in appendix D of the stage-1 procedure, and as PNG files in docs/procedures/drawings/ of the repository: SC1-01 and SC1-02 adapter plates, SC1-03 and SC1-04 stems with the sphere interfaces, SC1-05 board adapter, SC1-06 nest base. The adapter plates are 63 mm across, 16 mm thick for sphere A and 22 mm for sphere B, with a 31.5 mm centering spigot and one 6 mm dowel for the ISO 9409-1-50-4-M6 flange.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ceramic spheres are sold with a threaded insert bonded in by the maker; the stem tip is turned to a matching thread with a small shoulder that seats on the flat around the insert, with a drop of medium-strength thread locker. Bearing-grade steel balls are hardened to about 60 HRC and cannot be tapped, so a shop makes a blind hole about 0.6 R deep by carbide drilling or electrical discharge machining, sized for a light press fit, and the stem is bonded in with anaerobic retaining compound. Never weld or braze: the heat distorts the sphere. A turned aluminum sphere B can have the stem thread cut into it when it is made.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Thickness is not a stiffness question: a 6 mm plate sags only about 0.002 mm under its own weight. It only has to survive the finish and the mounting flat. Bead-blasting peens one face and bows a thin plate, so paint over the ground or glass surface instead. Flatness is checked last, after painting and mounting, because that is the state the sensor sees; the flatness report is also the reference for the board-flatness check in the validation.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sphere resting on three fixed balls always has its center at the same point in space, whatever direction its stem points. That is what lets the robot's own multi-orientation routine find the sphere's center as its tool center point, which deck 2 describes. The nest is simple to make: a steel base with three pockets, the balls pressed in, and holes to bolt it down. Its position matters only in that the robot must be able to seat the sphere from several directions.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 checks of sections 1 and 3a of the procedure, gathered in one place. Each one protects something the software cannot repair later: a crooked or bending stem moves the sphere center away from the measured tool center point, a shiny spot gives bad reads, and an unmeasured diameter or a bowed board puts a wrong reference into every observation. The fixture weights feed the robot's tool load data, which its absolute accuracy depends 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spheres, board and fixtures needed for the depth-sensor calibration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spheres and a board carry the known geometry</a:t>
            </a:r>
            <a:endParaRPr lang="en-US" sz="3400" dirty="0"/>
          </a:p>
        </p:txBody>
      </p:sp>
      <p:sp>
        <p:nvSpPr>
          <p:cNvPr id="3" name="Figure card"/>
          <p:cNvSpPr/>
          <p:nvPr/>
        </p:nvSpPr>
        <p:spPr>
          <a:xfrm>
            <a:off x="457200" y="1417320"/>
            <a:ext cx="6949440" cy="4709160"/>
          </a:xfrm>
          <a:prstGeom prst="roundRect">
            <a:avLst>
              <a:gd name="adj" fmla="val 2330"/>
            </a:avLst>
          </a:prstGeom>
          <a:solidFill>
            <a:schemeClr val="bg1"/>
          </a:solidFill>
          <a:ln w="12700">
            <a:solidFill>
              <a:schemeClr val="accent6"/>
            </a:solidFill>
            <a:prstDash val="solid"/>
          </a:ln>
        </p:spPr>
      </p:sp>
      <p:pic>
        <p:nvPicPr>
          <p:cNvPr id="4" name="Sphere on stem, side view" descr="Sphere on stem, side view">    </p:cNvPr>
          <p:cNvPicPr>
            <a:picLocks noChangeAspect="1"/>
          </p:cNvPicPr>
          <p:nvPr/>
        </p:nvPicPr>
        <p:blipFill>
          <a:blip r:embed="rId1"/>
          <a:stretch>
            <a:fillRect/>
          </a:stretch>
        </p:blipFill>
        <p:spPr>
          <a:xfrm>
            <a:off x="685800" y="1997249"/>
            <a:ext cx="6492240" cy="2909221"/>
          </a:xfrm>
          <a:prstGeom prst="rect">
            <a:avLst/>
          </a:prstGeom>
        </p:spPr>
      </p:pic>
      <p:sp>
        <p:nvSpPr>
          <p:cNvPr id="5" name="Figure caption"/>
          <p:cNvSpPr txBox="1"/>
          <p:nvPr/>
        </p:nvSpPr>
        <p:spPr>
          <a:xfrm>
            <a:off x="685800" y="5089351"/>
            <a:ext cx="6492240" cy="457200"/>
          </a:xfrm>
          <a:prstGeom prst="rect">
            <a:avLst/>
          </a:prstGeom>
          <a:noFill/>
          <a:ln/>
        </p:spPr>
        <p:txBody>
          <a:bodyPr wrap="square" lIns="0" tIns="0" rIns="0" bIns="0" rtlCol="0" anchor="t"/>
          <a:lstStyle/>
          <a:p>
            <a:pPr algn="l" indent="0" marL="0">
              <a:buNone/>
            </a:pPr>
            <a:r>
              <a:rPr lang="en-US" sz="1200" dirty="0">
                <a:solidFill>
                  <a:schemeClr val="accent5"/>
                </a:solidFill>
              </a:rPr>
              <a:t>Sphere on its stem, side view: the stem points away from the sensor so that the sphere hides it.</a:t>
            </a:r>
            <a:endParaRPr lang="en-US" sz="1200" dirty="0"/>
          </a:p>
        </p:txBody>
      </p:sp>
      <p:sp>
        <p:nvSpPr>
          <p:cNvPr id="6" name="Fixture 1 card"/>
          <p:cNvSpPr/>
          <p:nvPr/>
        </p:nvSpPr>
        <p:spPr>
          <a:xfrm>
            <a:off x="7680960" y="1417320"/>
            <a:ext cx="4053535" cy="1386840"/>
          </a:xfrm>
          <a:prstGeom prst="roundRect">
            <a:avLst>
              <a:gd name="adj" fmla="val 7912"/>
            </a:avLst>
          </a:prstGeom>
          <a:solidFill>
            <a:schemeClr val="bg2"/>
          </a:solidFill>
          <a:ln/>
        </p:spPr>
      </p:sp>
      <p:sp>
        <p:nvSpPr>
          <p:cNvPr id="7" name="Fixture 1 icon circle"/>
          <p:cNvSpPr/>
          <p:nvPr/>
        </p:nvSpPr>
        <p:spPr>
          <a:xfrm>
            <a:off x="7909560" y="1790700"/>
            <a:ext cx="640080" cy="640080"/>
          </a:xfrm>
          <a:prstGeom prst="ellipse">
            <a:avLst/>
          </a:prstGeom>
          <a:solidFill>
            <a:schemeClr val="accent2"/>
          </a:solidFill>
          <a:ln/>
        </p:spPr>
      </p:sp>
      <p:pic>
        <p:nvPicPr>
          <p:cNvPr id="8" name="Fixture 1 icon glyph" descr="circle icon">    </p:cNvPr>
          <p:cNvPicPr>
            <a:picLocks noChangeAspect="1"/>
          </p:cNvPicPr>
          <p:nvPr/>
        </p:nvPicPr>
        <p:blipFill>
          <a:blip r:embed="rId2"/>
          <a:stretch>
            <a:fillRect/>
          </a:stretch>
        </p:blipFill>
        <p:spPr>
          <a:xfrm>
            <a:off x="8069580" y="1950720"/>
            <a:ext cx="320040" cy="320040"/>
          </a:xfrm>
          <a:prstGeom prst="rect">
            <a:avLst/>
          </a:prstGeom>
        </p:spPr>
      </p:pic>
      <p:sp>
        <p:nvSpPr>
          <p:cNvPr id="9" name="Fixture 1 text"/>
          <p:cNvSpPr txBox="1"/>
          <p:nvPr/>
        </p:nvSpPr>
        <p:spPr>
          <a:xfrm>
            <a:off x="8732520" y="164592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A</a:t>
            </a:r>
            <a:endParaRPr lang="en-US" sz="1600" dirty="0"/>
          </a:p>
          <a:p>
            <a:pPr algn="l" indent="0" marL="0">
              <a:buNone/>
            </a:pPr>
            <a:r>
              <a:rPr lang="en-US" sz="1400" dirty="0">
                <a:solidFill>
                  <a:schemeClr val="tx1"/>
                </a:solidFill>
              </a:rPr>
              <a:t>76.2 mm diameter; used from 300 to 550 mm</a:t>
            </a:r>
            <a:endParaRPr lang="en-US" sz="1600" dirty="0"/>
          </a:p>
        </p:txBody>
      </p:sp>
      <p:sp>
        <p:nvSpPr>
          <p:cNvPr id="10" name="Fixture 2 card"/>
          <p:cNvSpPr/>
          <p:nvPr/>
        </p:nvSpPr>
        <p:spPr>
          <a:xfrm>
            <a:off x="7680960" y="3078480"/>
            <a:ext cx="4053535" cy="1386840"/>
          </a:xfrm>
          <a:prstGeom prst="roundRect">
            <a:avLst>
              <a:gd name="adj" fmla="val 7912"/>
            </a:avLst>
          </a:prstGeom>
          <a:solidFill>
            <a:schemeClr val="bg2"/>
          </a:solidFill>
          <a:ln/>
        </p:spPr>
      </p:sp>
      <p:sp>
        <p:nvSpPr>
          <p:cNvPr id="11" name="Fixture 2 icon circle"/>
          <p:cNvSpPr/>
          <p:nvPr/>
        </p:nvSpPr>
        <p:spPr>
          <a:xfrm>
            <a:off x="7909560" y="3451860"/>
            <a:ext cx="640080" cy="640080"/>
          </a:xfrm>
          <a:prstGeom prst="ellipse">
            <a:avLst/>
          </a:prstGeom>
          <a:solidFill>
            <a:schemeClr val="accent2"/>
          </a:solidFill>
          <a:ln/>
        </p:spPr>
      </p:sp>
      <p:pic>
        <p:nvPicPr>
          <p:cNvPr id="12" name="Fixture 2 icon glyph" descr="circle icon">    </p:cNvPr>
          <p:cNvPicPr>
            <a:picLocks noChangeAspect="1"/>
          </p:cNvPicPr>
          <p:nvPr/>
        </p:nvPicPr>
        <p:blipFill>
          <a:blip r:embed="rId3"/>
          <a:stretch>
            <a:fillRect/>
          </a:stretch>
        </p:blipFill>
        <p:spPr>
          <a:xfrm>
            <a:off x="8069580" y="3611880"/>
            <a:ext cx="320040" cy="320040"/>
          </a:xfrm>
          <a:prstGeom prst="rect">
            <a:avLst/>
          </a:prstGeom>
        </p:spPr>
      </p:pic>
      <p:sp>
        <p:nvSpPr>
          <p:cNvPr id="13" name="Fixture 2 text"/>
          <p:cNvSpPr txBox="1"/>
          <p:nvPr/>
        </p:nvSpPr>
        <p:spPr>
          <a:xfrm>
            <a:off x="8732520" y="330708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B</a:t>
            </a:r>
            <a:endParaRPr lang="en-US" sz="1600" dirty="0"/>
          </a:p>
          <a:p>
            <a:pPr algn="l" indent="0" marL="0">
              <a:buNone/>
            </a:pPr>
            <a:r>
              <a:rPr lang="en-US" sz="1400" dirty="0">
                <a:solidFill>
                  <a:schemeClr val="tx1"/>
                </a:solidFill>
              </a:rPr>
              <a:t>152.4 mm diameter; used from 500 to 1,100 mm</a:t>
            </a:r>
            <a:endParaRPr lang="en-US" sz="1600" dirty="0"/>
          </a:p>
        </p:txBody>
      </p:sp>
      <p:sp>
        <p:nvSpPr>
          <p:cNvPr id="14" name="Fixture 3 card"/>
          <p:cNvSpPr/>
          <p:nvPr/>
        </p:nvSpPr>
        <p:spPr>
          <a:xfrm>
            <a:off x="7680960" y="4739640"/>
            <a:ext cx="4053535" cy="1386840"/>
          </a:xfrm>
          <a:prstGeom prst="roundRect">
            <a:avLst>
              <a:gd name="adj" fmla="val 7912"/>
            </a:avLst>
          </a:prstGeom>
          <a:solidFill>
            <a:schemeClr val="bg2"/>
          </a:solidFill>
          <a:ln/>
        </p:spPr>
      </p:sp>
      <p:sp>
        <p:nvSpPr>
          <p:cNvPr id="15" name="Fixture 3 icon circle"/>
          <p:cNvSpPr/>
          <p:nvPr/>
        </p:nvSpPr>
        <p:spPr>
          <a:xfrm>
            <a:off x="7909560" y="5113020"/>
            <a:ext cx="640080" cy="640080"/>
          </a:xfrm>
          <a:prstGeom prst="ellipse">
            <a:avLst/>
          </a:prstGeom>
          <a:solidFill>
            <a:schemeClr val="accent2"/>
          </a:solidFill>
          <a:ln/>
        </p:spPr>
      </p:sp>
      <p:pic>
        <p:nvPicPr>
          <p:cNvPr id="16" name="Fixture 3 icon glyph" descr="board icon">    </p:cNvPr>
          <p:cNvPicPr>
            <a:picLocks noChangeAspect="1"/>
          </p:cNvPicPr>
          <p:nvPr/>
        </p:nvPicPr>
        <p:blipFill>
          <a:blip r:embed="rId4"/>
          <a:stretch>
            <a:fillRect/>
          </a:stretch>
        </p:blipFill>
        <p:spPr>
          <a:xfrm>
            <a:off x="8069580" y="5273040"/>
            <a:ext cx="320040" cy="320040"/>
          </a:xfrm>
          <a:prstGeom prst="rect">
            <a:avLst/>
          </a:prstGeom>
        </p:spPr>
      </p:pic>
      <p:sp>
        <p:nvSpPr>
          <p:cNvPr id="17" name="Fixture 3 text"/>
          <p:cNvSpPr txBox="1"/>
          <p:nvPr/>
        </p:nvSpPr>
        <p:spPr>
          <a:xfrm>
            <a:off x="8732520" y="496824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at least 6 mm thick, flat to 0.05 mm after painting; tilted 0, 20 and 40 degrees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4754880"/>
                <a:gridCol w="1097280"/>
                <a:gridCol w="237744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dirty="0">
                          <a:solidFill>
                            <a:schemeClr val="tx1"/>
                          </a:solidFill>
                        </a:rPr>
                        <a:t>Sphere A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SC1-03 (hole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SC1-04 (interface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Sphere-flange mounts: adapter plates and stems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 + 2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SC1-01 to SC1-04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8160">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8961120" y="1417320"/>
            <a:ext cx="2773375" cy="4160520"/>
          </a:xfrm>
          <a:prstGeom prst="roundRect">
            <a:avLst>
              <a:gd name="adj" fmla="val 3956"/>
            </a:avLst>
          </a:prstGeom>
          <a:solidFill>
            <a:schemeClr val="bg2"/>
          </a:solidFill>
          <a:ln/>
        </p:spPr>
      </p:sp>
      <p:sp>
        <p:nvSpPr>
          <p:cNvPr id="5" name="Toolbox icon circle"/>
          <p:cNvSpPr/>
          <p:nvPr/>
        </p:nvSpPr>
        <p:spPr>
          <a:xfrm>
            <a:off x="961628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998204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nothing outside sections 1a to 1f is needed for a session.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4297680"/>
                <a:gridCol w="5212080"/>
                <a:gridCol w="176753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Outside micrometers 75-100 and 150-175 mm, with setting standards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Sphere diameters, measured in-house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$405 to $520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Rough TCP length; board distance 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flatness; stem straightness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Room temperature at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Machinist's square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x axis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$80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stem and adapter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Thread locker, retaining compound, shims,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Building and buying cost about $2,525 to $6,500</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dirty="0">
                          <a:solidFill>
                            <a:schemeClr val="tx1"/>
                          </a:solidFill>
                        </a:rPr>
                        <a:t>Sphere A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$250 to $550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$500 to $1,500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Sphere-flange mounts: two adapter plates and two stems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$400 to $1,000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8160">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$2,525 to $6,500</a:t>
            </a:r>
            <a:endParaRPr lang="en-US" sz="32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bearing-ball sphere A, aluminum sphere B, tools included</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$4,375 to $11,950</a:t>
            </a:r>
            <a:endParaRPr lang="en-US" sz="32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both spheres made to order, tools included</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Tools and consumables $685 to $1,430, included in the totals. Estimates of October 2026, plus or minus 50 percent; sphere B is the least certain.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target spheres</a:t>
            </a:r>
            <a:endParaRPr lang="en-US" sz="3400" dirty="0"/>
          </a:p>
        </p:txBody>
      </p:sp>
      <p:graphicFrame>
        <p:nvGraphicFramePr>
          <p:cNvPr id="7" name="Spher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103120"/>
                <a:gridCol w="4937760"/>
                <a:gridCol w="4236415"/>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A</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B</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Nominal 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76.2 mm (3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152.4 mm (6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Known to 0.025 mm, by micrometer at six or more orientations after finishing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Same; measure at the session's room temperature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Sphericity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Bearing-grade steel (52100 or 440C, grade 25 or better) or ceramic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Turned aluminum (6061-T6), solid or hollow with 6 mm wall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Surface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light, uniform: fine glass-bead blast or thin matte paint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hard anodize, same appearance as sphere A</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Steel: blind hole 10 H7 x 23 mm, stem bonded. Ceramic: maker's M8 insert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M20 x 30 mm tapped hole at a pole, 32 mm spot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Approximate mass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0.9 to 1.8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about 5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pher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drawings SC1-03 and SC1-04 show the interfaces.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Spheres must be matte and measured, not certified</a:t>
            </a:r>
            <a:endParaRPr lang="en-US" sz="3400" dirty="0"/>
          </a:p>
        </p:txBody>
      </p:sp>
      <p:sp>
        <p:nvSpPr>
          <p:cNvPr id="3" name="Column 1 card"/>
          <p:cNvSpPr/>
          <p:nvPr/>
        </p:nvSpPr>
        <p:spPr>
          <a:xfrm>
            <a:off x="457200" y="1417320"/>
            <a:ext cx="3576218" cy="470916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spray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685800"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Finish</a:t>
            </a:r>
            <a:endParaRPr lang="en-US" sz="2000" dirty="0"/>
          </a:p>
        </p:txBody>
      </p:sp>
      <p:sp>
        <p:nvSpPr>
          <p:cNvPr id="7" name="Column 1 points"/>
          <p:cNvSpPr txBox="1"/>
          <p:nvPr/>
        </p:nvSpPr>
        <p:spPr>
          <a:xfrm>
            <a:off x="685800"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Every bearing ball arrives mirror-bright: unusable</a:t>
            </a:r>
            <a:endParaRPr lang="en-US" sz="1600" dirty="0"/>
          </a:p>
          <a:p>
            <a:pPr algn="l" marL="177800" indent="-177800">
              <a:spcAft>
                <a:spcPts val="1200"/>
              </a:spcAft>
              <a:buSzPct val="100000"/>
              <a:buChar char="•"/>
            </a:pPr>
            <a:r>
              <a:rPr lang="en-US" sz="1600" dirty="0">
                <a:solidFill>
                  <a:schemeClr val="tx1"/>
                </a:solidFill>
              </a:rPr>
              <a:t>Bead-blast with fine glass bead: removes micrometers</a:t>
            </a:r>
            <a:endParaRPr lang="en-US" sz="1600" dirty="0"/>
          </a:p>
          <a:p>
            <a:pPr algn="l" marL="177800" indent="-177800">
              <a:spcAft>
                <a:spcPts val="1200"/>
              </a:spcAft>
              <a:buSzPct val="100000"/>
              <a:buChar char="•"/>
            </a:pPr>
            <a:r>
              <a:rPr lang="en-US" sz="1600" dirty="0">
                <a:solidFill>
                  <a:schemeClr val="tx1"/>
                </a:solidFill>
              </a:rPr>
              <a:t>Matte paint is second choice: 0.02 to 0.05 mm per coat</a:t>
            </a:r>
            <a:endParaRPr lang="en-US" sz="1600" dirty="0"/>
          </a:p>
          <a:p>
            <a:pPr algn="l" marL="177800" indent="-177800">
              <a:spcAft>
                <a:spcPts val="1200"/>
              </a:spcAft>
              <a:buSzPct val="100000"/>
              <a:buChar char="•"/>
            </a:pPr>
            <a:r>
              <a:rPr lang="en-US" sz="1600" dirty="0">
                <a:solidFill>
                  <a:schemeClr val="tx1"/>
                </a:solidFill>
              </a:rPr>
              <a:t>"Chrome steel" is the 52100 alloy, not plating</a:t>
            </a:r>
            <a:endParaRPr lang="en-US" sz="1600" dirty="0"/>
          </a:p>
        </p:txBody>
      </p:sp>
      <p:sp>
        <p:nvSpPr>
          <p:cNvPr id="8" name="Column 2 card"/>
          <p:cNvSpPr/>
          <p:nvPr/>
        </p:nvSpPr>
        <p:spPr>
          <a:xfrm>
            <a:off x="4307738" y="1417320"/>
            <a:ext cx="3576218" cy="470916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uler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4536338"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Diameter</a:t>
            </a:r>
            <a:endParaRPr lang="en-US" sz="2000" dirty="0"/>
          </a:p>
        </p:txBody>
      </p:sp>
      <p:sp>
        <p:nvSpPr>
          <p:cNvPr id="12" name="Column 2 points"/>
          <p:cNvSpPr txBox="1"/>
          <p:nvPr/>
        </p:nvSpPr>
        <p:spPr>
          <a:xfrm>
            <a:off x="4536338"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Known to 0.025 mm, measured after the finish</a:t>
            </a:r>
            <a:endParaRPr lang="en-US" sz="1600" dirty="0"/>
          </a:p>
          <a:p>
            <a:pPr algn="l" marL="177800" indent="-177800">
              <a:spcAft>
                <a:spcPts val="1200"/>
              </a:spcAft>
              <a:buSzPct val="100000"/>
              <a:buChar char="•"/>
            </a:pPr>
            <a:r>
              <a:rPr lang="en-US" sz="1600" dirty="0">
                <a:solidFill>
                  <a:schemeClr val="tx1"/>
                </a:solidFill>
              </a:rPr>
              <a:t>Measured in-house by outside micrometer at six or more orientations</a:t>
            </a:r>
            <a:endParaRPr lang="en-US" sz="1600" dirty="0"/>
          </a:p>
          <a:p>
            <a:pPr algn="l" marL="177800" indent="-177800">
              <a:spcAft>
                <a:spcPts val="1200"/>
              </a:spcAft>
              <a:buSzPct val="100000"/>
              <a:buChar char="•"/>
            </a:pPr>
            <a:r>
              <a:rPr lang="en-US" sz="1600" dirty="0">
                <a:solidFill>
                  <a:schemeClr val="tx1"/>
                </a:solidFill>
              </a:rPr>
              <a:t>Aluminum grows 0.0035 mm per degree C: measure at session temperature</a:t>
            </a:r>
            <a:endParaRPr lang="en-US" sz="1600" dirty="0"/>
          </a:p>
          <a:p>
            <a:pPr algn="l" marL="177800" indent="-177800">
              <a:spcAft>
                <a:spcPts val="1200"/>
              </a:spcAft>
              <a:buSzPct val="100000"/>
              <a:buChar char="•"/>
            </a:pPr>
            <a:r>
              <a:rPr lang="en-US" sz="1600" dirty="0">
                <a:solidFill>
                  <a:schemeClr val="tx1"/>
                </a:solidFill>
              </a:rPr>
              <a:t>The mean goes in the pose log; the spread checks sphericity</a:t>
            </a:r>
            <a:endParaRPr lang="en-US" sz="1600" dirty="0"/>
          </a:p>
        </p:txBody>
      </p:sp>
      <p:sp>
        <p:nvSpPr>
          <p:cNvPr id="13" name="Column 3 card"/>
          <p:cNvSpPr/>
          <p:nvPr/>
        </p:nvSpPr>
        <p:spPr>
          <a:xfrm>
            <a:off x="8158277" y="1417320"/>
            <a:ext cx="3576218" cy="470916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wrench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8386877"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Mounting</a:t>
            </a:r>
            <a:endParaRPr lang="en-US" sz="2000" dirty="0"/>
          </a:p>
        </p:txBody>
      </p:sp>
      <p:sp>
        <p:nvSpPr>
          <p:cNvPr id="17" name="Column 3 points"/>
          <p:cNvSpPr txBox="1"/>
          <p:nvPr/>
        </p:nvSpPr>
        <p:spPr>
          <a:xfrm>
            <a:off x="8386877"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Hardened balls cannot be tapped</a:t>
            </a:r>
            <a:endParaRPr lang="en-US" sz="1600" dirty="0"/>
          </a:p>
          <a:p>
            <a:pPr algn="l" marL="177800" indent="-177800">
              <a:spcAft>
                <a:spcPts val="1200"/>
              </a:spcAft>
              <a:buSzPct val="100000"/>
              <a:buChar char="•"/>
            </a:pPr>
            <a:r>
              <a:rPr lang="en-US" sz="1600" dirty="0">
                <a:solidFill>
                  <a:schemeClr val="tx1"/>
                </a:solidFill>
              </a:rPr>
              <a:t>Steel ball: drilled or EDM blind hole, bonded stem</a:t>
            </a:r>
            <a:endParaRPr lang="en-US" sz="1600" dirty="0"/>
          </a:p>
          <a:p>
            <a:pPr algn="l" marL="177800" indent="-177800">
              <a:spcAft>
                <a:spcPts val="1200"/>
              </a:spcAft>
              <a:buSzPct val="100000"/>
              <a:buChar char="•"/>
            </a:pPr>
            <a:r>
              <a:rPr lang="en-US" sz="1600" dirty="0">
                <a:solidFill>
                  <a:schemeClr val="tx1"/>
                </a:solidFill>
              </a:rPr>
              <a:t>Aluminum sphere B: thread cut when it is turned</a:t>
            </a:r>
            <a:endParaRPr lang="en-US" sz="1600" dirty="0"/>
          </a:p>
          <a:p>
            <a:pPr algn="l" marL="177800" indent="-177800">
              <a:spcAft>
                <a:spcPts val="1200"/>
              </a:spcAft>
              <a:buSzPct val="100000"/>
              <a:buChar char="•"/>
            </a:pPr>
            <a:r>
              <a:rPr lang="en-US" sz="1600" dirty="0">
                <a:solidFill>
                  <a:schemeClr val="tx1"/>
                </a:solidFill>
              </a:rPr>
              <a:t>No pre-tapped precision sphere exists above 1.5 inch</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Spheres, made to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Bal-tec; RGP Balls; Industrial Tectonics; Morgan Advanced Materials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3 and 6 inch matte spheres with a mounting hole are custom items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Matte reference spheres,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MetrologyWorks; Rothbucher RSLB10M (Baseline Equipment)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MetrologyWorks up to 1.5 inch; Rothbucher 145 mm, sphericity 0.3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Painted matte after grinding; flatness 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Nest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Bal-tec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Grade-25 bearing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Adapters, stems, sphere holes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Local machine shop; EDM shop for hardened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Hardened balls cannot be tapped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Outside micrometers: Mitutoyo 103-140-10 and 103-143-10, or Starrett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In-house, after the matte finish; setting standards included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For the run-out fixture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 finish, measurement and thread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dial indicator and its mounting</a:t>
            </a:r>
            <a:endParaRPr lang="en-US" sz="3400" dirty="0"/>
          </a:p>
        </p:txBody>
      </p:sp>
      <p:pic>
        <p:nvPicPr>
          <p:cNvPr id="3" name="Run-out check on the board" descr="Run-out check on the board">    </p:cNvPr>
          <p:cNvPicPr>
            <a:picLocks noChangeAspect="1"/>
          </p:cNvPicPr>
          <p:nvPr/>
        </p:nvPicPr>
        <p:blipFill>
          <a:blip r:embed="rId1"/>
          <a:stretch>
            <a:fillRect/>
          </a:stretch>
        </p:blipFill>
        <p:spPr>
          <a:xfrm>
            <a:off x="457200" y="1417320"/>
            <a:ext cx="4335697" cy="4069080"/>
          </a:xfrm>
          <a:prstGeom prst="rect">
            <a:avLst/>
          </a:prstGeom>
        </p:spPr>
      </p:pic>
      <p:sp>
        <p:nvSpPr>
          <p:cNvPr id="4" name="Run-out check on the board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The run-out check: the flange turns, the indicator stays still, the reading must stay within 0.05 mm.</a:t>
            </a:r>
            <a:endParaRPr lang="en-US" sz="1200" dirty="0"/>
          </a:p>
        </p:txBody>
      </p:sp>
      <p:sp>
        <p:nvSpPr>
          <p:cNvPr id="6" name="Run-out part 1 card"/>
          <p:cNvSpPr/>
          <p:nvPr/>
        </p:nvSpPr>
        <p:spPr>
          <a:xfrm>
            <a:off x="5067217" y="1417320"/>
            <a:ext cx="6667278" cy="971550"/>
          </a:xfrm>
          <a:prstGeom prst="roundRect">
            <a:avLst>
              <a:gd name="adj" fmla="val 11294"/>
            </a:avLst>
          </a:prstGeom>
          <a:solidFill>
            <a:schemeClr val="bg2"/>
          </a:solidFill>
          <a:ln/>
        </p:spPr>
      </p:sp>
      <p:sp>
        <p:nvSpPr>
          <p:cNvPr id="7" name="Run-out part 1 icon circle"/>
          <p:cNvSpPr/>
          <p:nvPr/>
        </p:nvSpPr>
        <p:spPr>
          <a:xfrm>
            <a:off x="5295817" y="1583055"/>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455837" y="1743075"/>
            <a:ext cx="320040" cy="320040"/>
          </a:xfrm>
          <a:prstGeom prst="rect">
            <a:avLst/>
          </a:prstGeom>
        </p:spPr>
      </p:pic>
      <p:sp>
        <p:nvSpPr>
          <p:cNvPr id="9" name="Run-out part 1 text"/>
          <p:cNvSpPr txBox="1"/>
          <p:nvPr/>
        </p:nvSpPr>
        <p:spPr>
          <a:xfrm>
            <a:off x="6118777" y="1508760"/>
            <a:ext cx="4975638" cy="788670"/>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067217" y="2663190"/>
            <a:ext cx="6667278" cy="971550"/>
          </a:xfrm>
          <a:prstGeom prst="roundRect">
            <a:avLst>
              <a:gd name="adj" fmla="val 11294"/>
            </a:avLst>
          </a:prstGeom>
          <a:solidFill>
            <a:schemeClr val="bg2"/>
          </a:solidFill>
          <a:ln/>
        </p:spPr>
      </p:sp>
      <p:sp>
        <p:nvSpPr>
          <p:cNvPr id="11" name="Run-out part 2 icon circle"/>
          <p:cNvSpPr/>
          <p:nvPr/>
        </p:nvSpPr>
        <p:spPr>
          <a:xfrm>
            <a:off x="5295817" y="2828925"/>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455837" y="2988945"/>
            <a:ext cx="320040" cy="320040"/>
          </a:xfrm>
          <a:prstGeom prst="rect">
            <a:avLst/>
          </a:prstGeom>
        </p:spPr>
      </p:pic>
      <p:sp>
        <p:nvSpPr>
          <p:cNvPr id="13" name="Run-out part 2 text"/>
          <p:cNvSpPr txBox="1"/>
          <p:nvPr/>
        </p:nvSpPr>
        <p:spPr>
          <a:xfrm>
            <a:off x="6118777" y="2754630"/>
            <a:ext cx="4975638" cy="788670"/>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067217" y="3909060"/>
            <a:ext cx="6667278" cy="971550"/>
          </a:xfrm>
          <a:prstGeom prst="roundRect">
            <a:avLst>
              <a:gd name="adj" fmla="val 11294"/>
            </a:avLst>
          </a:prstGeom>
          <a:solidFill>
            <a:schemeClr val="bg2"/>
          </a:solidFill>
          <a:ln/>
        </p:spPr>
      </p:sp>
      <p:sp>
        <p:nvSpPr>
          <p:cNvPr id="15" name="Run-out part 3 icon circle"/>
          <p:cNvSpPr/>
          <p:nvPr/>
        </p:nvSpPr>
        <p:spPr>
          <a:xfrm>
            <a:off x="5295817" y="4074795"/>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455837" y="4234815"/>
            <a:ext cx="320040" cy="320040"/>
          </a:xfrm>
          <a:prstGeom prst="rect">
            <a:avLst/>
          </a:prstGeom>
        </p:spPr>
      </p:pic>
      <p:sp>
        <p:nvSpPr>
          <p:cNvPr id="17" name="Run-out part 3 text"/>
          <p:cNvSpPr txBox="1"/>
          <p:nvPr/>
        </p:nvSpPr>
        <p:spPr>
          <a:xfrm>
            <a:off x="6118777" y="4000500"/>
            <a:ext cx="4975638" cy="788670"/>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any table and does not creep</a:t>
            </a:r>
            <a:endParaRPr lang="en-US" sz="1600" dirty="0"/>
          </a:p>
        </p:txBody>
      </p:sp>
      <p:sp>
        <p:nvSpPr>
          <p:cNvPr id="18" name="Run-out part 4 card"/>
          <p:cNvSpPr/>
          <p:nvPr/>
        </p:nvSpPr>
        <p:spPr>
          <a:xfrm>
            <a:off x="5067217" y="5154930"/>
            <a:ext cx="6667278" cy="971550"/>
          </a:xfrm>
          <a:prstGeom prst="roundRect">
            <a:avLst>
              <a:gd name="adj" fmla="val 11294"/>
            </a:avLst>
          </a:prstGeom>
          <a:solidFill>
            <a:schemeClr val="bg2"/>
          </a:solidFill>
          <a:ln/>
        </p:spPr>
      </p:sp>
      <p:sp>
        <p:nvSpPr>
          <p:cNvPr id="19" name="Run-out part 4 icon circle"/>
          <p:cNvSpPr/>
          <p:nvPr/>
        </p:nvSpPr>
        <p:spPr>
          <a:xfrm>
            <a:off x="5295817" y="5320665"/>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455837" y="5480685"/>
            <a:ext cx="320040" cy="320040"/>
          </a:xfrm>
          <a:prstGeom prst="rect">
            <a:avLst/>
          </a:prstGeom>
        </p:spPr>
      </p:pic>
      <p:sp>
        <p:nvSpPr>
          <p:cNvPr id="21" name="Run-out part 4 text"/>
          <p:cNvSpPr txBox="1"/>
          <p:nvPr/>
        </p:nvSpPr>
        <p:spPr>
          <a:xfrm>
            <a:off x="6118777" y="5246370"/>
            <a:ext cx="4975638" cy="788670"/>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stiff, repeatable chain from flange to sphere</a:t>
            </a:r>
            <a:endParaRPr lang="en-US" sz="3400" dirty="0"/>
          </a:p>
        </p:txBody>
      </p:sp>
      <p:pic>
        <p:nvPicPr>
          <p:cNvPr id="3" name="Adapter on flange with stem" descr="Adapter on flange with stem">    </p:cNvPr>
          <p:cNvPicPr>
            <a:picLocks noChangeAspect="1"/>
          </p:cNvPicPr>
          <p:nvPr/>
        </p:nvPicPr>
        <p:blipFill>
          <a:blip r:embed="rId1"/>
          <a:stretch>
            <a:fillRect/>
          </a:stretch>
        </p:blipFill>
        <p:spPr>
          <a:xfrm>
            <a:off x="457200" y="1417320"/>
            <a:ext cx="6301964" cy="4709160"/>
          </a:xfrm>
          <a:prstGeom prst="rect">
            <a:avLst/>
          </a:prstGeom>
        </p:spPr>
      </p:pic>
      <p:sp>
        <p:nvSpPr>
          <p:cNvPr id="4" name="Adapter on flange with stem frame"/>
          <p:cNvSpPr/>
          <p:nvPr/>
        </p:nvSpPr>
        <p:spPr>
          <a:xfrm>
            <a:off x="457200" y="1417320"/>
            <a:ext cx="6301964" cy="4709160"/>
          </a:xfrm>
          <a:prstGeom prst="rect">
            <a:avLst/>
          </a:prstGeom>
          <a:ln w="12700">
            <a:solidFill>
              <a:schemeClr val="accent6"/>
            </a:solidFill>
            <a:prstDash val="solid"/>
          </a:ln>
        </p:spPr>
      </p:sp>
      <p:sp>
        <p:nvSpPr>
          <p:cNvPr id="5" name="Points card"/>
          <p:cNvSpPr/>
          <p:nvPr/>
        </p:nvSpPr>
        <p:spPr>
          <a:xfrm>
            <a:off x="7033484" y="1417320"/>
            <a:ext cx="4701011" cy="3977640"/>
          </a:xfrm>
          <a:prstGeom prst="roundRect">
            <a:avLst>
              <a:gd name="adj" fmla="val 2759"/>
            </a:avLst>
          </a:prstGeom>
          <a:solidFill>
            <a:schemeClr val="bg2"/>
          </a:solidFill>
          <a:ln/>
        </p:spPr>
      </p:sp>
      <p:sp>
        <p:nvSpPr>
          <p:cNvPr id="6" name="Mounting points"/>
          <p:cNvSpPr txBox="1"/>
          <p:nvPr/>
        </p:nvSpPr>
        <p:spPr>
          <a:xfrm>
            <a:off x="7262084" y="1645920"/>
            <a:ext cx="4243811" cy="3520440"/>
          </a:xfrm>
          <a:prstGeom prst="rect">
            <a:avLst/>
          </a:prstGeom>
          <a:noFill/>
          <a:ln/>
        </p:spPr>
        <p:txBody>
          <a:bodyPr wrap="square" lIns="0" tIns="0" rIns="0" bIns="0" rtlCol="0" anchor="ctr"/>
          <a:lstStyle/>
          <a:p>
            <a:pPr algn="l" marL="177800" indent="-177800">
              <a:spcAft>
                <a:spcPts val="1200"/>
              </a:spcAft>
              <a:buSzPct val="100000"/>
              <a:buChar char="•"/>
            </a:pPr>
            <a:r>
              <a:rPr lang="en-US" sz="1600" dirty="0">
                <a:solidFill>
                  <a:schemeClr val="tx1"/>
                </a:solidFill>
              </a:rPr>
              <a:t>Adapter located by the flange dowel, so a remount lands in the same place</a:t>
            </a:r>
            <a:endParaRPr lang="en-US" sz="1600" dirty="0"/>
          </a:p>
          <a:p>
            <a:pPr algn="l" marL="177800" indent="-177800">
              <a:spcAft>
                <a:spcPts val="1200"/>
              </a:spcAft>
              <a:buSzPct val="100000"/>
              <a:buChar char="•"/>
            </a:pPr>
            <a:r>
              <a:rPr lang="en-US" sz="1600" dirty="0">
                <a:solidFill>
                  <a:schemeClr val="tx1"/>
                </a:solidFill>
              </a:rPr>
              <a:t>Ground stem, 16 mm for A and 30 mm for B, keeps sag to 0.02 to 0.05 mm</a:t>
            </a:r>
            <a:endParaRPr lang="en-US" sz="1600" dirty="0"/>
          </a:p>
          <a:p>
            <a:pPr algn="l" marL="177800" indent="-177800">
              <a:spcAft>
                <a:spcPts val="1200"/>
              </a:spcAft>
              <a:buSzPct val="100000"/>
              <a:buChar char="•"/>
            </a:pPr>
            <a:r>
              <a:rPr lang="en-US" sz="1600" dirty="0">
                <a:solidFill>
                  <a:schemeClr val="tx1"/>
                </a:solidFill>
              </a:rPr>
              <a:t>Stem length at least 2R + 50 mm, so the sphere hides the stem</a:t>
            </a:r>
            <a:endParaRPr lang="en-US" sz="1600" dirty="0"/>
          </a:p>
          <a:p>
            <a:pPr algn="l" marL="177800" indent="-177800">
              <a:spcAft>
                <a:spcPts val="1200"/>
              </a:spcAft>
              <a:buSzPct val="100000"/>
              <a:buChar char="•"/>
            </a:pPr>
            <a:r>
              <a:rPr lang="en-US" sz="1600" dirty="0">
                <a:solidFill>
                  <a:schemeClr val="tx1"/>
                </a:solidFill>
              </a:rPr>
              <a:t>Witness mark across stem and adapter shows a loosened joint</a:t>
            </a:r>
            <a:endParaRPr lang="en-US" sz="1600" dirty="0"/>
          </a:p>
          <a:p>
            <a:pPr algn="l" marL="177800" indent="-177800">
              <a:spcAft>
                <a:spcPts val="1200"/>
              </a:spcAft>
              <a:buSzPct val="100000"/>
              <a:buChar char="•"/>
            </a:pPr>
            <a:r>
              <a:rPr lang="en-US" sz="1600" dirty="0">
                <a:solidFill>
                  <a:schemeClr val="tx1"/>
                </a:solidFill>
              </a:rPr>
              <a:t>After any remount, re-check in the nest: readings within 0.1 mm</a:t>
            </a:r>
            <a:endParaRPr lang="en-US" sz="1600" dirty="0"/>
          </a:p>
        </p:txBody>
      </p:sp>
      <p:sp>
        <p:nvSpPr>
          <p:cNvPr id="7" name="Figure caption"/>
          <p:cNvSpPr txBox="1"/>
          <p:nvPr/>
        </p:nvSpPr>
        <p:spPr>
          <a:xfrm>
            <a:off x="7033484" y="5669280"/>
            <a:ext cx="4701011" cy="457200"/>
          </a:xfrm>
          <a:prstGeom prst="rect">
            <a:avLst/>
          </a:prstGeom>
          <a:noFill/>
          <a:ln/>
        </p:spPr>
        <p:txBody>
          <a:bodyPr wrap="square" lIns="0" tIns="0" rIns="0" bIns="0" rtlCol="0" anchor="b"/>
          <a:lstStyle/>
          <a:p>
            <a:pPr algn="l" indent="0" marL="0">
              <a:buNone/>
            </a:pPr>
            <a:r>
              <a:rPr lang="en-US" sz="1200" dirty="0">
                <a:solidFill>
                  <a:schemeClr val="accent5"/>
                </a:solidFill>
              </a:rPr>
              <a:t>Adapter on the flange's dowel, with the stem's shoulder seated on the adapter 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end: threaded insert or bonded stem</a:t>
            </a:r>
            <a:endParaRPr lang="en-US" sz="3400" dirty="0"/>
          </a:p>
        </p:txBody>
      </p:sp>
      <p:pic>
        <p:nvPicPr>
          <p:cNvPr id="3" name="Ceramic sphere with threaded insert" descr="Ceramic sphere with threaded insert">    </p:cNvPr>
          <p:cNvPicPr>
            <a:picLocks noChangeAspect="1"/>
          </p:cNvPicPr>
          <p:nvPr/>
        </p:nvPicPr>
        <p:blipFill>
          <a:blip r:embed="rId1"/>
          <a:stretch>
            <a:fillRect/>
          </a:stretch>
        </p:blipFill>
        <p:spPr>
          <a:xfrm>
            <a:off x="457200" y="1417320"/>
            <a:ext cx="5132321" cy="3657600"/>
          </a:xfrm>
          <a:prstGeom prst="rect">
            <a:avLst/>
          </a:prstGeom>
        </p:spPr>
      </p:pic>
      <p:sp>
        <p:nvSpPr>
          <p:cNvPr id="4" name="Ceramic sphere with threaded insert frame"/>
          <p:cNvSpPr/>
          <p:nvPr/>
        </p:nvSpPr>
        <p:spPr>
          <a:xfrm>
            <a:off x="457200" y="1417320"/>
            <a:ext cx="5132321" cy="3657600"/>
          </a:xfrm>
          <a:prstGeom prst="rect">
            <a:avLst/>
          </a:prstGeom>
          <a:ln w="12700">
            <a:solidFill>
              <a:schemeClr val="accent6"/>
            </a:solidFill>
            <a:prstDash val="solid"/>
          </a:ln>
        </p:spPr>
      </p:sp>
      <p:pic>
        <p:nvPicPr>
          <p:cNvPr id="5" name="Steel sphere with bonded blind hole" descr="Steel sphere with bonded blind hole">    </p:cNvPr>
          <p:cNvPicPr>
            <a:picLocks noChangeAspect="1"/>
          </p:cNvPicPr>
          <p:nvPr/>
        </p:nvPicPr>
        <p:blipFill>
          <a:blip r:embed="rId2"/>
          <a:stretch>
            <a:fillRect/>
          </a:stretch>
        </p:blipFill>
        <p:spPr>
          <a:xfrm>
            <a:off x="6711683" y="1417320"/>
            <a:ext cx="5022812" cy="3657600"/>
          </a:xfrm>
          <a:prstGeom prst="rect">
            <a:avLst/>
          </a:prstGeom>
        </p:spPr>
      </p:pic>
      <p:sp>
        <p:nvSpPr>
          <p:cNvPr id="6" name="Steel sphere with bonded blind hole frame"/>
          <p:cNvSpPr/>
          <p:nvPr/>
        </p:nvSpPr>
        <p:spPr>
          <a:xfrm>
            <a:off x="6711683" y="1417320"/>
            <a:ext cx="5022812" cy="3657600"/>
          </a:xfrm>
          <a:prstGeom prst="rect">
            <a:avLst/>
          </a:prstGeom>
          <a:ln w="12700">
            <a:solidFill>
              <a:schemeClr val="accent6"/>
            </a:solidFill>
            <a:prstDash val="solid"/>
          </a:ln>
        </p:spPr>
      </p:sp>
      <p:sp>
        <p:nvSpPr>
          <p:cNvPr id="7" name="Label ceramic sphere"/>
          <p:cNvSpPr txBox="1"/>
          <p:nvPr/>
        </p:nvSpPr>
        <p:spPr>
          <a:xfrm>
            <a:off x="457200" y="5257800"/>
            <a:ext cx="5132321" cy="320040"/>
          </a:xfrm>
          <a:prstGeom prst="rect">
            <a:avLst/>
          </a:prstGeom>
          <a:noFill/>
          <a:ln/>
        </p:spPr>
        <p:txBody>
          <a:bodyPr wrap="square" lIns="0" tIns="0" rIns="0" bIns="0" rtlCol="0" anchor="t"/>
          <a:lstStyle/>
          <a:p>
            <a:pPr algn="l" indent="0" marL="0">
              <a:buNone/>
            </a:pPr>
            <a:r>
              <a:rPr lang="en-US" sz="1600" b="1" dirty="0">
                <a:solidFill>
                  <a:schemeClr val="tx2"/>
                </a:solidFill>
              </a:rPr>
              <a:t>Ceramic sphere: maker's threaded insert</a:t>
            </a:r>
            <a:endParaRPr lang="en-US" sz="1600" dirty="0"/>
          </a:p>
        </p:txBody>
      </p:sp>
      <p:sp>
        <p:nvSpPr>
          <p:cNvPr id="8" name="Label steel sphere"/>
          <p:cNvSpPr txBox="1"/>
          <p:nvPr/>
        </p:nvSpPr>
        <p:spPr>
          <a:xfrm>
            <a:off x="6711683" y="5257800"/>
            <a:ext cx="5022812" cy="320040"/>
          </a:xfrm>
          <a:prstGeom prst="rect">
            <a:avLst/>
          </a:prstGeom>
          <a:noFill/>
          <a:ln/>
        </p:spPr>
        <p:txBody>
          <a:bodyPr wrap="square" lIns="0" tIns="0" rIns="0" bIns="0" rtlCol="0" anchor="t"/>
          <a:lstStyle/>
          <a:p>
            <a:pPr algn="l" indent="0" marL="0">
              <a:buNone/>
            </a:pPr>
            <a:r>
              <a:rPr lang="en-US" sz="1600" b="1" dirty="0">
                <a:solidFill>
                  <a:schemeClr val="tx2"/>
                </a:solidFill>
              </a:rPr>
              <a:t>Steel sphere: bonded blind hole</a:t>
            </a:r>
            <a:endParaRPr lang="en-US" sz="1600" dirty="0"/>
          </a:p>
        </p:txBody>
      </p:sp>
      <p:sp>
        <p:nvSpPr>
          <p:cNvPr id="9" name="Figure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The hole need not be exactly radial: the tool-center-point routine measures the center wherever it ends up.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 must stay flat after finishing and mounting</a:t>
            </a:r>
            <a:endParaRPr lang="en-US" sz="3400" dirty="0"/>
          </a:p>
        </p:txBody>
      </p:sp>
      <p:pic>
        <p:nvPicPr>
          <p:cNvPr id="3" name="Board on its adapter" descr="Board on its adapter">    </p:cNvPr>
          <p:cNvPicPr>
            <a:picLocks noChangeAspect="1"/>
          </p:cNvPicPr>
          <p:nvPr/>
        </p:nvPicPr>
        <p:blipFill>
          <a:blip r:embed="rId1"/>
          <a:stretch>
            <a:fillRect/>
          </a:stretch>
        </p:blipFill>
        <p:spPr>
          <a:xfrm>
            <a:off x="457200" y="1417320"/>
            <a:ext cx="4335697" cy="4069080"/>
          </a:xfrm>
          <a:prstGeom prst="rect">
            <a:avLst/>
          </a:prstGeom>
        </p:spPr>
      </p:pic>
      <p:sp>
        <p:nvSpPr>
          <p:cNvPr id="4" name="Board on its adapter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Board on its adapter. The runout and frame checks shown here are done at setup (deck 2).</a:t>
            </a:r>
            <a:endParaRPr lang="en-US" sz="1200" dirty="0"/>
          </a:p>
        </p:txBody>
      </p:sp>
      <p:sp>
        <p:nvSpPr>
          <p:cNvPr id="6" name="Board part 1 card"/>
          <p:cNvSpPr/>
          <p:nvPr/>
        </p:nvSpPr>
        <p:spPr>
          <a:xfrm>
            <a:off x="5067217" y="1417320"/>
            <a:ext cx="6667278" cy="919316"/>
          </a:xfrm>
          <a:prstGeom prst="roundRect">
            <a:avLst>
              <a:gd name="adj" fmla="val 11936"/>
            </a:avLst>
          </a:prstGeom>
          <a:solidFill>
            <a:schemeClr val="bg2"/>
          </a:solidFill>
          <a:ln/>
        </p:spPr>
      </p:sp>
      <p:sp>
        <p:nvSpPr>
          <p:cNvPr id="7" name="Board part 1 icon circle"/>
          <p:cNvSpPr/>
          <p:nvPr/>
        </p:nvSpPr>
        <p:spPr>
          <a:xfrm>
            <a:off x="5295817" y="1556938"/>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5455837" y="1716958"/>
            <a:ext cx="320040" cy="320040"/>
          </a:xfrm>
          <a:prstGeom prst="rect">
            <a:avLst/>
          </a:prstGeom>
        </p:spPr>
      </p:pic>
      <p:sp>
        <p:nvSpPr>
          <p:cNvPr id="9" name="Board part 1 text"/>
          <p:cNvSpPr txBox="1"/>
          <p:nvPr/>
        </p:nvSpPr>
        <p:spPr>
          <a:xfrm>
            <a:off x="6118777" y="1508760"/>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067217" y="2610956"/>
            <a:ext cx="6667278" cy="919316"/>
          </a:xfrm>
          <a:prstGeom prst="roundRect">
            <a:avLst>
              <a:gd name="adj" fmla="val 11936"/>
            </a:avLst>
          </a:prstGeom>
          <a:solidFill>
            <a:schemeClr val="bg2"/>
          </a:solidFill>
          <a:ln/>
        </p:spPr>
      </p:sp>
      <p:sp>
        <p:nvSpPr>
          <p:cNvPr id="11" name="Board part 2 icon circle"/>
          <p:cNvSpPr/>
          <p:nvPr/>
        </p:nvSpPr>
        <p:spPr>
          <a:xfrm>
            <a:off x="5295817" y="27505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5455837" y="2910594"/>
            <a:ext cx="320040" cy="320040"/>
          </a:xfrm>
          <a:prstGeom prst="rect">
            <a:avLst/>
          </a:prstGeom>
        </p:spPr>
      </p:pic>
      <p:sp>
        <p:nvSpPr>
          <p:cNvPr id="13" name="Board part 2 text"/>
          <p:cNvSpPr txBox="1"/>
          <p:nvPr/>
        </p:nvSpPr>
        <p:spPr>
          <a:xfrm>
            <a:off x="6118777" y="2702396"/>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067217" y="3804592"/>
            <a:ext cx="6667278" cy="919316"/>
          </a:xfrm>
          <a:prstGeom prst="roundRect">
            <a:avLst>
              <a:gd name="adj" fmla="val 11936"/>
            </a:avLst>
          </a:prstGeom>
          <a:solidFill>
            <a:schemeClr val="bg2"/>
          </a:solidFill>
          <a:ln/>
        </p:spPr>
      </p:sp>
      <p:sp>
        <p:nvSpPr>
          <p:cNvPr id="15" name="Board part 3 icon circle"/>
          <p:cNvSpPr/>
          <p:nvPr/>
        </p:nvSpPr>
        <p:spPr>
          <a:xfrm>
            <a:off x="5295817" y="3944210"/>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5455837" y="4104230"/>
            <a:ext cx="320040" cy="320040"/>
          </a:xfrm>
          <a:prstGeom prst="rect">
            <a:avLst/>
          </a:prstGeom>
        </p:spPr>
      </p:pic>
      <p:sp>
        <p:nvSpPr>
          <p:cNvPr id="17" name="Board part 3 text"/>
          <p:cNvSpPr txBox="1"/>
          <p:nvPr/>
        </p:nvSpPr>
        <p:spPr>
          <a:xfrm>
            <a:off x="6118777" y="3896032"/>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067217" y="4998228"/>
            <a:ext cx="6667278" cy="1128252"/>
          </a:xfrm>
          <a:prstGeom prst="roundRect">
            <a:avLst>
              <a:gd name="adj" fmla="val 9725"/>
            </a:avLst>
          </a:prstGeom>
          <a:solidFill>
            <a:schemeClr val="bg2"/>
          </a:solidFill>
          <a:ln/>
        </p:spPr>
      </p:sp>
      <p:sp>
        <p:nvSpPr>
          <p:cNvPr id="19" name="Board part 4 icon circle"/>
          <p:cNvSpPr/>
          <p:nvPr/>
        </p:nvSpPr>
        <p:spPr>
          <a:xfrm>
            <a:off x="5295817" y="5242314"/>
            <a:ext cx="640080" cy="640080"/>
          </a:xfrm>
          <a:prstGeom prst="ellipse">
            <a:avLst/>
          </a:prstGeom>
          <a:solidFill>
            <a:schemeClr val="accent2"/>
          </a:solidFill>
          <a:ln/>
        </p:spPr>
      </p:sp>
      <p:pic>
        <p:nvPicPr>
          <p:cNvPr id="20" name="Board part 4 icon glyph" descr="wrench icon">    </p:cNvPr>
          <p:cNvPicPr>
            <a:picLocks noChangeAspect="1"/>
          </p:cNvPicPr>
          <p:nvPr/>
        </p:nvPicPr>
        <p:blipFill>
          <a:blip r:embed="rId5"/>
          <a:stretch>
            <a:fillRect/>
          </a:stretch>
        </p:blipFill>
        <p:spPr>
          <a:xfrm>
            <a:off x="5455837" y="5402334"/>
            <a:ext cx="320040" cy="320040"/>
          </a:xfrm>
          <a:prstGeom prst="rect">
            <a:avLst/>
          </a:prstGeom>
        </p:spPr>
      </p:pic>
      <p:sp>
        <p:nvSpPr>
          <p:cNvPr id="21" name="Board part 4 text"/>
          <p:cNvSpPr txBox="1"/>
          <p:nvPr/>
        </p:nvSpPr>
        <p:spPr>
          <a:xfrm>
            <a:off x="6118777" y="5089668"/>
            <a:ext cx="5387118" cy="945372"/>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three-ball nest holds each sphere at a fixed center</a:t>
            </a:r>
            <a:endParaRPr lang="en-US" sz="3400" dirty="0"/>
          </a:p>
        </p:txBody>
      </p:sp>
      <p:sp>
        <p:nvSpPr>
          <p:cNvPr id="3" name="Nest diagram card"/>
          <p:cNvSpPr/>
          <p:nvPr/>
        </p:nvSpPr>
        <p:spPr>
          <a:xfrm>
            <a:off x="457200" y="1417320"/>
            <a:ext cx="6035040" cy="4709160"/>
          </a:xfrm>
          <a:prstGeom prst="roundRect">
            <a:avLst>
              <a:gd name="adj" fmla="val 2330"/>
            </a:avLst>
          </a:prstGeom>
          <a:solidFill>
            <a:schemeClr val="bg1"/>
          </a:solidFill>
          <a:ln w="12700">
            <a:solidFill>
              <a:schemeClr val="accent6"/>
            </a:solidFill>
            <a:prstDash val="solid"/>
          </a:ln>
        </p:spPr>
      </p:sp>
      <p:sp>
        <p:nvSpPr>
          <p:cNvPr id="4" name="Side view base plate"/>
          <p:cNvSpPr/>
          <p:nvPr/>
        </p:nvSpPr>
        <p:spPr>
          <a:xfrm>
            <a:off x="685800" y="4630801"/>
            <a:ext cx="2651760" cy="256032"/>
          </a:xfrm>
          <a:prstGeom prst="rect">
            <a:avLst/>
          </a:prstGeom>
          <a:solidFill>
            <a:schemeClr val="accent3"/>
          </a:solidFill>
          <a:ln/>
        </p:spPr>
      </p:sp>
      <p:sp>
        <p:nvSpPr>
          <p:cNvPr id="5" name="Side view ball 1"/>
          <p:cNvSpPr/>
          <p:nvPr/>
        </p:nvSpPr>
        <p:spPr>
          <a:xfrm>
            <a:off x="1167197" y="4082161"/>
            <a:ext cx="548640" cy="548640"/>
          </a:xfrm>
          <a:prstGeom prst="ellipse">
            <a:avLst/>
          </a:prstGeom>
          <a:solidFill>
            <a:schemeClr val="accent5"/>
          </a:solidFill>
          <a:ln w="19050">
            <a:solidFill>
              <a:schemeClr val="accent5"/>
            </a:solidFill>
            <a:prstDash val="solid"/>
          </a:ln>
        </p:spPr>
      </p:sp>
      <p:sp>
        <p:nvSpPr>
          <p:cNvPr id="6" name="Side view ball 2"/>
          <p:cNvSpPr/>
          <p:nvPr/>
        </p:nvSpPr>
        <p:spPr>
          <a:xfrm>
            <a:off x="2307523" y="4082161"/>
            <a:ext cx="548640" cy="548640"/>
          </a:xfrm>
          <a:prstGeom prst="ellipse">
            <a:avLst/>
          </a:prstGeom>
          <a:solidFill>
            <a:schemeClr val="accent5"/>
          </a:solidFill>
          <a:ln w="19050">
            <a:solidFill>
              <a:schemeClr val="accent5"/>
            </a:solidFill>
            <a:prstDash val="solid"/>
          </a:ln>
        </p:spPr>
      </p:sp>
      <p:sp>
        <p:nvSpPr>
          <p:cNvPr id="7" name="Side view sphere"/>
          <p:cNvSpPr/>
          <p:nvPr/>
        </p:nvSpPr>
        <p:spPr>
          <a:xfrm>
            <a:off x="960120" y="2154047"/>
            <a:ext cx="2103120" cy="2103120"/>
          </a:xfrm>
          <a:prstGeom prst="ellipse">
            <a:avLst/>
          </a:prstGeom>
          <a:solidFill>
            <a:schemeClr val="bg2"/>
          </a:solidFill>
          <a:ln w="19050">
            <a:solidFill>
              <a:schemeClr val="accent5"/>
            </a:solidFill>
            <a:prstDash val="solid"/>
          </a:ln>
        </p:spPr>
      </p:sp>
      <p:sp>
        <p:nvSpPr>
          <p:cNvPr id="8" name="Side view sphere center cross horizontal"/>
          <p:cNvSpPr/>
          <p:nvPr/>
        </p:nvSpPr>
        <p:spPr>
          <a:xfrm>
            <a:off x="1828800" y="3205607"/>
            <a:ext cx="365760" cy="0"/>
          </a:xfrm>
          <a:prstGeom prst="line">
            <a:avLst/>
          </a:prstGeom>
          <a:noFill/>
          <a:ln w="38100">
            <a:solidFill>
              <a:schemeClr val="accent4"/>
            </a:solidFill>
            <a:prstDash val="solid"/>
          </a:ln>
        </p:spPr>
      </p:sp>
      <p:sp>
        <p:nvSpPr>
          <p:cNvPr id="9" name="Side view sphere center cross vertical"/>
          <p:cNvSpPr/>
          <p:nvPr/>
        </p:nvSpPr>
        <p:spPr>
          <a:xfrm>
            <a:off x="2011680" y="3022727"/>
            <a:ext cx="0" cy="365760"/>
          </a:xfrm>
          <a:prstGeom prst="line">
            <a:avLst/>
          </a:prstGeom>
          <a:noFill/>
          <a:ln w="38100">
            <a:solidFill>
              <a:schemeClr val="accent4"/>
            </a:solidFill>
            <a:prstDash val="solid"/>
          </a:ln>
        </p:spPr>
      </p:sp>
      <p:sp>
        <p:nvSpPr>
          <p:cNvPr id="10" name="Side view label"/>
          <p:cNvSpPr txBox="1"/>
          <p:nvPr/>
        </p:nvSpPr>
        <p:spPr>
          <a:xfrm>
            <a:off x="68580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Side view</a:t>
            </a:r>
            <a:endParaRPr lang="en-US" sz="1400" dirty="0"/>
          </a:p>
        </p:txBody>
      </p:sp>
      <p:sp>
        <p:nvSpPr>
          <p:cNvPr id="11" name="Top view base outline"/>
          <p:cNvSpPr/>
          <p:nvPr/>
        </p:nvSpPr>
        <p:spPr>
          <a:xfrm>
            <a:off x="3611880" y="2235073"/>
            <a:ext cx="2651760" cy="2651760"/>
          </a:xfrm>
          <a:prstGeom prst="roundRect">
            <a:avLst>
              <a:gd name="adj" fmla="val 2759"/>
            </a:avLst>
          </a:prstGeom>
          <a:solidFill>
            <a:schemeClr val="accent6"/>
          </a:solidFill>
          <a:ln w="19050">
            <a:solidFill>
              <a:schemeClr val="accent3"/>
            </a:solidFill>
            <a:prstDash val="solid"/>
          </a:ln>
        </p:spPr>
      </p:sp>
      <p:sp>
        <p:nvSpPr>
          <p:cNvPr id="12" name="Top view ball 1"/>
          <p:cNvSpPr/>
          <p:nvPr/>
        </p:nvSpPr>
        <p:spPr>
          <a:xfrm>
            <a:off x="4663440" y="2628265"/>
            <a:ext cx="548640" cy="548640"/>
          </a:xfrm>
          <a:prstGeom prst="ellipse">
            <a:avLst/>
          </a:prstGeom>
          <a:solidFill>
            <a:schemeClr val="accent5"/>
          </a:solidFill>
          <a:ln w="19050">
            <a:solidFill>
              <a:schemeClr val="accent5"/>
            </a:solidFill>
            <a:prstDash val="solid"/>
          </a:ln>
        </p:spPr>
      </p:sp>
      <p:sp>
        <p:nvSpPr>
          <p:cNvPr id="13" name="Top view ball 2"/>
          <p:cNvSpPr/>
          <p:nvPr/>
        </p:nvSpPr>
        <p:spPr>
          <a:xfrm>
            <a:off x="5233603" y="3615817"/>
            <a:ext cx="548640" cy="548640"/>
          </a:xfrm>
          <a:prstGeom prst="ellipse">
            <a:avLst/>
          </a:prstGeom>
          <a:solidFill>
            <a:schemeClr val="accent5"/>
          </a:solidFill>
          <a:ln w="19050">
            <a:solidFill>
              <a:schemeClr val="accent5"/>
            </a:solidFill>
            <a:prstDash val="solid"/>
          </a:ln>
        </p:spPr>
      </p:sp>
      <p:sp>
        <p:nvSpPr>
          <p:cNvPr id="14" name="Top view ball 3"/>
          <p:cNvSpPr/>
          <p:nvPr/>
        </p:nvSpPr>
        <p:spPr>
          <a:xfrm>
            <a:off x="4093277" y="3615817"/>
            <a:ext cx="548640" cy="548640"/>
          </a:xfrm>
          <a:prstGeom prst="ellipse">
            <a:avLst/>
          </a:prstGeom>
          <a:solidFill>
            <a:schemeClr val="accent5"/>
          </a:solidFill>
          <a:ln w="19050">
            <a:solidFill>
              <a:schemeClr val="accent5"/>
            </a:solidFill>
            <a:prstDash val="solid"/>
          </a:ln>
        </p:spPr>
      </p:sp>
      <p:sp>
        <p:nvSpPr>
          <p:cNvPr id="15" name="Top view sphere outline"/>
          <p:cNvSpPr/>
          <p:nvPr/>
        </p:nvSpPr>
        <p:spPr>
          <a:xfrm>
            <a:off x="3886200" y="2509393"/>
            <a:ext cx="2103120" cy="2103120"/>
          </a:xfrm>
          <a:prstGeom prst="ellipse">
            <a:avLst/>
          </a:prstGeom>
          <a:ln w="25400">
            <a:solidFill>
              <a:schemeClr val="tx2"/>
            </a:solidFill>
            <a:prstDash val="dash"/>
          </a:ln>
        </p:spPr>
      </p:sp>
      <p:sp>
        <p:nvSpPr>
          <p:cNvPr id="16" name="Top view sphere center cross horizontal"/>
          <p:cNvSpPr/>
          <p:nvPr/>
        </p:nvSpPr>
        <p:spPr>
          <a:xfrm>
            <a:off x="4754880" y="3560953"/>
            <a:ext cx="365760" cy="0"/>
          </a:xfrm>
          <a:prstGeom prst="line">
            <a:avLst/>
          </a:prstGeom>
          <a:noFill/>
          <a:ln w="38100">
            <a:solidFill>
              <a:schemeClr val="accent4"/>
            </a:solidFill>
            <a:prstDash val="solid"/>
          </a:ln>
        </p:spPr>
      </p:sp>
      <p:sp>
        <p:nvSpPr>
          <p:cNvPr id="17" name="Top view sphere center cross vertical"/>
          <p:cNvSpPr/>
          <p:nvPr/>
        </p:nvSpPr>
        <p:spPr>
          <a:xfrm>
            <a:off x="4937760" y="3378073"/>
            <a:ext cx="0" cy="365760"/>
          </a:xfrm>
          <a:prstGeom prst="line">
            <a:avLst/>
          </a:prstGeom>
          <a:noFill/>
          <a:ln w="38100">
            <a:solidFill>
              <a:schemeClr val="accent4"/>
            </a:solidFill>
            <a:prstDash val="solid"/>
          </a:ln>
        </p:spPr>
      </p:sp>
      <p:sp>
        <p:nvSpPr>
          <p:cNvPr id="18" name="Top view label"/>
          <p:cNvSpPr txBox="1"/>
          <p:nvPr/>
        </p:nvSpPr>
        <p:spPr>
          <a:xfrm>
            <a:off x="361188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Top view</a:t>
            </a:r>
            <a:endParaRPr lang="en-US" sz="1400" dirty="0"/>
          </a:p>
        </p:txBody>
      </p:sp>
      <p:sp>
        <p:nvSpPr>
          <p:cNvPr id="19" name="Nest point row 1 card"/>
          <p:cNvSpPr/>
          <p:nvPr/>
        </p:nvSpPr>
        <p:spPr>
          <a:xfrm>
            <a:off x="6766560" y="1417320"/>
            <a:ext cx="4967935" cy="971550"/>
          </a:xfrm>
          <a:prstGeom prst="roundRect">
            <a:avLst>
              <a:gd name="adj" fmla="val 11294"/>
            </a:avLst>
          </a:prstGeom>
          <a:solidFill>
            <a:schemeClr val="bg2"/>
          </a:solidFill>
          <a:ln/>
        </p:spPr>
      </p:sp>
      <p:sp>
        <p:nvSpPr>
          <p:cNvPr id="20" name="Nest point icon 1 circle"/>
          <p:cNvSpPr/>
          <p:nvPr/>
        </p:nvSpPr>
        <p:spPr>
          <a:xfrm>
            <a:off x="6949440" y="1697355"/>
            <a:ext cx="411480" cy="411480"/>
          </a:xfrm>
          <a:prstGeom prst="ellipse">
            <a:avLst/>
          </a:prstGeom>
          <a:solidFill>
            <a:schemeClr val="accent2"/>
          </a:solidFill>
          <a:ln/>
        </p:spPr>
      </p:sp>
      <p:pic>
        <p:nvPicPr>
          <p:cNvPr id="21" name="Nest point icon 1 glyph" descr="circle icon">    </p:cNvPr>
          <p:cNvPicPr>
            <a:picLocks noChangeAspect="1"/>
          </p:cNvPicPr>
          <p:nvPr/>
        </p:nvPicPr>
        <p:blipFill>
          <a:blip r:embed="rId1"/>
          <a:stretch>
            <a:fillRect/>
          </a:stretch>
        </p:blipFill>
        <p:spPr>
          <a:xfrm>
            <a:off x="7052310" y="1800225"/>
            <a:ext cx="205740" cy="205740"/>
          </a:xfrm>
          <a:prstGeom prst="rect">
            <a:avLst/>
          </a:prstGeom>
        </p:spPr>
      </p:pic>
      <p:sp>
        <p:nvSpPr>
          <p:cNvPr id="22" name="Nest point text 1"/>
          <p:cNvSpPr txBox="1"/>
          <p:nvPr/>
        </p:nvSpPr>
        <p:spPr>
          <a:xfrm>
            <a:off x="7543800" y="141732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Three hardened balls, 24 mm diameter, bonded into pockets on a 60 mm circle in a 120 mm steel base</a:t>
            </a:r>
            <a:endParaRPr lang="en-US" sz="1600" dirty="0"/>
          </a:p>
        </p:txBody>
      </p:sp>
      <p:sp>
        <p:nvSpPr>
          <p:cNvPr id="23" name="Nest point row 2 card"/>
          <p:cNvSpPr/>
          <p:nvPr/>
        </p:nvSpPr>
        <p:spPr>
          <a:xfrm>
            <a:off x="6766560" y="2663190"/>
            <a:ext cx="4967935" cy="971550"/>
          </a:xfrm>
          <a:prstGeom prst="roundRect">
            <a:avLst>
              <a:gd name="adj" fmla="val 11294"/>
            </a:avLst>
          </a:prstGeom>
          <a:solidFill>
            <a:schemeClr val="bg2"/>
          </a:solidFill>
          <a:ln/>
        </p:spPr>
      </p:sp>
      <p:sp>
        <p:nvSpPr>
          <p:cNvPr id="24" name="Nest point icon 2 circle"/>
          <p:cNvSpPr/>
          <p:nvPr/>
        </p:nvSpPr>
        <p:spPr>
          <a:xfrm>
            <a:off x="6949440" y="2943225"/>
            <a:ext cx="411480" cy="411480"/>
          </a:xfrm>
          <a:prstGeom prst="ellipse">
            <a:avLst/>
          </a:prstGeom>
          <a:solidFill>
            <a:schemeClr val="accent2"/>
          </a:solidFill>
          <a:ln/>
        </p:spPr>
      </p:sp>
      <p:pic>
        <p:nvPicPr>
          <p:cNvPr id="25" name="Nest point icon 2 glyph" descr="check icon">    </p:cNvPr>
          <p:cNvPicPr>
            <a:picLocks noChangeAspect="1"/>
          </p:cNvPicPr>
          <p:nvPr/>
        </p:nvPicPr>
        <p:blipFill>
          <a:blip r:embed="rId2"/>
          <a:stretch>
            <a:fillRect/>
          </a:stretch>
        </p:blipFill>
        <p:spPr>
          <a:xfrm>
            <a:off x="7052310" y="3046095"/>
            <a:ext cx="205740" cy="205740"/>
          </a:xfrm>
          <a:prstGeom prst="rect">
            <a:avLst/>
          </a:prstGeom>
        </p:spPr>
      </p:pic>
      <p:sp>
        <p:nvSpPr>
          <p:cNvPr id="26" name="Nest point text 2"/>
          <p:cNvSpPr txBox="1"/>
          <p:nvPr/>
        </p:nvSpPr>
        <p:spPr>
          <a:xfrm>
            <a:off x="7543800" y="266319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Ordinary grade-25 bearing balls are good enough: the nest's quality comes from the balls being rigidly fixed</a:t>
            </a:r>
            <a:endParaRPr lang="en-US" sz="1600" dirty="0"/>
          </a:p>
        </p:txBody>
      </p:sp>
      <p:sp>
        <p:nvSpPr>
          <p:cNvPr id="27" name="Nest point row 3 card"/>
          <p:cNvSpPr/>
          <p:nvPr/>
        </p:nvSpPr>
        <p:spPr>
          <a:xfrm>
            <a:off x="6766560" y="3909060"/>
            <a:ext cx="4967935" cy="971550"/>
          </a:xfrm>
          <a:prstGeom prst="roundRect">
            <a:avLst>
              <a:gd name="adj" fmla="val 11294"/>
            </a:avLst>
          </a:prstGeom>
          <a:solidFill>
            <a:schemeClr val="bg2"/>
          </a:solidFill>
          <a:ln/>
        </p:spPr>
      </p:sp>
      <p:sp>
        <p:nvSpPr>
          <p:cNvPr id="28" name="Nest point icon 3 circle"/>
          <p:cNvSpPr/>
          <p:nvPr/>
        </p:nvSpPr>
        <p:spPr>
          <a:xfrm>
            <a:off x="6949440" y="4189095"/>
            <a:ext cx="411480" cy="411480"/>
          </a:xfrm>
          <a:prstGeom prst="ellipse">
            <a:avLst/>
          </a:prstGeom>
          <a:solidFill>
            <a:schemeClr val="accent2"/>
          </a:solidFill>
          <a:ln/>
        </p:spPr>
      </p:sp>
      <p:pic>
        <p:nvPicPr>
          <p:cNvPr id="29" name="Nest point icon 3 glyph" descr="tool icon">    </p:cNvPr>
          <p:cNvPicPr>
            <a:picLocks noChangeAspect="1"/>
          </p:cNvPicPr>
          <p:nvPr/>
        </p:nvPicPr>
        <p:blipFill>
          <a:blip r:embed="rId3"/>
          <a:stretch>
            <a:fillRect/>
          </a:stretch>
        </p:blipFill>
        <p:spPr>
          <a:xfrm>
            <a:off x="7052310" y="4291965"/>
            <a:ext cx="205740" cy="205740"/>
          </a:xfrm>
          <a:prstGeom prst="rect">
            <a:avLst/>
          </a:prstGeom>
        </p:spPr>
      </p:pic>
      <p:sp>
        <p:nvSpPr>
          <p:cNvPr id="30" name="Nest point text 3"/>
          <p:cNvSpPr txBox="1"/>
          <p:nvPr/>
        </p:nvSpPr>
        <p:spPr>
          <a:xfrm>
            <a:off x="7543800" y="390906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Bolted to the table where the robot reaches with the wrist down and tilted about 40 degrees to either side</a:t>
            </a:r>
            <a:endParaRPr lang="en-US" sz="1600" dirty="0"/>
          </a:p>
        </p:txBody>
      </p:sp>
      <p:sp>
        <p:nvSpPr>
          <p:cNvPr id="31" name="Nest point row 4 card"/>
          <p:cNvSpPr/>
          <p:nvPr/>
        </p:nvSpPr>
        <p:spPr>
          <a:xfrm>
            <a:off x="6766560" y="5154930"/>
            <a:ext cx="4967935" cy="971550"/>
          </a:xfrm>
          <a:prstGeom prst="roundRect">
            <a:avLst>
              <a:gd name="adj" fmla="val 11294"/>
            </a:avLst>
          </a:prstGeom>
          <a:solidFill>
            <a:schemeClr val="bg2"/>
          </a:solidFill>
          <a:ln/>
        </p:spPr>
      </p:sp>
      <p:sp>
        <p:nvSpPr>
          <p:cNvPr id="32" name="Nest point icon 4 circle"/>
          <p:cNvSpPr/>
          <p:nvPr/>
        </p:nvSpPr>
        <p:spPr>
          <a:xfrm>
            <a:off x="6949440" y="5434965"/>
            <a:ext cx="411480" cy="411480"/>
          </a:xfrm>
          <a:prstGeom prst="ellipse">
            <a:avLst/>
          </a:prstGeom>
          <a:solidFill>
            <a:schemeClr val="accent2"/>
          </a:solidFill>
          <a:ln/>
        </p:spPr>
      </p:sp>
      <p:pic>
        <p:nvPicPr>
          <p:cNvPr id="33" name="Nest point icon 4 glyph" descr="clock icon">    </p:cNvPr>
          <p:cNvPicPr>
            <a:picLocks noChangeAspect="1"/>
          </p:cNvPicPr>
          <p:nvPr/>
        </p:nvPicPr>
        <p:blipFill>
          <a:blip r:embed="rId4"/>
          <a:stretch>
            <a:fillRect/>
          </a:stretch>
        </p:blipFill>
        <p:spPr>
          <a:xfrm>
            <a:off x="7052310" y="5537835"/>
            <a:ext cx="205740" cy="205740"/>
          </a:xfrm>
          <a:prstGeom prst="rect">
            <a:avLst/>
          </a:prstGeom>
        </p:spPr>
      </p:pic>
      <p:sp>
        <p:nvSpPr>
          <p:cNvPr id="34" name="Nest point text 4"/>
          <p:cNvSpPr txBox="1"/>
          <p:nvPr/>
        </p:nvSpPr>
        <p:spPr>
          <a:xfrm>
            <a:off x="7543800" y="515493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Used once per sphere at setup, and after any remount of an adapter or stem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fixtures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9571"/>
            <a:ext cx="411480" cy="411480"/>
          </a:xfrm>
          <a:prstGeom prst="rect">
            <a:avLst/>
          </a:prstGeom>
        </p:spPr>
      </p:pic>
      <p:sp>
        <p:nvSpPr>
          <p:cNvPr id="4" name="Checklist text 1"/>
          <p:cNvSpPr txBox="1"/>
          <p:nvPr/>
        </p:nvSpPr>
        <p:spPr>
          <a:xfrm>
            <a:off x="1051560" y="1417320"/>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Adapter plates, stems, board adapter and nest base made to drawings SC1-01 to SC1-06</a:t>
            </a:r>
            <a:endParaRPr lang="en-US" sz="1600" dirty="0"/>
          </a:p>
        </p:txBody>
      </p:sp>
      <p:pic>
        <p:nvPicPr>
          <p:cNvPr id="5" name="Checklist check 2" descr="check icon">    </p:cNvPr>
          <p:cNvPicPr>
            <a:picLocks noChangeAspect="1"/>
          </p:cNvPicPr>
          <p:nvPr/>
        </p:nvPicPr>
        <p:blipFill>
          <a:blip r:embed="rId2"/>
          <a:stretch>
            <a:fillRect/>
          </a:stretch>
        </p:blipFill>
        <p:spPr>
          <a:xfrm>
            <a:off x="457200" y="2168434"/>
            <a:ext cx="411480" cy="411480"/>
          </a:xfrm>
          <a:prstGeom prst="rect">
            <a:avLst/>
          </a:prstGeom>
        </p:spPr>
      </p:pic>
      <p:sp>
        <p:nvSpPr>
          <p:cNvPr id="6" name="Checklist text 2"/>
          <p:cNvSpPr txBox="1"/>
          <p:nvPr/>
        </p:nvSpPr>
        <p:spPr>
          <a:xfrm>
            <a:off x="1051560" y="2116183"/>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Adapter thread square to its stem-side face within 0.02 mm over 100 mm</a:t>
            </a:r>
            <a:endParaRPr lang="en-US" sz="1600" dirty="0"/>
          </a:p>
        </p:txBody>
      </p:sp>
      <p:pic>
        <p:nvPicPr>
          <p:cNvPr id="7" name="Checklist check 3" descr="check icon">    </p:cNvPr>
          <p:cNvPicPr>
            <a:picLocks noChangeAspect="1"/>
          </p:cNvPicPr>
          <p:nvPr/>
        </p:nvPicPr>
        <p:blipFill>
          <a:blip r:embed="rId3"/>
          <a:stretch>
            <a:fillRect/>
          </a:stretch>
        </p:blipFill>
        <p:spPr>
          <a:xfrm>
            <a:off x="457200" y="2867297"/>
            <a:ext cx="411480" cy="411480"/>
          </a:xfrm>
          <a:prstGeom prst="rect">
            <a:avLst/>
          </a:prstGeom>
        </p:spPr>
      </p:pic>
      <p:sp>
        <p:nvSpPr>
          <p:cNvPr id="8" name="Checklist text 3"/>
          <p:cNvSpPr txBox="1"/>
          <p:nvPr/>
        </p:nvSpPr>
        <p:spPr>
          <a:xfrm>
            <a:off x="1051560" y="2815046"/>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Each stem straight: check against the straightedge</a:t>
            </a:r>
            <a:endParaRPr lang="en-US" sz="1600" dirty="0"/>
          </a:p>
        </p:txBody>
      </p:sp>
      <p:pic>
        <p:nvPicPr>
          <p:cNvPr id="9" name="Checklist check 4" descr="check icon">    </p:cNvPr>
          <p:cNvPicPr>
            <a:picLocks noChangeAspect="1"/>
          </p:cNvPicPr>
          <p:nvPr/>
        </p:nvPicPr>
        <p:blipFill>
          <a:blip r:embed="rId4"/>
          <a:stretch>
            <a:fillRect/>
          </a:stretch>
        </p:blipFill>
        <p:spPr>
          <a:xfrm>
            <a:off x="457200" y="3566160"/>
            <a:ext cx="411480" cy="411480"/>
          </a:xfrm>
          <a:prstGeom prst="rect">
            <a:avLst/>
          </a:prstGeom>
        </p:spPr>
      </p:pic>
      <p:sp>
        <p:nvSpPr>
          <p:cNvPr id="10" name="Checklist text 4"/>
          <p:cNvSpPr txBox="1"/>
          <p:nvPr/>
        </p:nvSpPr>
        <p:spPr>
          <a:xfrm>
            <a:off x="1051560" y="3513909"/>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Both spheres matte, uniform and free of highlights</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265023"/>
            <a:ext cx="411480" cy="411480"/>
          </a:xfrm>
          <a:prstGeom prst="rect">
            <a:avLst/>
          </a:prstGeom>
        </p:spPr>
      </p:pic>
      <p:sp>
        <p:nvSpPr>
          <p:cNvPr id="12" name="Checklist text 5"/>
          <p:cNvSpPr txBox="1"/>
          <p:nvPr/>
        </p:nvSpPr>
        <p:spPr>
          <a:xfrm>
            <a:off x="1051560" y="4212771"/>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Each sphere diameter measured by micrometer after finishing, spread within 0.02 mm, temperature recorded</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963886"/>
            <a:ext cx="411480" cy="411480"/>
          </a:xfrm>
          <a:prstGeom prst="rect">
            <a:avLst/>
          </a:prstGeom>
        </p:spPr>
      </p:pic>
      <p:sp>
        <p:nvSpPr>
          <p:cNvPr id="14" name="Checklist text 6"/>
          <p:cNvSpPr txBox="1"/>
          <p:nvPr/>
        </p:nvSpPr>
        <p:spPr>
          <a:xfrm>
            <a:off x="1051560" y="4911634"/>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after painting and mounting</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62749"/>
            <a:ext cx="411480" cy="411480"/>
          </a:xfrm>
          <a:prstGeom prst="rect">
            <a:avLst/>
          </a:prstGeom>
        </p:spPr>
      </p:pic>
      <p:sp>
        <p:nvSpPr>
          <p:cNvPr id="16" name="Checklist text 7"/>
          <p:cNvSpPr txBox="1"/>
          <p:nvPr/>
        </p:nvSpPr>
        <p:spPr>
          <a:xfrm>
            <a:off x="1051560" y="5610497"/>
            <a:ext cx="7360920" cy="515983"/>
          </a:xfrm>
          <a:prstGeom prst="rect">
            <a:avLst/>
          </a:prstGeom>
          <a:noFill/>
          <a:ln/>
        </p:spPr>
        <p:txBody>
          <a:bodyPr wrap="square" lIns="0" tIns="0" rIns="0" bIns="0" rtlCol="0" anchor="ctr"/>
          <a:lstStyle/>
          <a:p>
            <a:pPr algn="l" indent="0" marL="0">
              <a:buNone/>
            </a:pPr>
            <a:r>
              <a:rPr lang="en-US" sz="1600" dirty="0">
                <a:solidFill>
                  <a:schemeClr val="tx1"/>
                </a:solidFill>
              </a:rPr>
              <a:t>Each fixture weighed for its tool load data; witness marks across each stem-adapter joint</a:t>
            </a:r>
            <a:endParaRPr lang="en-US" sz="1600" dirty="0"/>
          </a:p>
        </p:txBody>
      </p:sp>
      <p:sp>
        <p:nvSpPr>
          <p:cNvPr id="17" name="Visual card"/>
          <p:cNvSpPr/>
          <p:nvPr/>
        </p:nvSpPr>
        <p:spPr>
          <a:xfrm>
            <a:off x="8686800" y="1417320"/>
            <a:ext cx="3047695" cy="4709160"/>
          </a:xfrm>
          <a:prstGeom prst="roundRect">
            <a:avLst>
              <a:gd name="adj" fmla="val 3600"/>
            </a:avLst>
          </a:prstGeom>
          <a:solidFill>
            <a:schemeClr val="bg2"/>
          </a:solidFill>
          <a:ln/>
        </p:spPr>
      </p:sp>
      <p:sp>
        <p:nvSpPr>
          <p:cNvPr id="18" name="Clipboard check icon circle"/>
          <p:cNvSpPr/>
          <p:nvPr/>
        </p:nvSpPr>
        <p:spPr>
          <a:xfrm>
            <a:off x="9021928" y="2583180"/>
            <a:ext cx="2377440" cy="2377440"/>
          </a:xfrm>
          <a:prstGeom prst="ellipse">
            <a:avLst/>
          </a:prstGeom>
          <a:solidFill>
            <a:schemeClr val="accent2"/>
          </a:solidFill>
          <a:ln/>
        </p:spPr>
      </p:sp>
      <p:pic>
        <p:nvPicPr>
          <p:cNvPr id="19" name="Clipboard check icon glyph" descr="clipboardCheck icon">    </p:cNvPr>
          <p:cNvPicPr>
            <a:picLocks noChangeAspect="1"/>
          </p:cNvPicPr>
          <p:nvPr/>
        </p:nvPicPr>
        <p:blipFill>
          <a:blip r:embed="rId8"/>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Procurement and Build</dc:title>
  <dc:subject>Stage-1 depth-sensor calibration captures</dc:subject>
  <dc:creator>Depth calibration from spherical target</dc:creator>
  <cp:lastModifiedBy>Depth calibration from spherical target</cp:lastModifiedBy>
  <cp:revision>1</cp:revision>
  <dcterms:created xsi:type="dcterms:W3CDTF">2026-10-07T14:56:08Z</dcterms:created>
  <dcterms:modified xsi:type="dcterms:W3CDTF">2026-10-07T14:56:08Z</dcterms:modified>
</cp:coreProperties>
</file>