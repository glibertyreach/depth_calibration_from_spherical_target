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3226c87-5436-eddf-e9ae-776b4c312faf}">
          <p14:sldIdLst>
            <p14:sldId id="256"/>
            <p14:sldId id="257"/>
            <p14:sldId id="258"/>
            <p14:sldId id="259"/>
          </p14:sldIdLst>
        </p14:section>
        <p14:section name="Setup" id="{82fb5e1e-86f5-e44f-8836-53e559483c8d}">
          <p14:sldIdLst>
            <p14:sldId id="260"/>
            <p14:sldId id="261"/>
            <p14:sldId id="262"/>
          </p14:sldIdLst>
        </p14:section>
        <p14:section name="Capture" id="{12dd739f-c4b3-0e85-b8f2-41f4741127fc}">
          <p14:sldIdLst>
            <p14:sldId id="263"/>
            <p14:sldId id="264"/>
            <p14:sldId id="265"/>
            <p14:sldId id="266"/>
          </p14:sldIdLst>
        </p14:section>
        <p14:section name="Checks" id="{1d22b383-536d-545e-24fc-d3c5656869ba}">
          <p14:sldIdLst>
            <p14:sldId id="267"/>
            <p14:sldId id="268"/>
          </p14:sldIdLst>
        </p14:section>
        <p14:section name="Wrap-up" id="{d949997f-da9c-6444-d0f7-42553b89a296}">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second of two decks on the stage-1 calibration captures. The first covers procurement and the mechanical build. This one covers the session: setup in the robot cell, the pose plan, the robot program's job, how poses are recorded, and the checks. It summarizes sections 2 to 11 of the stage-1 capture procedure in docs/procedures.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 of a session is a folder of sensor capture files, one group per robot pose, and a manifest that records for every file which target was in view and exactly where the robot had placed it. The software compares what the sensor measured with the known geometry of the target at that known pose. Any error in the table goes straight into the correction map, so most of the procedure's steps exist to make the table trustworthy. The accuracy target is 0.1 mm at 500 mm, scaling with distance; the robot's own absolute accuracy of 0.1 mm is of the same size, which is why the robot pose must be the reported one, not the commanded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eight stages of a session, in order; sections 2 to 8 of the procedure correspond to them. Steps 1 to 4 are setup and happen once per session. Step 5 runs the plan tool, which needs the rough sensor position from step 4. Step 6 is the long robot run. Steps 7 and 8 run software on the capture computer or the engineer's laptop, and step 8 should happen while everything is still set up, so a flagged pose can be captured again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section 1f of the procedure: everything to prepare before the first session, beyond the fixtures and tools. The robot's absolute accuracy is taken from its documented specification. Tool load data matters because an absolute-accuracy robot compensates for load, so a wrong mass or center of gravity shifts every pose. The capture trigger goes through the capture computer's existing communication software, so the robot program only needs to call it. The SGM parameters are set the way installations use them except that smoothing filters are off, so the calibration sees the sensor's raw matching. The layout study comes first, because it fixes where the sensor mount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robot cannot see the sphere, so its center is found mechanically. A sphere resting on three fixed balls always has its center at the same point, whatever direction its stem points. The robot's built-in multi-orientation tool-center-point routine finds the one point on the tool that stays still while the wrist turns, and seating the sphere in the nest from several directions makes that point the sphere's center. Lower the sphere gently for the last millimeter; pressing down bends the stem. The usual causes of a large routine error are a sphere not fully seated or a loose adapter.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board's pose is commanded, not fitted, so its frame must be right. The runout check tests whether the board face is perpendicular to the flange axis; if the reading wanders more than 0.05 mm over a full turn, shim the adapter and repeat. D is the distance from the flange face to the board's front face. Because the board is symmetric, an error of a few degrees in the x direction does no harm, but a tilt of the z axis puts a false slope into every board observation. The board's half-sizes go into the pose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software determines the sensor's exact position from the full capture set; this step only needs a rough position so that the planned poses land inside the field of view. Four positions not on a line are enough to solve for the sensor's position and orientation. The check tool fits the sphere center in each bootstrap capture, the engineer writes these and the robot positions into boot.json, and the plan tool solves for the sensor and prints the residual of each pair. A residual of tens of millimeters almost always means a position was copied wrongly or the TCP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tool writes poses.csv, a summary, and the picture shown here, which plots the planned sphere and board centers in the sensor's frame: a side view on the left and a front view on the right, with the field of view drawn. Sphere A covers the near range on a grid 1.5 radii apart, sphere B the far range, and both appear at 500 to 550 mm. Board poses that would leave the field of view are dropped automatically. A handful of the outermost sphere poses may touch the image border; the check flags them and they are left out of the fit. Poses with a black edge in the picture are the held-out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robot program is small: it reads the plan, moves, waits, triggers the sensor, and logs what the robot reports. Its interface is fixed by the files on either side: poses.csv from the plan tool on the way in, and the capture file names and pose_log.csv on the way out, whose columns the manifest tool expects. The capture trigger goes through the capture computer's communication software, which already provides it; the program only calls that interface. Note where the program writes pose_log.csv, on the controller or on the network, so it can be collected after the session. Because the input and output formats are already defined, the program can be written with Claude Code as soon as the robot model and its controller are settled; each controller's language and its pose readout differ, which is the part that waits for that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approach is the same every time so that any small hysteresis in the robot is the same for every pose. The settle time lets vibration from the move die out before the sensor captures. The pose that goes in the log is the one the robot reports after it has arrived, not the one it was commanded to; with a robot of 0.1 mm absolute accuracy the difference matters. Remember to activate the right tool frame at each fixture change: TCP_SPHERE_B_152mm for sphere B and TOOL_BOARD for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options are supported by the software. In option B the pose log columns are the pose id, the target kind, the radius or the board half-sizes, the reported position, the rotation type and up to four rotation values; the example line is a sphere pose, which needs no rotation. The manifest tool converts every orientation form to a matrix and complains by name about any pose without files, any file without a pose, and any missing size. A pose log is worth keeping even when the headers carry the pose, because it is the only independent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 tool prints one line per pose and a verdict, and its exit code is 0 when nothing is flagged, 1 when something is, and 2 when it cannot read the manifest. Running it while the fixtures are still mounted means a bad pose can be captured again in minutes instead of setting everything up again another day. The pattern of the sphere-center flags tells you the cause: one pose, one sphere, or a trend across the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in the session has a geometry known independently of the robot, so these two checks use no robot positions at all; the fit's report computes them on the held-out poses, so nothing extra is captured. The technician's part is to make the references good: measure the sphere diameters carefully and keep the board's flatness report. A uniform range-scale error of 0.1 percent changes sphere A's fitted radius by only 0.04 mm, so scale is checked mainly by the held-out sphere centers against the robot.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failures that cannot be repaired afterwards in software. The first two change the sensor itself mid-session, which invalidates the comparison between early and late captures. The third and seventh put wrong numbers into the pose table. The others damage the measurement: a joint that moves shifts the sphere center away from the TCP that was measured, a shiny spot returns a highlight and a bad read, and a visible stem corrupts the sphere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checklist is section 10 of the procedure. The session notes matter as much as the data: the fit needs the measured sphere diameters, and the notes are the only record of warm-up time, temperature and fixture changes if a result looks wrong later. The three command-line tools come with the repository; appendix C of the procedure walks through installing Python, creating an environment, installing the package and running the self-test, on Windows or Linux.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1463040"/>
          </a:xfrm>
          <a:prstGeom prst="rect">
            <a:avLst/>
          </a:prstGeom>
          <a:noFill/>
          <a:ln/>
        </p:spPr>
        <p:txBody>
          <a:bodyPr wrap="square" rtlCol="0"/>
          <a:lstStyle>
            <a:lvl1pPr algn="l" indent="0" marL="0">
              <a:buNone/>
              <a:defRPr lang="en-US" sz="4400" b="1" dirty="0">
                <a:solidFill>
                  <a:schemeClr val="bg1"/>
                </a:solidFill>
                <a:latin typeface="+mj-lt" pitchFamily="34" charset="0"/>
                <a:ea typeface="+mj-lt" pitchFamily="34" charset="-122"/>
                <a:cs typeface="+mj-lt" pitchFamily="34" charset="-120"/>
              </a:defRPr>
            </a:lvl1pPr>
          </a:lstStyle>
          <a:p>
            <a:pPr algn="l" indent="0" marL="0">
              <a:buNone/>
            </a:pPr>
            <a:r>
              <a:rPr lang="en-US" sz="4400" b="1" dirty="0">
                <a:solidFill>
                  <a:schemeClr val="bg1"/>
                </a:solidFill>
                <a:latin typeface="+mj-lt" pitchFamily="34" charset="0"/>
                <a:ea typeface="+mj-lt" pitchFamily="34" charset="-122"/>
                <a:cs typeface="+mj-lt" pitchFamily="34" charset="-120"/>
              </a:rPr>
              <a:t>Title</a:t>
            </a:r>
            <a:endParaRPr lang="en-US" sz="4400" dirty="0"/>
          </a:p>
        </p:txBody>
      </p:sp>
      <p:sp>
        <p:nvSpPr>
          <p:cNvPr id="3" name="Text 0"/>
          <p:cNvSpPr/>
          <p:nvPr>
            <p:ph idx="101" type="body" hasCustomPrompt="1"/>
          </p:nvPr>
        </p:nvSpPr>
        <p:spPr>
          <a:xfrm>
            <a:off x="457200" y="2103120"/>
            <a:ext cx="8229600" cy="822960"/>
          </a:xfrm>
          <a:prstGeom prst="rect">
            <a:avLst/>
          </a:prstGeom>
          <a:noFill/>
          <a:ln/>
        </p:spPr>
        <p:txBody>
          <a:bodyPr wrap="square" rtlCol="0"/>
          <a:lstStyle>
            <a:lvl1pPr algn="l" indent="0" marL="0">
              <a:buNone/>
              <a:defRPr lang="en-US" sz="2200" dirty="0">
                <a:solidFill>
                  <a:schemeClr val="accent6"/>
                </a:solidFill>
              </a:defRPr>
            </a:lvl1pPr>
          </a:lstStyle>
          <a:p>
            <a:pPr algn="l" indent="0" marL="0">
              <a:buNone/>
            </a:pPr>
            <a:r>
              <a:rPr lang="en-US" sz="2200" dirty="0">
                <a:solidFill>
                  <a:schemeClr val="accent6"/>
                </a:solidFill>
              </a:rPr>
              <a:t>Subtitle</a:t>
            </a:r>
            <a:endParaRPr lang="en-US" sz="2200" dirty="0"/>
          </a:p>
        </p:txBody>
      </p:sp>
      <p:sp>
        <p:nvSpPr>
          <p:cNvPr id="4" name="Text 0"/>
          <p:cNvSpPr/>
          <p:nvPr>
            <p:ph idx="102" type="body" hasCustomPrompt="1"/>
          </p:nvPr>
        </p:nvSpPr>
        <p:spPr>
          <a:xfrm>
            <a:off x="457200" y="6035040"/>
            <a:ext cx="11277295" cy="365760"/>
          </a:xfrm>
          <a:prstGeom prst="rect">
            <a:avLst/>
          </a:prstGeom>
          <a:noFill/>
          <a:ln/>
        </p:spPr>
        <p:txBody>
          <a:bodyPr wrap="square" rtlCol="0"/>
          <a:lstStyle>
            <a:lvl1pPr algn="l" indent="0" marL="0">
              <a:buNone/>
              <a:defRPr lang="en-US" sz="1400" dirty="0">
                <a:solidFill>
                  <a:schemeClr val="accent6"/>
                </a:solidFill>
              </a:defRPr>
            </a:lvl1pPr>
          </a:lstStyle>
          <a:p>
            <a:pPr algn="l" indent="0" marL="0">
              <a:buNone/>
            </a:pPr>
            <a:r>
              <a:rPr lang="en-US" sz="1400" dirty="0">
                <a:solidFill>
                  <a:schemeClr val="accent6"/>
                </a:solidFill>
              </a:rPr>
              <a:t>Footer</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rtlCol="0"/>
          <a:lstStyle>
            <a:lvl1pPr algn="l" indent="0" marL="0">
              <a:buNone/>
              <a:defRPr lang="en-US" sz="3400" b="1" dirty="0">
                <a:solidFill>
                  <a:schemeClr val="tx2"/>
                </a:solidFill>
                <a:latin typeface="+mj-lt" pitchFamily="34" charset="0"/>
                <a:ea typeface="+mj-lt" pitchFamily="34" charset="-122"/>
                <a:cs typeface="+mj-lt" pitchFamily="34" charset="-120"/>
              </a:defRPr>
            </a:lvl1pPr>
          </a:lstStyle>
          <a:p>
            <a:pPr algn="l" indent="0" marL="0">
              <a:buNone/>
            </a:pPr>
            <a:r>
              <a:rPr lang="en-US" sz="3400" b="1" dirty="0">
                <a:solidFill>
                  <a:schemeClr val="tx2"/>
                </a:solidFill>
                <a:latin typeface="+mj-lt" pitchFamily="34" charset="0"/>
                <a:ea typeface="+mj-lt" pitchFamily="34" charset="-122"/>
                <a:cs typeface="+mj-lt" pitchFamily="34" charset="-120"/>
              </a:rPr>
              <a:t>Title</a:t>
            </a:r>
            <a:endParaRPr lang="en-US" sz="3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3.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3.xml"/><Relationship Id="rId10"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1463040"/>
          </a:xfrm>
          <a:prstGeom prst="rect">
            <a:avLst/>
          </a:prstGeom>
          <a:noFill/>
          <a:ln/>
        </p:spPr>
        <p:txBody>
          <a:bodyPr wrap="square" lIns="0" tIns="0" rIns="0" bIns="0" rtlCol="0" anchor="b"/>
          <a:lstStyle/>
          <a:p>
            <a:pPr algn="l" indent="0" marL="0">
              <a:buNone/>
            </a:pPr>
            <a:r>
              <a:rPr lang="en-US" sz="4400" b="1" dirty="0">
                <a:solidFill>
                  <a:schemeClr val="bg1"/>
                </a:solidFill>
                <a:latin typeface="+mj-lt" pitchFamily="34" charset="0"/>
                <a:ea typeface="+mj-lt" pitchFamily="34" charset="-122"/>
                <a:cs typeface="+mj-lt" pitchFamily="34" charset="-120"/>
              </a:rPr>
              <a:t>Stage-1 Calibration: Test Procedure and Robot Program</a:t>
            </a:r>
            <a:endParaRPr lang="en-US" sz="4400" dirty="0"/>
          </a:p>
        </p:txBody>
      </p:sp>
      <p:sp>
        <p:nvSpPr>
          <p:cNvPr id="3" name="Text 0"/>
          <p:cNvSpPr/>
          <p:nvPr>
            <p:ph idx="101" type="body" hasCustomPrompt="1"/>
          </p:nvPr>
        </p:nvSpPr>
        <p:spPr>
          <a:xfrm>
            <a:off x="457200" y="2103120"/>
            <a:ext cx="8229600" cy="822960"/>
          </a:xfrm>
          <a:prstGeom prst="rect">
            <a:avLst/>
          </a:prstGeom>
          <a:noFill/>
          <a:ln/>
        </p:spPr>
        <p:txBody>
          <a:bodyPr wrap="square" lIns="0" tIns="0" rIns="0" bIns="0" rtlCol="0" anchor="t"/>
          <a:lstStyle/>
          <a:p>
            <a:pPr algn="l" indent="0" marL="0">
              <a:buNone/>
            </a:pPr>
            <a:r>
              <a:rPr lang="en-US" sz="2200" dirty="0">
                <a:solidFill>
                  <a:schemeClr val="accent6"/>
                </a:solidFill>
              </a:rPr>
              <a:t>Running the capture session and what the robot program must do</a:t>
            </a:r>
            <a:endParaRPr lang="en-US" sz="2200" dirty="0"/>
          </a:p>
        </p:txBody>
      </p:sp>
      <p:sp>
        <p:nvSpPr>
          <p:cNvPr id="4" name="Text 0"/>
          <p:cNvSpPr/>
          <p:nvPr>
            <p:ph idx="102" type="body" hasCustomPrompt="1"/>
          </p:nvPr>
        </p:nvSpPr>
        <p:spPr>
          <a:xfrm>
            <a:off x="457200" y="6035040"/>
            <a:ext cx="11277295" cy="365760"/>
          </a:xfrm>
          <a:prstGeom prst="rect">
            <a:avLst/>
          </a:prstGeom>
          <a:noFill/>
          <a:ln/>
        </p:spPr>
        <p:txBody>
          <a:bodyPr wrap="square" lIns="0" tIns="0" rIns="0" bIns="0" rtlCol="0" anchor="b"/>
          <a:lstStyle/>
          <a:p>
            <a:pPr algn="l" indent="0" marL="0">
              <a:buNone/>
            </a:pPr>
            <a:r>
              <a:rPr lang="en-US" sz="1400" dirty="0">
                <a:solidFill>
                  <a:schemeClr val="accent6"/>
                </a:solidFill>
              </a:rPr>
              <a:t>Test procedure  ·  October 2026</a:t>
            </a:r>
            <a:endParaRPr lang="en-US" sz="1400" dirty="0"/>
          </a:p>
        </p:txBody>
      </p:sp>
      <p:sp>
        <p:nvSpPr>
          <p:cNvPr id="5" name="Graphic sphere B"/>
          <p:cNvSpPr/>
          <p:nvPr/>
        </p:nvSpPr>
        <p:spPr>
          <a:xfrm>
            <a:off x="457200" y="3291840"/>
            <a:ext cx="2468880" cy="2468880"/>
          </a:xfrm>
          <a:prstGeom prst="ellipse">
            <a:avLst/>
          </a:prstGeom>
          <a:solidFill>
            <a:schemeClr val="accent2"/>
          </a:solidFill>
          <a:ln w="25400">
            <a:solidFill>
              <a:schemeClr val="accent6"/>
            </a:solidFill>
            <a:prstDash val="solid"/>
          </a:ln>
        </p:spPr>
      </p:sp>
      <p:sp>
        <p:nvSpPr>
          <p:cNvPr id="6" name="Graphic sphere B cross horizontal"/>
          <p:cNvSpPr/>
          <p:nvPr/>
        </p:nvSpPr>
        <p:spPr>
          <a:xfrm>
            <a:off x="1485900" y="4503420"/>
            <a:ext cx="411480" cy="45720"/>
          </a:xfrm>
          <a:prstGeom prst="rect">
            <a:avLst/>
          </a:prstGeom>
          <a:solidFill>
            <a:schemeClr val="bg1"/>
          </a:solidFill>
          <a:ln/>
        </p:spPr>
      </p:sp>
      <p:sp>
        <p:nvSpPr>
          <p:cNvPr id="7" name="Graphic sphere B cross vertical"/>
          <p:cNvSpPr/>
          <p:nvPr/>
        </p:nvSpPr>
        <p:spPr>
          <a:xfrm>
            <a:off x="1668780" y="4320540"/>
            <a:ext cx="45720" cy="411480"/>
          </a:xfrm>
          <a:prstGeom prst="rect">
            <a:avLst/>
          </a:prstGeom>
          <a:solidFill>
            <a:schemeClr val="bg1"/>
          </a:solidFill>
          <a:ln/>
        </p:spPr>
      </p:sp>
      <p:sp>
        <p:nvSpPr>
          <p:cNvPr id="8" name="Graphic sphere A"/>
          <p:cNvSpPr/>
          <p:nvPr/>
        </p:nvSpPr>
        <p:spPr>
          <a:xfrm>
            <a:off x="3200400" y="4526280"/>
            <a:ext cx="1234440" cy="1234440"/>
          </a:xfrm>
          <a:prstGeom prst="ellipse">
            <a:avLst/>
          </a:prstGeom>
          <a:solidFill>
            <a:schemeClr val="accent1"/>
          </a:solidFill>
          <a:ln w="25400">
            <a:solidFill>
              <a:schemeClr val="accent6"/>
            </a:solidFill>
            <a:prstDash val="solid"/>
          </a:ln>
        </p:spPr>
      </p:sp>
      <p:sp>
        <p:nvSpPr>
          <p:cNvPr id="9" name="Graphic board"/>
          <p:cNvSpPr/>
          <p:nvPr/>
        </p:nvSpPr>
        <p:spPr>
          <a:xfrm>
            <a:off x="4709160" y="4389120"/>
            <a:ext cx="1920240" cy="1371600"/>
          </a:xfrm>
          <a:prstGeom prst="roundRect">
            <a:avLst>
              <a:gd name="adj" fmla="val 6667"/>
            </a:avLst>
          </a:prstGeom>
          <a:solidFill>
            <a:schemeClr val="accent6"/>
          </a:solidFill>
          <a:ln w="25400">
            <a:solidFill>
              <a:schemeClr val="accent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The session produces data plus an exact table of poses</a:t>
            </a:r>
            <a:endParaRPr lang="en-US" sz="3400" dirty="0"/>
          </a:p>
        </p:txBody>
      </p:sp>
      <p:sp>
        <p:nvSpPr>
          <p:cNvPr id="3" name="Stat 1 card"/>
          <p:cNvSpPr/>
          <p:nvPr/>
        </p:nvSpPr>
        <p:spPr>
          <a:xfrm>
            <a:off x="457200" y="1417320"/>
            <a:ext cx="3576218" cy="2560320"/>
          </a:xfrm>
          <a:prstGeom prst="roundRect">
            <a:avLst>
              <a:gd name="adj" fmla="val 4286"/>
            </a:avLst>
          </a:prstGeom>
          <a:solidFill>
            <a:schemeClr val="bg2"/>
          </a:solidFill>
          <a:ln/>
        </p:spPr>
      </p:sp>
      <p:sp>
        <p:nvSpPr>
          <p:cNvPr id="4" name="Stat 1 icon circle"/>
          <p:cNvSpPr/>
          <p:nvPr/>
        </p:nvSpPr>
        <p:spPr>
          <a:xfrm>
            <a:off x="685800" y="1645920"/>
            <a:ext cx="502920" cy="502920"/>
          </a:xfrm>
          <a:prstGeom prst="ellipse">
            <a:avLst/>
          </a:prstGeom>
          <a:solidFill>
            <a:schemeClr val="accent2"/>
          </a:solidFill>
          <a:ln/>
        </p:spPr>
      </p:sp>
      <p:pic>
        <p:nvPicPr>
          <p:cNvPr id="5" name="Stat 1 icon glyph" descr="clipboard icon">    </p:cNvPr>
          <p:cNvPicPr>
            <a:picLocks noChangeAspect="1"/>
          </p:cNvPicPr>
          <p:nvPr/>
        </p:nvPicPr>
        <p:blipFill>
          <a:blip r:embed="rId1"/>
          <a:stretch>
            <a:fillRect/>
          </a:stretch>
        </p:blipFill>
        <p:spPr>
          <a:xfrm>
            <a:off x="811530" y="1771650"/>
            <a:ext cx="251460" cy="251460"/>
          </a:xfrm>
          <a:prstGeom prst="rect">
            <a:avLst/>
          </a:prstGeom>
        </p:spPr>
      </p:pic>
      <p:sp>
        <p:nvSpPr>
          <p:cNvPr id="6" name="Stat 1 value"/>
          <p:cNvSpPr txBox="1"/>
          <p:nvPr/>
        </p:nvSpPr>
        <p:spPr>
          <a:xfrm>
            <a:off x="685800" y="2240280"/>
            <a:ext cx="3119018" cy="82296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186</a:t>
            </a:r>
            <a:endParaRPr lang="en-US" sz="5400" dirty="0"/>
          </a:p>
        </p:txBody>
      </p:sp>
      <p:sp>
        <p:nvSpPr>
          <p:cNvPr id="7" name="Stat 1 label"/>
          <p:cNvSpPr txBox="1"/>
          <p:nvPr/>
        </p:nvSpPr>
        <p:spPr>
          <a:xfrm>
            <a:off x="685800" y="3063240"/>
            <a:ext cx="3119018" cy="548640"/>
          </a:xfrm>
          <a:prstGeom prst="rect">
            <a:avLst/>
          </a:prstGeom>
          <a:noFill/>
          <a:ln/>
        </p:spPr>
        <p:txBody>
          <a:bodyPr wrap="square" lIns="0" tIns="0" rIns="0" bIns="0" rtlCol="0" anchor="t"/>
          <a:lstStyle/>
          <a:p>
            <a:pPr algn="l" indent="0" marL="0">
              <a:buNone/>
            </a:pPr>
            <a:r>
              <a:rPr lang="en-US" sz="1400" dirty="0">
                <a:solidFill>
                  <a:schemeClr val="tx1"/>
                </a:solidFill>
              </a:rPr>
              <a:t>robot poses, 5 frames each</a:t>
            </a:r>
            <a:endParaRPr lang="en-US" sz="1400" dirty="0"/>
          </a:p>
        </p:txBody>
      </p:sp>
      <p:sp>
        <p:nvSpPr>
          <p:cNvPr id="8" name="Stat 2 card"/>
          <p:cNvSpPr/>
          <p:nvPr/>
        </p:nvSpPr>
        <p:spPr>
          <a:xfrm>
            <a:off x="4307738" y="1417320"/>
            <a:ext cx="3576218" cy="2560320"/>
          </a:xfrm>
          <a:prstGeom prst="roundRect">
            <a:avLst>
              <a:gd name="adj" fmla="val 4286"/>
            </a:avLst>
          </a:prstGeom>
          <a:solidFill>
            <a:schemeClr val="bg2"/>
          </a:solidFill>
          <a:ln/>
        </p:spPr>
      </p:sp>
      <p:sp>
        <p:nvSpPr>
          <p:cNvPr id="9" name="Stat 2 icon circle"/>
          <p:cNvSpPr/>
          <p:nvPr/>
        </p:nvSpPr>
        <p:spPr>
          <a:xfrm>
            <a:off x="4536338" y="1645920"/>
            <a:ext cx="502920" cy="502920"/>
          </a:xfrm>
          <a:prstGeom prst="ellipse">
            <a:avLst/>
          </a:prstGeom>
          <a:solidFill>
            <a:schemeClr val="accent2"/>
          </a:solidFill>
          <a:ln/>
        </p:spPr>
      </p:sp>
      <p:pic>
        <p:nvPicPr>
          <p:cNvPr id="10" name="Stat 2 icon glyph" descr="clock icon">    </p:cNvPr>
          <p:cNvPicPr>
            <a:picLocks noChangeAspect="1"/>
          </p:cNvPicPr>
          <p:nvPr/>
        </p:nvPicPr>
        <p:blipFill>
          <a:blip r:embed="rId2"/>
          <a:stretch>
            <a:fillRect/>
          </a:stretch>
        </p:blipFill>
        <p:spPr>
          <a:xfrm>
            <a:off x="4662068" y="1771650"/>
            <a:ext cx="251460" cy="251460"/>
          </a:xfrm>
          <a:prstGeom prst="rect">
            <a:avLst/>
          </a:prstGeom>
        </p:spPr>
      </p:pic>
      <p:sp>
        <p:nvSpPr>
          <p:cNvPr id="11" name="Stat 2 value"/>
          <p:cNvSpPr txBox="1"/>
          <p:nvPr/>
        </p:nvSpPr>
        <p:spPr>
          <a:xfrm>
            <a:off x="4536338" y="2240280"/>
            <a:ext cx="3119018" cy="82296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~2 h</a:t>
            </a:r>
            <a:endParaRPr lang="en-US" sz="5400" dirty="0"/>
          </a:p>
        </p:txBody>
      </p:sp>
      <p:sp>
        <p:nvSpPr>
          <p:cNvPr id="12" name="Stat 2 label"/>
          <p:cNvSpPr txBox="1"/>
          <p:nvPr/>
        </p:nvSpPr>
        <p:spPr>
          <a:xfrm>
            <a:off x="4536338" y="3063240"/>
            <a:ext cx="3119018" cy="548640"/>
          </a:xfrm>
          <a:prstGeom prst="rect">
            <a:avLst/>
          </a:prstGeom>
          <a:noFill/>
          <a:ln/>
        </p:spPr>
        <p:txBody>
          <a:bodyPr wrap="square" lIns="0" tIns="0" rIns="0" bIns="0" rtlCol="0" anchor="t"/>
          <a:lstStyle/>
          <a:p>
            <a:pPr algn="l" indent="0" marL="0">
              <a:buNone/>
            </a:pPr>
            <a:r>
              <a:rPr lang="en-US" sz="1400" dirty="0">
                <a:solidFill>
                  <a:schemeClr val="tx1"/>
                </a:solidFill>
              </a:rPr>
              <a:t>robot time with fixture changes and checks</a:t>
            </a:r>
            <a:endParaRPr lang="en-US" sz="1400" dirty="0"/>
          </a:p>
        </p:txBody>
      </p:sp>
      <p:sp>
        <p:nvSpPr>
          <p:cNvPr id="13" name="Stat 3 card"/>
          <p:cNvSpPr/>
          <p:nvPr/>
        </p:nvSpPr>
        <p:spPr>
          <a:xfrm>
            <a:off x="8158277" y="1417320"/>
            <a:ext cx="3576218" cy="2560320"/>
          </a:xfrm>
          <a:prstGeom prst="roundRect">
            <a:avLst>
              <a:gd name="adj" fmla="val 4286"/>
            </a:avLst>
          </a:prstGeom>
          <a:solidFill>
            <a:schemeClr val="bg2"/>
          </a:solidFill>
          <a:ln/>
        </p:spPr>
      </p:sp>
      <p:sp>
        <p:nvSpPr>
          <p:cNvPr id="14" name="Stat 3 icon circle"/>
          <p:cNvSpPr/>
          <p:nvPr/>
        </p:nvSpPr>
        <p:spPr>
          <a:xfrm>
            <a:off x="8386877" y="1645920"/>
            <a:ext cx="502920" cy="502920"/>
          </a:xfrm>
          <a:prstGeom prst="ellipse">
            <a:avLst/>
          </a:prstGeom>
          <a:solidFill>
            <a:schemeClr val="accent2"/>
          </a:solidFill>
          <a:ln/>
        </p:spPr>
      </p:sp>
      <p:pic>
        <p:nvPicPr>
          <p:cNvPr id="15" name="Stat 3 icon glyph" descr="bullseye icon">    </p:cNvPr>
          <p:cNvPicPr>
            <a:picLocks noChangeAspect="1"/>
          </p:cNvPicPr>
          <p:nvPr/>
        </p:nvPicPr>
        <p:blipFill>
          <a:blip r:embed="rId3"/>
          <a:stretch>
            <a:fillRect/>
          </a:stretch>
        </p:blipFill>
        <p:spPr>
          <a:xfrm>
            <a:off x="8512607" y="1771650"/>
            <a:ext cx="251460" cy="251460"/>
          </a:xfrm>
          <a:prstGeom prst="rect">
            <a:avLst/>
          </a:prstGeom>
        </p:spPr>
      </p:pic>
      <p:sp>
        <p:nvSpPr>
          <p:cNvPr id="16" name="Stat 3 value"/>
          <p:cNvSpPr txBox="1"/>
          <p:nvPr/>
        </p:nvSpPr>
        <p:spPr>
          <a:xfrm>
            <a:off x="8386877" y="2240280"/>
            <a:ext cx="3119018" cy="82296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0.1 mm</a:t>
            </a:r>
            <a:endParaRPr lang="en-US" sz="5400" dirty="0"/>
          </a:p>
        </p:txBody>
      </p:sp>
      <p:sp>
        <p:nvSpPr>
          <p:cNvPr id="17" name="Stat 3 label"/>
          <p:cNvSpPr txBox="1"/>
          <p:nvPr/>
        </p:nvSpPr>
        <p:spPr>
          <a:xfrm>
            <a:off x="8386877" y="3063240"/>
            <a:ext cx="3119018" cy="548640"/>
          </a:xfrm>
          <a:prstGeom prst="rect">
            <a:avLst/>
          </a:prstGeom>
          <a:noFill/>
          <a:ln/>
        </p:spPr>
        <p:txBody>
          <a:bodyPr wrap="square" lIns="0" tIns="0" rIns="0" bIns="0" rtlCol="0" anchor="t"/>
          <a:lstStyle/>
          <a:p>
            <a:pPr algn="l" indent="0" marL="0">
              <a:buNone/>
            </a:pPr>
            <a:r>
              <a:rPr lang="en-US" sz="1400" dirty="0">
                <a:solidFill>
                  <a:schemeClr val="tx1"/>
                </a:solidFill>
              </a:rPr>
              <a:t>accuracy target at 500 mm, scaling with distance</a:t>
            </a:r>
            <a:endParaRPr lang="en-US" sz="1400" dirty="0"/>
          </a:p>
        </p:txBody>
      </p:sp>
      <p:sp>
        <p:nvSpPr>
          <p:cNvPr id="18" name="Message icon circle"/>
          <p:cNvSpPr/>
          <p:nvPr/>
        </p:nvSpPr>
        <p:spPr>
          <a:xfrm>
            <a:off x="457200" y="4297680"/>
            <a:ext cx="548640" cy="548640"/>
          </a:xfrm>
          <a:prstGeom prst="ellipse">
            <a:avLst/>
          </a:prstGeom>
          <a:solidFill>
            <a:schemeClr val="accent1"/>
          </a:solidFill>
          <a:ln/>
        </p:spPr>
      </p:sp>
      <p:pic>
        <p:nvPicPr>
          <p:cNvPr id="19" name="Message icon glyph" descr="table icon">    </p:cNvPr>
          <p:cNvPicPr>
            <a:picLocks noChangeAspect="1"/>
          </p:cNvPicPr>
          <p:nvPr/>
        </p:nvPicPr>
        <p:blipFill>
          <a:blip r:embed="rId4"/>
          <a:stretch>
            <a:fillRect/>
          </a:stretch>
        </p:blipFill>
        <p:spPr>
          <a:xfrm>
            <a:off x="594360" y="4434840"/>
            <a:ext cx="274320" cy="274320"/>
          </a:xfrm>
          <a:prstGeom prst="rect">
            <a:avLst/>
          </a:prstGeom>
        </p:spPr>
      </p:pic>
      <p:sp>
        <p:nvSpPr>
          <p:cNvPr id="20" name="Key message"/>
          <p:cNvSpPr txBox="1"/>
          <p:nvPr/>
        </p:nvSpPr>
        <p:spPr>
          <a:xfrm>
            <a:off x="1188720" y="4251960"/>
            <a:ext cx="10545775" cy="640080"/>
          </a:xfrm>
          <a:prstGeom prst="rect">
            <a:avLst/>
          </a:prstGeom>
          <a:noFill/>
          <a:ln/>
        </p:spPr>
        <p:txBody>
          <a:bodyPr wrap="square" lIns="0" tIns="0" rIns="0" bIns="0" rtlCol="0" anchor="ctr"/>
          <a:lstStyle/>
          <a:p>
            <a:pPr algn="l" indent="0" marL="0">
              <a:buNone/>
            </a:pPr>
            <a:r>
              <a:rPr lang="en-US" sz="2200" b="1" i="1" dirty="0">
                <a:solidFill>
                  <a:schemeClr val="tx2"/>
                </a:solidFill>
              </a:rPr>
              <a:t>If the pose table is wrong, the calibration is wrong.</a:t>
            </a:r>
            <a:endParaRPr lang="en-US" sz="2200" dirty="0"/>
          </a:p>
        </p:txBody>
      </p:sp>
      <p:sp>
        <p:nvSpPr>
          <p:cNvPr id="21" name="Body"/>
          <p:cNvSpPr txBox="1"/>
          <p:nvPr/>
        </p:nvSpPr>
        <p:spPr>
          <a:xfrm>
            <a:off x="457200" y="5166360"/>
            <a:ext cx="11277295" cy="960120"/>
          </a:xfrm>
          <a:prstGeom prst="rect">
            <a:avLst/>
          </a:prstGeom>
          <a:noFill/>
          <a:ln/>
        </p:spPr>
        <p:txBody>
          <a:bodyPr wrap="square" lIns="0" tIns="0" rIns="0" bIns="0" rtlCol="0" anchor="t"/>
          <a:lstStyle/>
          <a:p>
            <a:pPr algn="l" indent="0" marL="0">
              <a:buNone/>
            </a:pPr>
            <a:r>
              <a:rPr lang="en-US" sz="2000" dirty="0">
                <a:solidFill>
                  <a:schemeClr val="tx1"/>
                </a:solidFill>
              </a:rPr>
              <a:t>Every capture file must be matched to the target that was in view and to exactly where the robot put it. Most of the procedure is about getting that table right.</a:t>
            </a:r>
            <a:endParaRPr lang="en-US" sz="20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The session at a glance</a:t>
            </a:r>
            <a:endParaRPr lang="en-US" sz="3400" dirty="0"/>
          </a:p>
        </p:txBody>
      </p:sp>
      <p:sp>
        <p:nvSpPr>
          <p:cNvPr id="3" name="Step 1 card"/>
          <p:cNvSpPr/>
          <p:nvPr/>
        </p:nvSpPr>
        <p:spPr>
          <a:xfrm>
            <a:off x="457200" y="1417320"/>
            <a:ext cx="2407844" cy="2125980"/>
          </a:xfrm>
          <a:prstGeom prst="roundRect">
            <a:avLst>
              <a:gd name="adj" fmla="val 5161"/>
            </a:avLst>
          </a:prstGeom>
          <a:solidFill>
            <a:schemeClr val="bg2"/>
          </a:solidFill>
          <a:ln/>
        </p:spPr>
      </p:sp>
      <p:sp>
        <p:nvSpPr>
          <p:cNvPr id="4" name="Step 1 badge"/>
          <p:cNvSpPr txBox="1"/>
          <p:nvPr/>
        </p:nvSpPr>
        <p:spPr>
          <a:xfrm>
            <a:off x="685800"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Step 1 head"/>
          <p:cNvSpPr txBox="1"/>
          <p:nvPr/>
        </p:nvSpPr>
        <p:spPr>
          <a:xfrm>
            <a:off x="685800" y="224028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Prepare</a:t>
            </a:r>
            <a:endParaRPr lang="en-US" sz="1800" dirty="0"/>
          </a:p>
        </p:txBody>
      </p:sp>
      <p:sp>
        <p:nvSpPr>
          <p:cNvPr id="6" name="Step 1 text"/>
          <p:cNvSpPr txBox="1"/>
          <p:nvPr/>
        </p:nvSpPr>
        <p:spPr>
          <a:xfrm>
            <a:off x="685800" y="2560320"/>
            <a:ext cx="1950644" cy="754380"/>
          </a:xfrm>
          <a:prstGeom prst="rect">
            <a:avLst/>
          </a:prstGeom>
          <a:noFill/>
          <a:ln/>
        </p:spPr>
        <p:txBody>
          <a:bodyPr wrap="square" lIns="0" tIns="0" rIns="0" bIns="0" rtlCol="0" anchor="t"/>
          <a:lstStyle/>
          <a:p>
            <a:pPr algn="l" indent="0" marL="0">
              <a:buNone/>
            </a:pPr>
            <a:r>
              <a:rPr lang="en-US" sz="1400" dirty="0">
                <a:solidFill>
                  <a:schemeClr val="tx1"/>
                </a:solidFill>
              </a:rPr>
              <a:t>Warm up the sensor 30 min; fix exposure, gain and SGM parameters</a:t>
            </a:r>
            <a:endParaRPr lang="en-US" sz="1400" dirty="0"/>
          </a:p>
        </p:txBody>
      </p:sp>
      <p:sp>
        <p:nvSpPr>
          <p:cNvPr id="7" name="Arrow 1 to 2"/>
          <p:cNvSpPr/>
          <p:nvPr/>
        </p:nvSpPr>
        <p:spPr>
          <a:xfrm>
            <a:off x="3025064" y="2297430"/>
            <a:ext cx="228600" cy="365760"/>
          </a:xfrm>
          <a:prstGeom prst="chevron">
            <a:avLst/>
          </a:prstGeom>
          <a:solidFill>
            <a:schemeClr val="accent2"/>
          </a:solidFill>
          <a:ln/>
        </p:spPr>
      </p:sp>
      <p:sp>
        <p:nvSpPr>
          <p:cNvPr id="8" name="Step 2 card"/>
          <p:cNvSpPr/>
          <p:nvPr/>
        </p:nvSpPr>
        <p:spPr>
          <a:xfrm>
            <a:off x="3413684" y="1417320"/>
            <a:ext cx="2407844" cy="2125980"/>
          </a:xfrm>
          <a:prstGeom prst="roundRect">
            <a:avLst>
              <a:gd name="adj" fmla="val 5161"/>
            </a:avLst>
          </a:prstGeom>
          <a:solidFill>
            <a:schemeClr val="bg2"/>
          </a:solidFill>
          <a:ln/>
        </p:spPr>
      </p:sp>
      <p:sp>
        <p:nvSpPr>
          <p:cNvPr id="9" name="Step 2 badge"/>
          <p:cNvSpPr txBox="1"/>
          <p:nvPr/>
        </p:nvSpPr>
        <p:spPr>
          <a:xfrm>
            <a:off x="3642284"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Step 2 head"/>
          <p:cNvSpPr txBox="1"/>
          <p:nvPr/>
        </p:nvSpPr>
        <p:spPr>
          <a:xfrm>
            <a:off x="3642284" y="224028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Mount spheres</a:t>
            </a:r>
            <a:endParaRPr lang="en-US" sz="1800" dirty="0"/>
          </a:p>
        </p:txBody>
      </p:sp>
      <p:sp>
        <p:nvSpPr>
          <p:cNvPr id="11" name="Step 2 text"/>
          <p:cNvSpPr txBox="1"/>
          <p:nvPr/>
        </p:nvSpPr>
        <p:spPr>
          <a:xfrm>
            <a:off x="3642284" y="2560320"/>
            <a:ext cx="1950644" cy="754380"/>
          </a:xfrm>
          <a:prstGeom prst="rect">
            <a:avLst/>
          </a:prstGeom>
          <a:noFill/>
          <a:ln/>
        </p:spPr>
        <p:txBody>
          <a:bodyPr wrap="square" lIns="0" tIns="0" rIns="0" bIns="0" rtlCol="0" anchor="t"/>
          <a:lstStyle/>
          <a:p>
            <a:pPr algn="l" indent="0" marL="0">
              <a:buNone/>
            </a:pPr>
            <a:r>
              <a:rPr lang="en-US" sz="1400" dirty="0">
                <a:solidFill>
                  <a:schemeClr val="tx1"/>
                </a:solidFill>
              </a:rPr>
              <a:t>Doweled adapter and stem; find each sphere's TCP in the nest</a:t>
            </a:r>
            <a:endParaRPr lang="en-US" sz="1400" dirty="0"/>
          </a:p>
        </p:txBody>
      </p:sp>
      <p:sp>
        <p:nvSpPr>
          <p:cNvPr id="12" name="Arrow 2 to 3"/>
          <p:cNvSpPr/>
          <p:nvPr/>
        </p:nvSpPr>
        <p:spPr>
          <a:xfrm>
            <a:off x="5981548" y="2297430"/>
            <a:ext cx="228600" cy="365760"/>
          </a:xfrm>
          <a:prstGeom prst="chevron">
            <a:avLst/>
          </a:prstGeom>
          <a:solidFill>
            <a:schemeClr val="accent2"/>
          </a:solidFill>
          <a:ln/>
        </p:spPr>
      </p:sp>
      <p:sp>
        <p:nvSpPr>
          <p:cNvPr id="13" name="Step 3 card"/>
          <p:cNvSpPr/>
          <p:nvPr/>
        </p:nvSpPr>
        <p:spPr>
          <a:xfrm>
            <a:off x="6370168" y="1417320"/>
            <a:ext cx="2407844" cy="2125980"/>
          </a:xfrm>
          <a:prstGeom prst="roundRect">
            <a:avLst>
              <a:gd name="adj" fmla="val 5161"/>
            </a:avLst>
          </a:prstGeom>
          <a:solidFill>
            <a:schemeClr val="bg2"/>
          </a:solidFill>
          <a:ln/>
        </p:spPr>
      </p:sp>
      <p:sp>
        <p:nvSpPr>
          <p:cNvPr id="14" name="Step 3 badge"/>
          <p:cNvSpPr txBox="1"/>
          <p:nvPr/>
        </p:nvSpPr>
        <p:spPr>
          <a:xfrm>
            <a:off x="6598768"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Step 3 head"/>
          <p:cNvSpPr txBox="1"/>
          <p:nvPr/>
        </p:nvSpPr>
        <p:spPr>
          <a:xfrm>
            <a:off x="6598768" y="224028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Board frame</a:t>
            </a:r>
            <a:endParaRPr lang="en-US" sz="1800" dirty="0"/>
          </a:p>
        </p:txBody>
      </p:sp>
      <p:sp>
        <p:nvSpPr>
          <p:cNvPr id="16" name="Step 3 text"/>
          <p:cNvSpPr txBox="1"/>
          <p:nvPr/>
        </p:nvSpPr>
        <p:spPr>
          <a:xfrm>
            <a:off x="6598768" y="2560320"/>
            <a:ext cx="1950644" cy="754380"/>
          </a:xfrm>
          <a:prstGeom prst="rect">
            <a:avLst/>
          </a:prstGeom>
          <a:noFill/>
          <a:ln/>
        </p:spPr>
        <p:txBody>
          <a:bodyPr wrap="square" lIns="0" tIns="0" rIns="0" bIns="0" rtlCol="0" anchor="t"/>
          <a:lstStyle/>
          <a:p>
            <a:pPr algn="l" indent="0" marL="0">
              <a:buNone/>
            </a:pPr>
            <a:r>
              <a:rPr lang="en-US" sz="1400" dirty="0">
                <a:solidFill>
                  <a:schemeClr val="tx1"/>
                </a:solidFill>
              </a:rPr>
              <a:t>Runout check; set the tool frame on the front face</a:t>
            </a:r>
            <a:endParaRPr lang="en-US" sz="1400" dirty="0"/>
          </a:p>
        </p:txBody>
      </p:sp>
      <p:sp>
        <p:nvSpPr>
          <p:cNvPr id="17" name="Arrow 3 to 4"/>
          <p:cNvSpPr/>
          <p:nvPr/>
        </p:nvSpPr>
        <p:spPr>
          <a:xfrm>
            <a:off x="8938031" y="2297430"/>
            <a:ext cx="228600" cy="365760"/>
          </a:xfrm>
          <a:prstGeom prst="chevron">
            <a:avLst/>
          </a:prstGeom>
          <a:solidFill>
            <a:schemeClr val="accent2"/>
          </a:solidFill>
          <a:ln/>
        </p:spPr>
      </p:sp>
      <p:sp>
        <p:nvSpPr>
          <p:cNvPr id="18" name="Step 4 card"/>
          <p:cNvSpPr/>
          <p:nvPr/>
        </p:nvSpPr>
        <p:spPr>
          <a:xfrm>
            <a:off x="9326651" y="1417320"/>
            <a:ext cx="2407844" cy="2125980"/>
          </a:xfrm>
          <a:prstGeom prst="roundRect">
            <a:avLst>
              <a:gd name="adj" fmla="val 5161"/>
            </a:avLst>
          </a:prstGeom>
          <a:solidFill>
            <a:schemeClr val="bg2"/>
          </a:solidFill>
          <a:ln/>
        </p:spPr>
      </p:sp>
      <p:sp>
        <p:nvSpPr>
          <p:cNvPr id="19" name="Step 4 badge"/>
          <p:cNvSpPr txBox="1"/>
          <p:nvPr/>
        </p:nvSpPr>
        <p:spPr>
          <a:xfrm>
            <a:off x="9555251"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0" name="Step 4 head"/>
          <p:cNvSpPr txBox="1"/>
          <p:nvPr/>
        </p:nvSpPr>
        <p:spPr>
          <a:xfrm>
            <a:off x="9555251" y="224028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Locate sensor</a:t>
            </a:r>
            <a:endParaRPr lang="en-US" sz="1800" dirty="0"/>
          </a:p>
        </p:txBody>
      </p:sp>
      <p:sp>
        <p:nvSpPr>
          <p:cNvPr id="21" name="Step 4 text"/>
          <p:cNvSpPr txBox="1"/>
          <p:nvPr/>
        </p:nvSpPr>
        <p:spPr>
          <a:xfrm>
            <a:off x="9555251" y="2560320"/>
            <a:ext cx="1950644" cy="754380"/>
          </a:xfrm>
          <a:prstGeom prst="rect">
            <a:avLst/>
          </a:prstGeom>
          <a:noFill/>
          <a:ln/>
        </p:spPr>
        <p:txBody>
          <a:bodyPr wrap="square" lIns="0" tIns="0" rIns="0" bIns="0" rtlCol="0" anchor="t"/>
          <a:lstStyle/>
          <a:p>
            <a:pPr algn="l" indent="0" marL="0">
              <a:buNone/>
            </a:pPr>
            <a:r>
              <a:rPr lang="en-US" sz="1400" dirty="0">
                <a:solidFill>
                  <a:schemeClr val="tx1"/>
                </a:solidFill>
              </a:rPr>
              <a:t>Four sphere captures give a rough sensor position</a:t>
            </a:r>
            <a:endParaRPr lang="en-US" sz="1400" dirty="0"/>
          </a:p>
        </p:txBody>
      </p:sp>
      <p:sp>
        <p:nvSpPr>
          <p:cNvPr id="22" name="Step 5 card"/>
          <p:cNvSpPr/>
          <p:nvPr/>
        </p:nvSpPr>
        <p:spPr>
          <a:xfrm>
            <a:off x="457200" y="4000500"/>
            <a:ext cx="2407844" cy="2125980"/>
          </a:xfrm>
          <a:prstGeom prst="roundRect">
            <a:avLst>
              <a:gd name="adj" fmla="val 5161"/>
            </a:avLst>
          </a:prstGeom>
          <a:solidFill>
            <a:schemeClr val="bg2"/>
          </a:solidFill>
          <a:ln/>
        </p:spPr>
      </p:sp>
      <p:sp>
        <p:nvSpPr>
          <p:cNvPr id="23" name="Step 5 badge"/>
          <p:cNvSpPr txBox="1"/>
          <p:nvPr/>
        </p:nvSpPr>
        <p:spPr>
          <a:xfrm>
            <a:off x="685800" y="422910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4" name="Step 5 head"/>
          <p:cNvSpPr txBox="1"/>
          <p:nvPr/>
        </p:nvSpPr>
        <p:spPr>
          <a:xfrm>
            <a:off x="685800" y="482346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Plan poses</a:t>
            </a:r>
            <a:endParaRPr lang="en-US" sz="1800" dirty="0"/>
          </a:p>
        </p:txBody>
      </p:sp>
      <p:sp>
        <p:nvSpPr>
          <p:cNvPr id="25" name="Step 5 text"/>
          <p:cNvSpPr txBox="1"/>
          <p:nvPr/>
        </p:nvSpPr>
        <p:spPr>
          <a:xfrm>
            <a:off x="685800" y="5143500"/>
            <a:ext cx="1950644" cy="754380"/>
          </a:xfrm>
          <a:prstGeom prst="rect">
            <a:avLst/>
          </a:prstGeom>
          <a:noFill/>
          <a:ln/>
        </p:spPr>
        <p:txBody>
          <a:bodyPr wrap="square" lIns="0" tIns="0" rIns="0" bIns="0" rtlCol="0" anchor="t"/>
          <a:lstStyle/>
          <a:p>
            <a:pPr algn="l" indent="0" marL="0">
              <a:buNone/>
            </a:pPr>
            <a:r>
              <a:rPr lang="en-US" sz="1400" dirty="0">
                <a:solidFill>
                  <a:schemeClr val="tx1"/>
                </a:solidFill>
              </a:rPr>
              <a:t>The plan tool writes 186 poses and a picture</a:t>
            </a:r>
            <a:endParaRPr lang="en-US" sz="1400" dirty="0"/>
          </a:p>
        </p:txBody>
      </p:sp>
      <p:sp>
        <p:nvSpPr>
          <p:cNvPr id="26" name="Arrow 5 to 6"/>
          <p:cNvSpPr/>
          <p:nvPr/>
        </p:nvSpPr>
        <p:spPr>
          <a:xfrm>
            <a:off x="3025064" y="4880610"/>
            <a:ext cx="228600" cy="365760"/>
          </a:xfrm>
          <a:prstGeom prst="chevron">
            <a:avLst/>
          </a:prstGeom>
          <a:solidFill>
            <a:schemeClr val="accent2"/>
          </a:solidFill>
          <a:ln/>
        </p:spPr>
      </p:sp>
      <p:sp>
        <p:nvSpPr>
          <p:cNvPr id="27" name="Step 6 card"/>
          <p:cNvSpPr/>
          <p:nvPr/>
        </p:nvSpPr>
        <p:spPr>
          <a:xfrm>
            <a:off x="3413684" y="4000500"/>
            <a:ext cx="2407844" cy="2125980"/>
          </a:xfrm>
          <a:prstGeom prst="roundRect">
            <a:avLst>
              <a:gd name="adj" fmla="val 5161"/>
            </a:avLst>
          </a:prstGeom>
          <a:solidFill>
            <a:schemeClr val="bg2"/>
          </a:solidFill>
          <a:ln/>
        </p:spPr>
      </p:sp>
      <p:sp>
        <p:nvSpPr>
          <p:cNvPr id="28" name="Step 6 badge"/>
          <p:cNvSpPr txBox="1"/>
          <p:nvPr/>
        </p:nvSpPr>
        <p:spPr>
          <a:xfrm>
            <a:off x="3642284" y="422910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9" name="Step 6 head"/>
          <p:cNvSpPr txBox="1"/>
          <p:nvPr/>
        </p:nvSpPr>
        <p:spPr>
          <a:xfrm>
            <a:off x="3642284" y="482346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Capture</a:t>
            </a:r>
            <a:endParaRPr lang="en-US" sz="1800" dirty="0"/>
          </a:p>
        </p:txBody>
      </p:sp>
      <p:sp>
        <p:nvSpPr>
          <p:cNvPr id="30" name="Step 6 text"/>
          <p:cNvSpPr txBox="1"/>
          <p:nvPr/>
        </p:nvSpPr>
        <p:spPr>
          <a:xfrm>
            <a:off x="3642284" y="5143500"/>
            <a:ext cx="1950644" cy="754380"/>
          </a:xfrm>
          <a:prstGeom prst="rect">
            <a:avLst/>
          </a:prstGeom>
          <a:noFill/>
          <a:ln/>
        </p:spPr>
        <p:txBody>
          <a:bodyPr wrap="square" lIns="0" tIns="0" rIns="0" bIns="0" rtlCol="0" anchor="t"/>
          <a:lstStyle/>
          <a:p>
            <a:pPr algn="l" indent="0" marL="0">
              <a:buNone/>
            </a:pPr>
            <a:r>
              <a:rPr lang="en-US" sz="1400" dirty="0">
                <a:solidFill>
                  <a:schemeClr val="tx1"/>
                </a:solidFill>
              </a:rPr>
              <a:t>Sphere A, then sphere B, then the board</a:t>
            </a:r>
            <a:endParaRPr lang="en-US" sz="1400" dirty="0"/>
          </a:p>
        </p:txBody>
      </p:sp>
      <p:sp>
        <p:nvSpPr>
          <p:cNvPr id="31" name="Arrow 6 to 7"/>
          <p:cNvSpPr/>
          <p:nvPr/>
        </p:nvSpPr>
        <p:spPr>
          <a:xfrm>
            <a:off x="5981548" y="4880610"/>
            <a:ext cx="228600" cy="365760"/>
          </a:xfrm>
          <a:prstGeom prst="chevron">
            <a:avLst/>
          </a:prstGeom>
          <a:solidFill>
            <a:schemeClr val="accent2"/>
          </a:solidFill>
          <a:ln/>
        </p:spPr>
      </p:sp>
      <p:sp>
        <p:nvSpPr>
          <p:cNvPr id="32" name="Step 7 card"/>
          <p:cNvSpPr/>
          <p:nvPr/>
        </p:nvSpPr>
        <p:spPr>
          <a:xfrm>
            <a:off x="6370168" y="4000500"/>
            <a:ext cx="2407844" cy="2125980"/>
          </a:xfrm>
          <a:prstGeom prst="roundRect">
            <a:avLst>
              <a:gd name="adj" fmla="val 5161"/>
            </a:avLst>
          </a:prstGeom>
          <a:solidFill>
            <a:schemeClr val="bg2"/>
          </a:solidFill>
          <a:ln/>
        </p:spPr>
      </p:sp>
      <p:sp>
        <p:nvSpPr>
          <p:cNvPr id="33" name="Step 7 badge"/>
          <p:cNvSpPr txBox="1"/>
          <p:nvPr/>
        </p:nvSpPr>
        <p:spPr>
          <a:xfrm>
            <a:off x="6598768" y="422910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34" name="Step 7 head"/>
          <p:cNvSpPr txBox="1"/>
          <p:nvPr/>
        </p:nvSpPr>
        <p:spPr>
          <a:xfrm>
            <a:off x="6598768" y="482346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Manifest</a:t>
            </a:r>
            <a:endParaRPr lang="en-US" sz="1800" dirty="0"/>
          </a:p>
        </p:txBody>
      </p:sp>
      <p:sp>
        <p:nvSpPr>
          <p:cNvPr id="35" name="Step 7 text"/>
          <p:cNvSpPr txBox="1"/>
          <p:nvPr/>
        </p:nvSpPr>
        <p:spPr>
          <a:xfrm>
            <a:off x="6598768" y="5143500"/>
            <a:ext cx="1950644" cy="754380"/>
          </a:xfrm>
          <a:prstGeom prst="rect">
            <a:avLst/>
          </a:prstGeom>
          <a:noFill/>
          <a:ln/>
        </p:spPr>
        <p:txBody>
          <a:bodyPr wrap="square" lIns="0" tIns="0" rIns="0" bIns="0" rtlCol="0" anchor="t"/>
          <a:lstStyle/>
          <a:p>
            <a:pPr algn="l" indent="0" marL="0">
              <a:buNone/>
            </a:pPr>
            <a:r>
              <a:rPr lang="en-US" sz="1400" dirty="0">
                <a:solidFill>
                  <a:schemeClr val="tx1"/>
                </a:solidFill>
              </a:rPr>
              <a:t>Pose log and files become the manifest</a:t>
            </a:r>
            <a:endParaRPr lang="en-US" sz="1400" dirty="0"/>
          </a:p>
        </p:txBody>
      </p:sp>
      <p:sp>
        <p:nvSpPr>
          <p:cNvPr id="36" name="Arrow 7 to 8"/>
          <p:cNvSpPr/>
          <p:nvPr/>
        </p:nvSpPr>
        <p:spPr>
          <a:xfrm>
            <a:off x="8938031" y="4880610"/>
            <a:ext cx="228600" cy="365760"/>
          </a:xfrm>
          <a:prstGeom prst="chevron">
            <a:avLst/>
          </a:prstGeom>
          <a:solidFill>
            <a:schemeClr val="accent2"/>
          </a:solidFill>
          <a:ln/>
        </p:spPr>
      </p:sp>
      <p:sp>
        <p:nvSpPr>
          <p:cNvPr id="37" name="Step 8 card"/>
          <p:cNvSpPr/>
          <p:nvPr/>
        </p:nvSpPr>
        <p:spPr>
          <a:xfrm>
            <a:off x="9326651" y="4000500"/>
            <a:ext cx="2407844" cy="2125980"/>
          </a:xfrm>
          <a:prstGeom prst="roundRect">
            <a:avLst>
              <a:gd name="adj" fmla="val 5161"/>
            </a:avLst>
          </a:prstGeom>
          <a:solidFill>
            <a:schemeClr val="bg2"/>
          </a:solidFill>
          <a:ln/>
        </p:spPr>
      </p:sp>
      <p:sp>
        <p:nvSpPr>
          <p:cNvPr id="38" name="Step 8 badge"/>
          <p:cNvSpPr txBox="1"/>
          <p:nvPr/>
        </p:nvSpPr>
        <p:spPr>
          <a:xfrm>
            <a:off x="9555251" y="422910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39" name="Step 8 head"/>
          <p:cNvSpPr txBox="1"/>
          <p:nvPr/>
        </p:nvSpPr>
        <p:spPr>
          <a:xfrm>
            <a:off x="9555251" y="482346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Check</a:t>
            </a:r>
            <a:endParaRPr lang="en-US" sz="1800" dirty="0"/>
          </a:p>
        </p:txBody>
      </p:sp>
      <p:sp>
        <p:nvSpPr>
          <p:cNvPr id="40" name="Step 8 text"/>
          <p:cNvSpPr txBox="1"/>
          <p:nvPr/>
        </p:nvSpPr>
        <p:spPr>
          <a:xfrm>
            <a:off x="9555251" y="5143500"/>
            <a:ext cx="1950644" cy="754380"/>
          </a:xfrm>
          <a:prstGeom prst="rect">
            <a:avLst/>
          </a:prstGeom>
          <a:noFill/>
          <a:ln/>
        </p:spPr>
        <p:txBody>
          <a:bodyPr wrap="square" lIns="0" tIns="0" rIns="0" bIns="0" rtlCol="0" anchor="t"/>
          <a:lstStyle/>
          <a:p>
            <a:pPr algn="l" indent="0" marL="0">
              <a:buNone/>
            </a:pPr>
            <a:r>
              <a:rPr lang="en-US" sz="1400" dirty="0">
                <a:solidFill>
                  <a:schemeClr val="tx1"/>
                </a:solidFill>
              </a:rPr>
              <a:t>Quick check before the robot and fixtures are put away</a:t>
            </a:r>
            <a:endParaRPr lang="en-US" sz="1400" dirty="0"/>
          </a:p>
        </p:txBody>
      </p:sp>
      <p:sp>
        <p:nvSpPr>
          <p:cNvPr id="41" name="Return connector down"/>
          <p:cNvSpPr/>
          <p:nvPr/>
        </p:nvSpPr>
        <p:spPr>
          <a:xfrm>
            <a:off x="10530573" y="3543300"/>
            <a:ext cx="0" cy="228600"/>
          </a:xfrm>
          <a:prstGeom prst="line">
            <a:avLst/>
          </a:prstGeom>
          <a:noFill/>
          <a:ln w="25400">
            <a:solidFill>
              <a:schemeClr val="accent2"/>
            </a:solidFill>
            <a:prstDash val="solid"/>
          </a:ln>
        </p:spPr>
      </p:sp>
      <p:sp>
        <p:nvSpPr>
          <p:cNvPr id="42" name="Return connector across"/>
          <p:cNvSpPr/>
          <p:nvPr/>
        </p:nvSpPr>
        <p:spPr>
          <a:xfrm>
            <a:off x="1661122" y="3771900"/>
            <a:ext cx="8869451" cy="0"/>
          </a:xfrm>
          <a:prstGeom prst="line">
            <a:avLst/>
          </a:prstGeom>
          <a:noFill/>
          <a:ln w="25400">
            <a:solidFill>
              <a:schemeClr val="accent2"/>
            </a:solidFill>
            <a:prstDash val="solid"/>
          </a:ln>
        </p:spPr>
      </p:sp>
      <p:sp>
        <p:nvSpPr>
          <p:cNvPr id="43" name="Return connector into row 2"/>
          <p:cNvSpPr/>
          <p:nvPr/>
        </p:nvSpPr>
        <p:spPr>
          <a:xfrm>
            <a:off x="1661122" y="3771900"/>
            <a:ext cx="0" cy="45720"/>
          </a:xfrm>
          <a:prstGeom prst="line">
            <a:avLst/>
          </a:prstGeom>
          <a:noFill/>
          <a:ln w="25400">
            <a:solidFill>
              <a:schemeClr val="accent2"/>
            </a:solidFill>
            <a:prstDash val="solid"/>
          </a:ln>
        </p:spPr>
      </p:sp>
      <p:sp>
        <p:nvSpPr>
          <p:cNvPr id="44" name="Return connector arrowhead"/>
          <p:cNvSpPr/>
          <p:nvPr/>
        </p:nvSpPr>
        <p:spPr>
          <a:xfrm flipV="1">
            <a:off x="1523962" y="3817620"/>
            <a:ext cx="274320" cy="182880"/>
          </a:xfrm>
          <a:prstGeom prst="triangle">
            <a:avLst/>
          </a:prstGeom>
          <a:solidFill>
            <a:schemeClr val="accent2"/>
          </a:solidFill>
          <a:ln/>
        </p:spPr>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Preparation before the first session</a:t>
            </a:r>
            <a:endParaRPr lang="en-US" sz="3400" dirty="0"/>
          </a:p>
        </p:txBody>
      </p:sp>
      <p:sp>
        <p:nvSpPr>
          <p:cNvPr id="3" name="Column 1 card"/>
          <p:cNvSpPr/>
          <p:nvPr/>
        </p:nvSpPr>
        <p:spPr>
          <a:xfrm>
            <a:off x="457200" y="1417320"/>
            <a:ext cx="3576218" cy="3611880"/>
          </a:xfrm>
          <a:prstGeom prst="roundRect">
            <a:avLst>
              <a:gd name="adj" fmla="val 3068"/>
            </a:avLst>
          </a:prstGeom>
          <a:solidFill>
            <a:schemeClr val="bg2"/>
          </a:solidFill>
          <a:ln/>
        </p:spPr>
      </p:sp>
      <p:sp>
        <p:nvSpPr>
          <p:cNvPr id="4" name="Column 1 icon circle"/>
          <p:cNvSpPr/>
          <p:nvPr/>
        </p:nvSpPr>
        <p:spPr>
          <a:xfrm>
            <a:off x="685800" y="1645920"/>
            <a:ext cx="640080" cy="640080"/>
          </a:xfrm>
          <a:prstGeom prst="ellipse">
            <a:avLst/>
          </a:prstGeom>
          <a:solidFill>
            <a:schemeClr val="accent2"/>
          </a:solidFill>
          <a:ln/>
        </p:spPr>
      </p:sp>
      <p:pic>
        <p:nvPicPr>
          <p:cNvPr id="5" name="Column 1 icon glyph" descr="robot icon">    </p:cNvPr>
          <p:cNvPicPr>
            <a:picLocks noChangeAspect="1"/>
          </p:cNvPicPr>
          <p:nvPr/>
        </p:nvPicPr>
        <p:blipFill>
          <a:blip r:embed="rId1"/>
          <a:stretch>
            <a:fillRect/>
          </a:stretch>
        </p:blipFill>
        <p:spPr>
          <a:xfrm>
            <a:off x="845820" y="1805940"/>
            <a:ext cx="320040" cy="320040"/>
          </a:xfrm>
          <a:prstGeom prst="rect">
            <a:avLst/>
          </a:prstGeom>
        </p:spPr>
      </p:pic>
      <p:sp>
        <p:nvSpPr>
          <p:cNvPr id="6" name="Column 1 head"/>
          <p:cNvSpPr txBox="1"/>
          <p:nvPr/>
        </p:nvSpPr>
        <p:spPr>
          <a:xfrm>
            <a:off x="1508760" y="1645920"/>
            <a:ext cx="2296058" cy="640080"/>
          </a:xfrm>
          <a:prstGeom prst="rect">
            <a:avLst/>
          </a:prstGeom>
          <a:noFill/>
          <a:ln/>
        </p:spPr>
        <p:txBody>
          <a:bodyPr wrap="square" lIns="0" tIns="0" rIns="0" bIns="0" rtlCol="0" anchor="ctr"/>
          <a:lstStyle/>
          <a:p>
            <a:pPr algn="l" indent="0" marL="0">
              <a:buNone/>
            </a:pPr>
            <a:r>
              <a:rPr lang="en-US" sz="2000" b="1" dirty="0">
                <a:solidFill>
                  <a:schemeClr val="tx2"/>
                </a:solidFill>
                <a:latin typeface="+mj-lt" pitchFamily="34" charset="0"/>
                <a:ea typeface="+mj-lt" pitchFamily="34" charset="-122"/>
                <a:cs typeface="+mj-lt" pitchFamily="34" charset="-120"/>
              </a:rPr>
              <a:t>Robot</a:t>
            </a:r>
            <a:endParaRPr lang="en-US" sz="2000" dirty="0"/>
          </a:p>
        </p:txBody>
      </p:sp>
      <p:sp>
        <p:nvSpPr>
          <p:cNvPr id="7" name="Column 1 points"/>
          <p:cNvSpPr txBox="1"/>
          <p:nvPr/>
        </p:nvSpPr>
        <p:spPr>
          <a:xfrm>
            <a:off x="685800" y="2468880"/>
            <a:ext cx="3119018" cy="2331720"/>
          </a:xfrm>
          <a:prstGeom prst="rect">
            <a:avLst/>
          </a:prstGeom>
          <a:noFill/>
          <a:ln/>
        </p:spPr>
        <p:txBody>
          <a:bodyPr wrap="square" lIns="0" tIns="0" rIns="0" bIns="0" rtlCol="0" anchor="t"/>
          <a:lstStyle/>
          <a:p>
            <a:pPr algn="l" marL="177800" indent="-177800">
              <a:spcAft>
                <a:spcPts val="600"/>
              </a:spcAft>
              <a:buSzPct val="100000"/>
              <a:buChar char="•"/>
            </a:pPr>
            <a:r>
              <a:rPr lang="en-US" sz="1400" dirty="0">
                <a:solidFill>
                  <a:schemeClr val="tx1"/>
                </a:solidFill>
              </a:rPr>
              <a:t>Check the documented absolute accuracy: 0.1 mm or better</a:t>
            </a:r>
            <a:endParaRPr lang="en-US" sz="1400" dirty="0"/>
          </a:p>
          <a:p>
            <a:pPr algn="l" marL="177800" indent="-177800">
              <a:spcAft>
                <a:spcPts val="600"/>
              </a:spcAft>
              <a:buSzPct val="100000"/>
              <a:buChar char="•"/>
            </a:pPr>
            <a:r>
              <a:rPr lang="en-US" sz="1400" dirty="0">
                <a:solidFill>
                  <a:schemeClr val="tx1"/>
                </a:solidFill>
              </a:rPr>
              <a:t>Weigh each fixture; enter its tool load data</a:t>
            </a:r>
            <a:endParaRPr lang="en-US" sz="1400" dirty="0"/>
          </a:p>
          <a:p>
            <a:pPr algn="l" marL="177800" indent="-177800">
              <a:spcAft>
                <a:spcPts val="600"/>
              </a:spcAft>
              <a:buSzPct val="100000"/>
              <a:buChar char="•"/>
            </a:pPr>
            <a:r>
              <a:rPr lang="en-US" sz="1400" dirty="0">
                <a:solidFill>
                  <a:schemeClr val="tx1"/>
                </a:solidFill>
              </a:rPr>
              <a:t>Write the robot program; note where it writes pose_log.csv</a:t>
            </a:r>
            <a:endParaRPr lang="en-US" sz="1400" dirty="0"/>
          </a:p>
          <a:p>
            <a:pPr algn="l" marL="177800" indent="-177800">
              <a:spcAft>
                <a:spcPts val="600"/>
              </a:spcAft>
              <a:buSzPct val="100000"/>
              <a:buChar char="•"/>
            </a:pPr>
            <a:r>
              <a:rPr lang="en-US" sz="1400" dirty="0">
                <a:solidFill>
                  <a:schemeClr val="tx1"/>
                </a:solidFill>
              </a:rPr>
              <a:t>Dry-run every pose at reduced speed</a:t>
            </a:r>
            <a:endParaRPr lang="en-US" sz="1400" dirty="0"/>
          </a:p>
          <a:p>
            <a:pPr algn="l" marL="177800" indent="-177800">
              <a:spcAft>
                <a:spcPts val="600"/>
              </a:spcAft>
              <a:buSzPct val="100000"/>
              <a:buChar char="•"/>
            </a:pPr>
            <a:r>
              <a:rPr lang="en-US" sz="1400" dirty="0">
                <a:solidFill>
                  <a:schemeClr val="tx1"/>
                </a:solidFill>
              </a:rPr>
              <a:t>Safety review of the new program</a:t>
            </a:r>
            <a:endParaRPr lang="en-US" sz="1400" dirty="0"/>
          </a:p>
        </p:txBody>
      </p:sp>
      <p:sp>
        <p:nvSpPr>
          <p:cNvPr id="8" name="Column 2 card"/>
          <p:cNvSpPr/>
          <p:nvPr/>
        </p:nvSpPr>
        <p:spPr>
          <a:xfrm>
            <a:off x="4307738" y="1417320"/>
            <a:ext cx="3576218" cy="3611880"/>
          </a:xfrm>
          <a:prstGeom prst="roundRect">
            <a:avLst>
              <a:gd name="adj" fmla="val 3068"/>
            </a:avLst>
          </a:prstGeom>
          <a:solidFill>
            <a:schemeClr val="bg2"/>
          </a:solidFill>
          <a:ln/>
        </p:spPr>
      </p:sp>
      <p:sp>
        <p:nvSpPr>
          <p:cNvPr id="9" name="Column 2 icon circle"/>
          <p:cNvSpPr/>
          <p:nvPr/>
        </p:nvSpPr>
        <p:spPr>
          <a:xfrm>
            <a:off x="4536338" y="1645920"/>
            <a:ext cx="640080" cy="640080"/>
          </a:xfrm>
          <a:prstGeom prst="ellipse">
            <a:avLst/>
          </a:prstGeom>
          <a:solidFill>
            <a:schemeClr val="accent2"/>
          </a:solidFill>
          <a:ln/>
        </p:spPr>
      </p:sp>
      <p:pic>
        <p:nvPicPr>
          <p:cNvPr id="10" name="Column 2 icon glyph" descr="camera icon">    </p:cNvPr>
          <p:cNvPicPr>
            <a:picLocks noChangeAspect="1"/>
          </p:cNvPicPr>
          <p:nvPr/>
        </p:nvPicPr>
        <p:blipFill>
          <a:blip r:embed="rId2"/>
          <a:stretch>
            <a:fillRect/>
          </a:stretch>
        </p:blipFill>
        <p:spPr>
          <a:xfrm>
            <a:off x="4696358" y="1805940"/>
            <a:ext cx="320040" cy="320040"/>
          </a:xfrm>
          <a:prstGeom prst="rect">
            <a:avLst/>
          </a:prstGeom>
        </p:spPr>
      </p:pic>
      <p:sp>
        <p:nvSpPr>
          <p:cNvPr id="11" name="Column 2 head"/>
          <p:cNvSpPr txBox="1"/>
          <p:nvPr/>
        </p:nvSpPr>
        <p:spPr>
          <a:xfrm>
            <a:off x="5359298" y="1645920"/>
            <a:ext cx="2296058" cy="640080"/>
          </a:xfrm>
          <a:prstGeom prst="rect">
            <a:avLst/>
          </a:prstGeom>
          <a:noFill/>
          <a:ln/>
        </p:spPr>
        <p:txBody>
          <a:bodyPr wrap="square" lIns="0" tIns="0" rIns="0" bIns="0" rtlCol="0" anchor="ctr"/>
          <a:lstStyle/>
          <a:p>
            <a:pPr algn="l" indent="0" marL="0">
              <a:buNone/>
            </a:pPr>
            <a:r>
              <a:rPr lang="en-US" sz="2000" b="1" dirty="0">
                <a:solidFill>
                  <a:schemeClr val="tx2"/>
                </a:solidFill>
                <a:latin typeface="+mj-lt" pitchFamily="34" charset="0"/>
                <a:ea typeface="+mj-lt" pitchFamily="34" charset="-122"/>
                <a:cs typeface="+mj-lt" pitchFamily="34" charset="-120"/>
              </a:rPr>
              <a:t>Sensor and computers</a:t>
            </a:r>
            <a:endParaRPr lang="en-US" sz="2000" dirty="0"/>
          </a:p>
        </p:txBody>
      </p:sp>
      <p:sp>
        <p:nvSpPr>
          <p:cNvPr id="12" name="Column 2 points"/>
          <p:cNvSpPr txBox="1"/>
          <p:nvPr/>
        </p:nvSpPr>
        <p:spPr>
          <a:xfrm>
            <a:off x="4536338" y="2468880"/>
            <a:ext cx="3119018" cy="2331720"/>
          </a:xfrm>
          <a:prstGeom prst="rect">
            <a:avLst/>
          </a:prstGeom>
          <a:noFill/>
          <a:ln/>
        </p:spPr>
        <p:txBody>
          <a:bodyPr wrap="square" lIns="0" tIns="0" rIns="0" bIns="0" rtlCol="0" anchor="t"/>
          <a:lstStyle/>
          <a:p>
            <a:pPr algn="l" marL="177800" indent="-177800">
              <a:spcAft>
                <a:spcPts val="600"/>
              </a:spcAft>
              <a:buSzPct val="100000"/>
              <a:buChar char="•"/>
            </a:pPr>
            <a:r>
              <a:rPr lang="en-US" sz="1400" dirty="0">
                <a:solidFill>
                  <a:schemeClr val="tx1"/>
                </a:solidFill>
              </a:rPr>
              <a:t>Capture software set for the robot's trigger and the file names</a:t>
            </a:r>
            <a:endParaRPr lang="en-US" sz="1400" dirty="0"/>
          </a:p>
          <a:p>
            <a:pPr algn="l" marL="177800" indent="-177800">
              <a:spcAft>
                <a:spcPts val="600"/>
              </a:spcAft>
              <a:buSzPct val="100000"/>
              <a:buChar char="•"/>
            </a:pPr>
            <a:r>
              <a:rPr lang="en-US" sz="1400" dirty="0">
                <a:solidFill>
                  <a:schemeClr val="tx1"/>
                </a:solidFill>
              </a:rPr>
              <a:t>Exposure, gain and SGM parameters set and recorded: smoothing filters off, installation patch size</a:t>
            </a:r>
            <a:endParaRPr lang="en-US" sz="1400" dirty="0"/>
          </a:p>
          <a:p>
            <a:pPr algn="l" marL="177800" indent="-177800">
              <a:spcAft>
                <a:spcPts val="600"/>
              </a:spcAft>
              <a:buSzPct val="100000"/>
              <a:buChar char="•"/>
            </a:pPr>
            <a:r>
              <a:rPr lang="en-US" sz="1400" dirty="0">
                <a:solidFill>
                  <a:schemeClr val="tx1"/>
                </a:solidFill>
              </a:rPr>
              <a:t>10 GB free per 1,000 frames</a:t>
            </a:r>
            <a:endParaRPr lang="en-US" sz="1400" dirty="0"/>
          </a:p>
          <a:p>
            <a:pPr algn="l" marL="177800" indent="-177800">
              <a:spcAft>
                <a:spcPts val="600"/>
              </a:spcAft>
              <a:buSzPct val="100000"/>
              <a:buChar char="•"/>
            </a:pPr>
            <a:r>
              <a:rPr lang="en-US" sz="1400" dirty="0">
                <a:solidFill>
                  <a:schemeClr val="tx1"/>
                </a:solidFill>
              </a:rPr>
              <a:t>Calibration software installed and self-tested</a:t>
            </a:r>
            <a:endParaRPr lang="en-US" sz="1400" dirty="0"/>
          </a:p>
        </p:txBody>
      </p:sp>
      <p:sp>
        <p:nvSpPr>
          <p:cNvPr id="13" name="Column 3 card"/>
          <p:cNvSpPr/>
          <p:nvPr/>
        </p:nvSpPr>
        <p:spPr>
          <a:xfrm>
            <a:off x="8158277" y="1417320"/>
            <a:ext cx="3576218" cy="3611880"/>
          </a:xfrm>
          <a:prstGeom prst="roundRect">
            <a:avLst>
              <a:gd name="adj" fmla="val 3068"/>
            </a:avLst>
          </a:prstGeom>
          <a:solidFill>
            <a:schemeClr val="bg2"/>
          </a:solidFill>
          <a:ln/>
        </p:spPr>
      </p:sp>
      <p:sp>
        <p:nvSpPr>
          <p:cNvPr id="14" name="Column 3 icon circle"/>
          <p:cNvSpPr/>
          <p:nvPr/>
        </p:nvSpPr>
        <p:spPr>
          <a:xfrm>
            <a:off x="8386877" y="1645920"/>
            <a:ext cx="640080" cy="640080"/>
          </a:xfrm>
          <a:prstGeom prst="ellipse">
            <a:avLst/>
          </a:prstGeom>
          <a:solidFill>
            <a:schemeClr val="accent2"/>
          </a:solidFill>
          <a:ln/>
        </p:spPr>
      </p:sp>
      <p:pic>
        <p:nvPicPr>
          <p:cNvPr id="15" name="Column 3 icon glyph" descr="layout icon">    </p:cNvPr>
          <p:cNvPicPr>
            <a:picLocks noChangeAspect="1"/>
          </p:cNvPicPr>
          <p:nvPr/>
        </p:nvPicPr>
        <p:blipFill>
          <a:blip r:embed="rId3"/>
          <a:stretch>
            <a:fillRect/>
          </a:stretch>
        </p:blipFill>
        <p:spPr>
          <a:xfrm>
            <a:off x="8546897" y="1805940"/>
            <a:ext cx="320040" cy="320040"/>
          </a:xfrm>
          <a:prstGeom prst="rect">
            <a:avLst/>
          </a:prstGeom>
        </p:spPr>
      </p:pic>
      <p:sp>
        <p:nvSpPr>
          <p:cNvPr id="16" name="Column 3 head"/>
          <p:cNvSpPr txBox="1"/>
          <p:nvPr/>
        </p:nvSpPr>
        <p:spPr>
          <a:xfrm>
            <a:off x="9209837" y="1645920"/>
            <a:ext cx="2296058" cy="640080"/>
          </a:xfrm>
          <a:prstGeom prst="rect">
            <a:avLst/>
          </a:prstGeom>
          <a:noFill/>
          <a:ln/>
        </p:spPr>
        <p:txBody>
          <a:bodyPr wrap="square" lIns="0" tIns="0" rIns="0" bIns="0" rtlCol="0" anchor="ctr"/>
          <a:lstStyle/>
          <a:p>
            <a:pPr algn="l" indent="0" marL="0">
              <a:buNone/>
            </a:pPr>
            <a:r>
              <a:rPr lang="en-US" sz="2000" b="1" dirty="0">
                <a:solidFill>
                  <a:schemeClr val="tx2"/>
                </a:solidFill>
                <a:latin typeface="+mj-lt" pitchFamily="34" charset="0"/>
                <a:ea typeface="+mj-lt" pitchFamily="34" charset="-122"/>
                <a:cs typeface="+mj-lt" pitchFamily="34" charset="-120"/>
              </a:rPr>
              <a:t>Cell</a:t>
            </a:r>
            <a:endParaRPr lang="en-US" sz="2000" dirty="0"/>
          </a:p>
        </p:txBody>
      </p:sp>
      <p:sp>
        <p:nvSpPr>
          <p:cNvPr id="17" name="Column 3 points"/>
          <p:cNvSpPr txBox="1"/>
          <p:nvPr/>
        </p:nvSpPr>
        <p:spPr>
          <a:xfrm>
            <a:off x="8386877" y="2468880"/>
            <a:ext cx="3119018" cy="2331720"/>
          </a:xfrm>
          <a:prstGeom prst="rect">
            <a:avLst/>
          </a:prstGeom>
          <a:noFill/>
          <a:ln/>
        </p:spPr>
        <p:txBody>
          <a:bodyPr wrap="square" lIns="0" tIns="0" rIns="0" bIns="0" rtlCol="0" anchor="t"/>
          <a:lstStyle/>
          <a:p>
            <a:pPr algn="l" marL="177800" indent="-177800">
              <a:spcAft>
                <a:spcPts val="600"/>
              </a:spcAft>
              <a:buSzPct val="100000"/>
              <a:buChar char="•"/>
            </a:pPr>
            <a:r>
              <a:rPr lang="en-US" sz="1400" dirty="0">
                <a:solidFill>
                  <a:schemeClr val="tx1"/>
                </a:solidFill>
              </a:rPr>
              <a:t>Layout study: the 300 to 1,100 mm volume inside the robot's reach</a:t>
            </a:r>
            <a:endParaRPr lang="en-US" sz="1400" dirty="0"/>
          </a:p>
          <a:p>
            <a:pPr algn="l" marL="177800" indent="-177800">
              <a:spcAft>
                <a:spcPts val="600"/>
              </a:spcAft>
              <a:buSzPct val="100000"/>
              <a:buChar char="•"/>
            </a:pPr>
            <a:r>
              <a:rPr lang="en-US" sz="1400" dirty="0">
                <a:solidFill>
                  <a:schemeClr val="tx1"/>
                </a:solidFill>
              </a:rPr>
              <a:t>Table drilled and tapped for the nest and the run-out plate</a:t>
            </a:r>
            <a:endParaRPr lang="en-US" sz="1400" dirty="0"/>
          </a:p>
          <a:p>
            <a:pPr algn="l" marL="177800" indent="-177800">
              <a:spcAft>
                <a:spcPts val="600"/>
              </a:spcAft>
              <a:buSzPct val="100000"/>
              <a:buChar char="•"/>
            </a:pPr>
            <a:r>
              <a:rPr lang="en-US" sz="1400" dirty="0">
                <a:solidFill>
                  <a:schemeClr val="tx1"/>
                </a:solidFill>
              </a:rPr>
              <a:t>Robot base frame identified and recorded</a:t>
            </a:r>
            <a:endParaRPr lang="en-US" sz="1400" dirty="0"/>
          </a:p>
        </p:txBody>
      </p:sp>
      <p:sp>
        <p:nvSpPr>
          <p:cNvPr id="18" name="Message box"/>
          <p:cNvSpPr/>
          <p:nvPr/>
        </p:nvSpPr>
        <p:spPr>
          <a:xfrm>
            <a:off x="457200" y="5303520"/>
            <a:ext cx="11277295" cy="822960"/>
          </a:xfrm>
          <a:prstGeom prst="roundRect">
            <a:avLst>
              <a:gd name="adj" fmla="val 13333"/>
            </a:avLst>
          </a:prstGeom>
          <a:solidFill>
            <a:schemeClr val="bg2"/>
          </a:solidFill>
          <a:ln w="25400">
            <a:solidFill>
              <a:schemeClr val="accent1"/>
            </a:solidFill>
            <a:prstDash val="solid"/>
          </a:ln>
        </p:spPr>
      </p:sp>
      <p:sp>
        <p:nvSpPr>
          <p:cNvPr id="19" name="Message icon circle"/>
          <p:cNvSpPr/>
          <p:nvPr/>
        </p:nvSpPr>
        <p:spPr>
          <a:xfrm>
            <a:off x="685800" y="5394960"/>
            <a:ext cx="640080" cy="640080"/>
          </a:xfrm>
          <a:prstGeom prst="ellipse">
            <a:avLst/>
          </a:prstGeom>
          <a:solidFill>
            <a:schemeClr val="accent1"/>
          </a:solidFill>
          <a:ln/>
        </p:spPr>
      </p:sp>
      <p:pic>
        <p:nvPicPr>
          <p:cNvPr id="20" name="Message icon glyph" descr="tool icon">    </p:cNvPr>
          <p:cNvPicPr>
            <a:picLocks noChangeAspect="1"/>
          </p:cNvPicPr>
          <p:nvPr/>
        </p:nvPicPr>
        <p:blipFill>
          <a:blip r:embed="rId4"/>
          <a:stretch>
            <a:fillRect/>
          </a:stretch>
        </p:blipFill>
        <p:spPr>
          <a:xfrm>
            <a:off x="845820" y="5554980"/>
            <a:ext cx="320040" cy="320040"/>
          </a:xfrm>
          <a:prstGeom prst="rect">
            <a:avLst/>
          </a:prstGeom>
        </p:spPr>
      </p:pic>
      <p:sp>
        <p:nvSpPr>
          <p:cNvPr id="21" name="Key message"/>
          <p:cNvSpPr txBox="1"/>
          <p:nvPr/>
        </p:nvSpPr>
        <p:spPr>
          <a:xfrm>
            <a:off x="1508760" y="5303520"/>
            <a:ext cx="9997135" cy="822960"/>
          </a:xfrm>
          <a:prstGeom prst="rect">
            <a:avLst/>
          </a:prstGeom>
          <a:noFill/>
          <a:ln/>
        </p:spPr>
        <p:txBody>
          <a:bodyPr wrap="square" lIns="0" tIns="0" rIns="0" bIns="0" rtlCol="0" anchor="ctr"/>
          <a:lstStyle/>
          <a:p>
            <a:pPr algn="l" indent="0" marL="0">
              <a:buNone/>
            </a:pPr>
            <a:r>
              <a:rPr lang="en-US" sz="1800" b="1" dirty="0">
                <a:solidFill>
                  <a:schemeClr val="tx2"/>
                </a:solidFill>
              </a:rPr>
              <a:t>The fixtures and tools themselves are in the procurement and build deck, and in section 1 of the procedure.</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The three-ball nest finds each sphere's center</a:t>
            </a:r>
            <a:endParaRPr lang="en-US" sz="3400" dirty="0"/>
          </a:p>
        </p:txBody>
      </p:sp>
      <p:pic>
        <p:nvPicPr>
          <p:cNvPr id="3" name="Finding the tool center point with a three-ball nest" descr="Finding the tool center point with a three-ball nest">    </p:cNvPr>
          <p:cNvPicPr>
            <a:picLocks noChangeAspect="1"/>
          </p:cNvPicPr>
          <p:nvPr/>
        </p:nvPicPr>
        <p:blipFill>
          <a:blip r:embed="rId1"/>
          <a:stretch>
            <a:fillRect/>
          </a:stretch>
        </p:blipFill>
        <p:spPr>
          <a:xfrm>
            <a:off x="457200" y="1417320"/>
            <a:ext cx="3921338" cy="4709160"/>
          </a:xfrm>
          <a:prstGeom prst="rect">
            <a:avLst/>
          </a:prstGeom>
        </p:spPr>
      </p:pic>
      <p:sp>
        <p:nvSpPr>
          <p:cNvPr id="4" name="Finding the tool center point with a three-ball nest frame"/>
          <p:cNvSpPr/>
          <p:nvPr/>
        </p:nvSpPr>
        <p:spPr>
          <a:xfrm>
            <a:off x="457200" y="1417320"/>
            <a:ext cx="3921338" cy="4709160"/>
          </a:xfrm>
          <a:prstGeom prst="rect">
            <a:avLst/>
          </a:prstGeom>
          <a:ln w="12700">
            <a:solidFill>
              <a:schemeClr val="accent6"/>
            </a:solidFill>
            <a:prstDash val="solid"/>
          </a:ln>
        </p:spPr>
      </p:sp>
      <p:sp>
        <p:nvSpPr>
          <p:cNvPr id="5" name="Step 1 card"/>
          <p:cNvSpPr/>
          <p:nvPr/>
        </p:nvSpPr>
        <p:spPr>
          <a:xfrm>
            <a:off x="4652858" y="1417320"/>
            <a:ext cx="7081637" cy="738226"/>
          </a:xfrm>
          <a:prstGeom prst="roundRect">
            <a:avLst>
              <a:gd name="adj" fmla="val 14864"/>
            </a:avLst>
          </a:prstGeom>
          <a:solidFill>
            <a:schemeClr val="bg2"/>
          </a:solidFill>
          <a:ln/>
        </p:spPr>
      </p:sp>
      <p:sp>
        <p:nvSpPr>
          <p:cNvPr id="6" name="Step 1 badge"/>
          <p:cNvSpPr txBox="1"/>
          <p:nvPr/>
        </p:nvSpPr>
        <p:spPr>
          <a:xfrm>
            <a:off x="4767158" y="1534973"/>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Step 1 text"/>
          <p:cNvSpPr txBox="1"/>
          <p:nvPr/>
        </p:nvSpPr>
        <p:spPr>
          <a:xfrm>
            <a:off x="5452958" y="1417320"/>
            <a:ext cx="6167237" cy="738226"/>
          </a:xfrm>
          <a:prstGeom prst="rect">
            <a:avLst/>
          </a:prstGeom>
          <a:noFill/>
          <a:ln/>
        </p:spPr>
        <p:txBody>
          <a:bodyPr wrap="square" lIns="0" tIns="0" rIns="0" bIns="0" rtlCol="0" anchor="ctr"/>
          <a:lstStyle/>
          <a:p>
            <a:pPr algn="l" indent="0" marL="0">
              <a:buNone/>
            </a:pPr>
            <a:r>
              <a:rPr lang="en-US" sz="1600" dirty="0">
                <a:solidFill>
                  <a:schemeClr val="tx1"/>
                </a:solidFill>
              </a:rPr>
              <a:t>Enter a rough TCP from caliper measurements, and the fixture's tool load data</a:t>
            </a:r>
            <a:endParaRPr lang="en-US" sz="1600" dirty="0"/>
          </a:p>
        </p:txBody>
      </p:sp>
      <p:sp>
        <p:nvSpPr>
          <p:cNvPr id="8" name="Step 2 card"/>
          <p:cNvSpPr/>
          <p:nvPr/>
        </p:nvSpPr>
        <p:spPr>
          <a:xfrm>
            <a:off x="4652858" y="2429866"/>
            <a:ext cx="7081637" cy="738226"/>
          </a:xfrm>
          <a:prstGeom prst="roundRect">
            <a:avLst>
              <a:gd name="adj" fmla="val 14864"/>
            </a:avLst>
          </a:prstGeom>
          <a:solidFill>
            <a:schemeClr val="bg2"/>
          </a:solidFill>
          <a:ln/>
        </p:spPr>
      </p:sp>
      <p:sp>
        <p:nvSpPr>
          <p:cNvPr id="9" name="Step 2 badge"/>
          <p:cNvSpPr txBox="1"/>
          <p:nvPr/>
        </p:nvSpPr>
        <p:spPr>
          <a:xfrm>
            <a:off x="4767158" y="2547518"/>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Step 2 text"/>
          <p:cNvSpPr txBox="1"/>
          <p:nvPr/>
        </p:nvSpPr>
        <p:spPr>
          <a:xfrm>
            <a:off x="5452958" y="2429866"/>
            <a:ext cx="6167237" cy="738226"/>
          </a:xfrm>
          <a:prstGeom prst="rect">
            <a:avLst/>
          </a:prstGeom>
          <a:noFill/>
          <a:ln/>
        </p:spPr>
        <p:txBody>
          <a:bodyPr wrap="square" lIns="0" tIns="0" rIns="0" bIns="0" rtlCol="0" anchor="ctr"/>
          <a:lstStyle/>
          <a:p>
            <a:pPr algn="l" indent="0" marL="0">
              <a:buNone/>
            </a:pPr>
            <a:r>
              <a:rPr lang="en-US" sz="1600" dirty="0">
                <a:solidFill>
                  <a:schemeClr val="tx1"/>
                </a:solidFill>
              </a:rPr>
              <a:t>Run the robot's multi-orientation TCP routine with at least six seatings: stem up, tilted 40 degrees four ways, one twisted</a:t>
            </a:r>
            <a:endParaRPr lang="en-US" sz="1600" dirty="0"/>
          </a:p>
        </p:txBody>
      </p:sp>
      <p:sp>
        <p:nvSpPr>
          <p:cNvPr id="11" name="Step 3 card"/>
          <p:cNvSpPr/>
          <p:nvPr/>
        </p:nvSpPr>
        <p:spPr>
          <a:xfrm>
            <a:off x="4652858" y="3442411"/>
            <a:ext cx="7081637" cy="698602"/>
          </a:xfrm>
          <a:prstGeom prst="roundRect">
            <a:avLst>
              <a:gd name="adj" fmla="val 15707"/>
            </a:avLst>
          </a:prstGeom>
          <a:solidFill>
            <a:schemeClr val="bg2"/>
          </a:solidFill>
          <a:ln/>
        </p:spPr>
      </p:sp>
      <p:sp>
        <p:nvSpPr>
          <p:cNvPr id="12" name="Step 3 badge"/>
          <p:cNvSpPr txBox="1"/>
          <p:nvPr/>
        </p:nvSpPr>
        <p:spPr>
          <a:xfrm>
            <a:off x="4767158" y="3540252"/>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Step 3 text"/>
          <p:cNvSpPr txBox="1"/>
          <p:nvPr/>
        </p:nvSpPr>
        <p:spPr>
          <a:xfrm>
            <a:off x="5452958" y="3442411"/>
            <a:ext cx="6167237" cy="698602"/>
          </a:xfrm>
          <a:prstGeom prst="rect">
            <a:avLst/>
          </a:prstGeom>
          <a:noFill/>
          <a:ln/>
        </p:spPr>
        <p:txBody>
          <a:bodyPr wrap="square" lIns="0" tIns="0" rIns="0" bIns="0" rtlCol="0" anchor="ctr"/>
          <a:lstStyle/>
          <a:p>
            <a:pPr algn="l" indent="0" marL="0">
              <a:buNone/>
            </a:pPr>
            <a:r>
              <a:rPr lang="en-US" sz="1600" dirty="0">
                <a:solidFill>
                  <a:schemeClr val="tx1"/>
                </a:solidFill>
              </a:rPr>
              <a:t>Accept only a routine error of 0.1 mm or less</a:t>
            </a:r>
            <a:endParaRPr lang="en-US" sz="1600" dirty="0"/>
          </a:p>
        </p:txBody>
      </p:sp>
      <p:sp>
        <p:nvSpPr>
          <p:cNvPr id="14" name="Step 4 card"/>
          <p:cNvSpPr/>
          <p:nvPr/>
        </p:nvSpPr>
        <p:spPr>
          <a:xfrm>
            <a:off x="4652858" y="4415333"/>
            <a:ext cx="7081637" cy="738226"/>
          </a:xfrm>
          <a:prstGeom prst="roundRect">
            <a:avLst>
              <a:gd name="adj" fmla="val 14864"/>
            </a:avLst>
          </a:prstGeom>
          <a:solidFill>
            <a:schemeClr val="bg2"/>
          </a:solidFill>
          <a:ln/>
        </p:spPr>
      </p:sp>
      <p:sp>
        <p:nvSpPr>
          <p:cNvPr id="15" name="Step 4 badge"/>
          <p:cNvSpPr txBox="1"/>
          <p:nvPr/>
        </p:nvSpPr>
        <p:spPr>
          <a:xfrm>
            <a:off x="4767158" y="4532986"/>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6" name="Step 4 text"/>
          <p:cNvSpPr txBox="1"/>
          <p:nvPr/>
        </p:nvSpPr>
        <p:spPr>
          <a:xfrm>
            <a:off x="5452958" y="4415333"/>
            <a:ext cx="6167237" cy="738226"/>
          </a:xfrm>
          <a:prstGeom prst="rect">
            <a:avLst/>
          </a:prstGeom>
          <a:noFill/>
          <a:ln/>
        </p:spPr>
        <p:txBody>
          <a:bodyPr wrap="square" lIns="0" tIns="0" rIns="0" bIns="0" rtlCol="0" anchor="ctr"/>
          <a:lstStyle/>
          <a:p>
            <a:pPr algn="l" indent="0" marL="0">
              <a:buNone/>
            </a:pPr>
            <a:r>
              <a:rPr lang="en-US" sz="1600" dirty="0">
                <a:solidFill>
                  <a:schemeClr val="tx1"/>
                </a:solidFill>
              </a:rPr>
              <a:t>Re-seat at a very different wrist angle: positions agree within 0.1 mm</a:t>
            </a:r>
            <a:endParaRPr lang="en-US" sz="1600" dirty="0"/>
          </a:p>
        </p:txBody>
      </p:sp>
      <p:sp>
        <p:nvSpPr>
          <p:cNvPr id="17" name="Step 5 card"/>
          <p:cNvSpPr/>
          <p:nvPr/>
        </p:nvSpPr>
        <p:spPr>
          <a:xfrm>
            <a:off x="4652858" y="5427878"/>
            <a:ext cx="7081637" cy="698602"/>
          </a:xfrm>
          <a:prstGeom prst="roundRect">
            <a:avLst>
              <a:gd name="adj" fmla="val 15707"/>
            </a:avLst>
          </a:prstGeom>
          <a:solidFill>
            <a:schemeClr val="bg2"/>
          </a:solidFill>
          <a:ln/>
        </p:spPr>
      </p:sp>
      <p:sp>
        <p:nvSpPr>
          <p:cNvPr id="18" name="Step 5 badge"/>
          <p:cNvSpPr txBox="1"/>
          <p:nvPr/>
        </p:nvSpPr>
        <p:spPr>
          <a:xfrm>
            <a:off x="4767158" y="5525719"/>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9" name="Step 5 text"/>
          <p:cNvSpPr txBox="1"/>
          <p:nvPr/>
        </p:nvSpPr>
        <p:spPr>
          <a:xfrm>
            <a:off x="5452958" y="5427878"/>
            <a:ext cx="6167237" cy="698602"/>
          </a:xfrm>
          <a:prstGeom prst="rect">
            <a:avLst/>
          </a:prstGeom>
          <a:noFill/>
          <a:ln/>
        </p:spPr>
        <p:txBody>
          <a:bodyPr wrap="square" lIns="0" tIns="0" rIns="0" bIns="0" rtlCol="0" anchor="ctr"/>
          <a:lstStyle/>
          <a:p>
            <a:pPr algn="l" indent="0" marL="0">
              <a:buNone/>
            </a:pPr>
            <a:r>
              <a:rPr lang="en-US" sz="1600" dirty="0">
                <a:solidFill>
                  <a:schemeClr val="tx1"/>
                </a:solidFill>
              </a:rPr>
              <a:t>Save TCP_SPHERE_A_76mm and TCP_SPHERE_B_152mm</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The board's tool frame sits on its front face</a:t>
            </a:r>
            <a:endParaRPr lang="en-US" sz="3400" dirty="0"/>
          </a:p>
        </p:txBody>
      </p:sp>
      <p:pic>
        <p:nvPicPr>
          <p:cNvPr id="3" name="Board on the flange with its tool frame" descr="Board on the flange with its tool frame">    </p:cNvPr>
          <p:cNvPicPr>
            <a:picLocks noChangeAspect="1"/>
          </p:cNvPicPr>
          <p:nvPr/>
        </p:nvPicPr>
        <p:blipFill>
          <a:blip r:embed="rId1"/>
          <a:stretch>
            <a:fillRect/>
          </a:stretch>
        </p:blipFill>
        <p:spPr>
          <a:xfrm>
            <a:off x="457200" y="1417320"/>
            <a:ext cx="5017717" cy="4709160"/>
          </a:xfrm>
          <a:prstGeom prst="rect">
            <a:avLst/>
          </a:prstGeom>
        </p:spPr>
      </p:pic>
      <p:sp>
        <p:nvSpPr>
          <p:cNvPr id="4" name="Board on the flange with its tool frame frame"/>
          <p:cNvSpPr/>
          <p:nvPr/>
        </p:nvSpPr>
        <p:spPr>
          <a:xfrm>
            <a:off x="457200" y="1417320"/>
            <a:ext cx="5017717" cy="4709160"/>
          </a:xfrm>
          <a:prstGeom prst="rect">
            <a:avLst/>
          </a:prstGeom>
          <a:ln w="12700">
            <a:solidFill>
              <a:schemeClr val="accent6"/>
            </a:solidFill>
            <a:prstDash val="solid"/>
          </a:ln>
        </p:spPr>
      </p:sp>
      <p:sp>
        <p:nvSpPr>
          <p:cNvPr id="5" name="Board point icon 1 circle"/>
          <p:cNvSpPr/>
          <p:nvPr/>
        </p:nvSpPr>
        <p:spPr>
          <a:xfrm>
            <a:off x="5749237" y="1572768"/>
            <a:ext cx="411480" cy="411480"/>
          </a:xfrm>
          <a:prstGeom prst="ellipse">
            <a:avLst/>
          </a:prstGeom>
          <a:solidFill>
            <a:schemeClr val="accent2"/>
          </a:solidFill>
          <a:ln/>
        </p:spPr>
      </p:sp>
      <p:pic>
        <p:nvPicPr>
          <p:cNvPr id="6" name="Board point icon 1 glyph" descr="check icon">    </p:cNvPr>
          <p:cNvPicPr>
            <a:picLocks noChangeAspect="1"/>
          </p:cNvPicPr>
          <p:nvPr/>
        </p:nvPicPr>
        <p:blipFill>
          <a:blip r:embed="rId2"/>
          <a:stretch>
            <a:fillRect/>
          </a:stretch>
        </p:blipFill>
        <p:spPr>
          <a:xfrm>
            <a:off x="5852107" y="1675638"/>
            <a:ext cx="205740" cy="205740"/>
          </a:xfrm>
          <a:prstGeom prst="rect">
            <a:avLst/>
          </a:prstGeom>
        </p:spPr>
      </p:pic>
      <p:sp>
        <p:nvSpPr>
          <p:cNvPr id="7" name="Board point text 1"/>
          <p:cNvSpPr txBox="1"/>
          <p:nvPr/>
        </p:nvSpPr>
        <p:spPr>
          <a:xfrm>
            <a:off x="6343597" y="1417320"/>
            <a:ext cx="5390899" cy="722376"/>
          </a:xfrm>
          <a:prstGeom prst="rect">
            <a:avLst/>
          </a:prstGeom>
          <a:noFill/>
          <a:ln/>
        </p:spPr>
        <p:txBody>
          <a:bodyPr wrap="square" lIns="0" tIns="0" rIns="0" bIns="0" rtlCol="0" anchor="ctr"/>
          <a:lstStyle/>
          <a:p>
            <a:pPr algn="l" indent="0" marL="0">
              <a:buNone/>
            </a:pPr>
            <a:r>
              <a:rPr lang="en-US" sz="1600" dirty="0">
                <a:solidFill>
                  <a:schemeClr val="tx1"/>
                </a:solidFill>
              </a:rPr>
              <a:t>Runout: rotate joint 6 through 360 degrees; the dial indicator stays within 0.05 mm</a:t>
            </a:r>
            <a:endParaRPr lang="en-US" sz="1600" dirty="0"/>
          </a:p>
        </p:txBody>
      </p:sp>
      <p:sp>
        <p:nvSpPr>
          <p:cNvPr id="8" name="Board point icon 2 circle"/>
          <p:cNvSpPr/>
          <p:nvPr/>
        </p:nvSpPr>
        <p:spPr>
          <a:xfrm>
            <a:off x="5749237" y="2569464"/>
            <a:ext cx="411480" cy="411480"/>
          </a:xfrm>
          <a:prstGeom prst="ellipse">
            <a:avLst/>
          </a:prstGeom>
          <a:solidFill>
            <a:schemeClr val="accent2"/>
          </a:solidFill>
          <a:ln/>
        </p:spPr>
      </p:sp>
      <p:pic>
        <p:nvPicPr>
          <p:cNvPr id="9" name="Board point icon 2 glyph" descr="check icon">    </p:cNvPr>
          <p:cNvPicPr>
            <a:picLocks noChangeAspect="1"/>
          </p:cNvPicPr>
          <p:nvPr/>
        </p:nvPicPr>
        <p:blipFill>
          <a:blip r:embed="rId3"/>
          <a:stretch>
            <a:fillRect/>
          </a:stretch>
        </p:blipFill>
        <p:spPr>
          <a:xfrm>
            <a:off x="5852107" y="2672334"/>
            <a:ext cx="205740" cy="205740"/>
          </a:xfrm>
          <a:prstGeom prst="rect">
            <a:avLst/>
          </a:prstGeom>
        </p:spPr>
      </p:pic>
      <p:sp>
        <p:nvSpPr>
          <p:cNvPr id="10" name="Board point text 2"/>
          <p:cNvSpPr txBox="1"/>
          <p:nvPr/>
        </p:nvSpPr>
        <p:spPr>
          <a:xfrm>
            <a:off x="6343597" y="2414016"/>
            <a:ext cx="5390899" cy="722376"/>
          </a:xfrm>
          <a:prstGeom prst="rect">
            <a:avLst/>
          </a:prstGeom>
          <a:noFill/>
          <a:ln/>
        </p:spPr>
        <p:txBody>
          <a:bodyPr wrap="square" lIns="0" tIns="0" rIns="0" bIns="0" rtlCol="0" anchor="ctr"/>
          <a:lstStyle/>
          <a:p>
            <a:pPr algn="l" indent="0" marL="0">
              <a:buNone/>
            </a:pPr>
            <a:r>
              <a:rPr lang="en-US" sz="1600" dirty="0">
                <a:solidFill>
                  <a:schemeClr val="tx1"/>
                </a:solidFill>
              </a:rPr>
              <a:t>Measure flange-to-face distance D at four places; they agree within 0.05 mm</a:t>
            </a:r>
            <a:endParaRPr lang="en-US" sz="1600" dirty="0"/>
          </a:p>
        </p:txBody>
      </p:sp>
      <p:sp>
        <p:nvSpPr>
          <p:cNvPr id="11" name="Board point icon 3 circle"/>
          <p:cNvSpPr/>
          <p:nvPr/>
        </p:nvSpPr>
        <p:spPr>
          <a:xfrm>
            <a:off x="5749237" y="3566160"/>
            <a:ext cx="411480" cy="411480"/>
          </a:xfrm>
          <a:prstGeom prst="ellipse">
            <a:avLst/>
          </a:prstGeom>
          <a:solidFill>
            <a:schemeClr val="accent2"/>
          </a:solidFill>
          <a:ln/>
        </p:spPr>
      </p:sp>
      <p:pic>
        <p:nvPicPr>
          <p:cNvPr id="12" name="Board point icon 3 glyph" descr="check icon">    </p:cNvPr>
          <p:cNvPicPr>
            <a:picLocks noChangeAspect="1"/>
          </p:cNvPicPr>
          <p:nvPr/>
        </p:nvPicPr>
        <p:blipFill>
          <a:blip r:embed="rId4"/>
          <a:stretch>
            <a:fillRect/>
          </a:stretch>
        </p:blipFill>
        <p:spPr>
          <a:xfrm>
            <a:off x="5852107" y="3669030"/>
            <a:ext cx="205740" cy="205740"/>
          </a:xfrm>
          <a:prstGeom prst="rect">
            <a:avLst/>
          </a:prstGeom>
        </p:spPr>
      </p:pic>
      <p:sp>
        <p:nvSpPr>
          <p:cNvPr id="13" name="Board point text 3"/>
          <p:cNvSpPr txBox="1"/>
          <p:nvPr/>
        </p:nvSpPr>
        <p:spPr>
          <a:xfrm>
            <a:off x="6343597" y="3410712"/>
            <a:ext cx="5390899" cy="722376"/>
          </a:xfrm>
          <a:prstGeom prst="rect">
            <a:avLst/>
          </a:prstGeom>
          <a:noFill/>
          <a:ln/>
        </p:spPr>
        <p:txBody>
          <a:bodyPr wrap="square" lIns="0" tIns="0" rIns="0" bIns="0" rtlCol="0" anchor="ctr"/>
          <a:lstStyle/>
          <a:p>
            <a:pPr algn="l" indent="0" marL="0">
              <a:buNone/>
            </a:pPr>
            <a:r>
              <a:rPr lang="en-US" sz="1600" dirty="0">
                <a:solidFill>
                  <a:schemeClr val="tx1"/>
                </a:solidFill>
              </a:rPr>
              <a:t>Tool frame: origin at the face center, z out of the face, x along the long edge</a:t>
            </a:r>
            <a:endParaRPr lang="en-US" sz="1600" dirty="0"/>
          </a:p>
        </p:txBody>
      </p:sp>
      <p:sp>
        <p:nvSpPr>
          <p:cNvPr id="14" name="Board point icon 4 circle"/>
          <p:cNvSpPr/>
          <p:nvPr/>
        </p:nvSpPr>
        <p:spPr>
          <a:xfrm>
            <a:off x="5749237" y="4562856"/>
            <a:ext cx="411480" cy="411480"/>
          </a:xfrm>
          <a:prstGeom prst="ellipse">
            <a:avLst/>
          </a:prstGeom>
          <a:solidFill>
            <a:schemeClr val="accent2"/>
          </a:solidFill>
          <a:ln/>
        </p:spPr>
      </p:sp>
      <p:pic>
        <p:nvPicPr>
          <p:cNvPr id="15" name="Board point icon 4 glyph" descr="check icon">    </p:cNvPr>
          <p:cNvPicPr>
            <a:picLocks noChangeAspect="1"/>
          </p:cNvPicPr>
          <p:nvPr/>
        </p:nvPicPr>
        <p:blipFill>
          <a:blip r:embed="rId5"/>
          <a:stretch>
            <a:fillRect/>
          </a:stretch>
        </p:blipFill>
        <p:spPr>
          <a:xfrm>
            <a:off x="5852107" y="4665726"/>
            <a:ext cx="205740" cy="205740"/>
          </a:xfrm>
          <a:prstGeom prst="rect">
            <a:avLst/>
          </a:prstGeom>
        </p:spPr>
      </p:pic>
      <p:sp>
        <p:nvSpPr>
          <p:cNvPr id="16" name="Board point text 4"/>
          <p:cNvSpPr txBox="1"/>
          <p:nvPr/>
        </p:nvSpPr>
        <p:spPr>
          <a:xfrm>
            <a:off x="6343597" y="4407408"/>
            <a:ext cx="5390899" cy="722376"/>
          </a:xfrm>
          <a:prstGeom prst="rect">
            <a:avLst/>
          </a:prstGeom>
          <a:noFill/>
          <a:ln/>
        </p:spPr>
        <p:txBody>
          <a:bodyPr wrap="square" lIns="0" tIns="0" rIns="0" bIns="0" rtlCol="0" anchor="ctr"/>
          <a:lstStyle/>
          <a:p>
            <a:pPr algn="l" indent="0" marL="0">
              <a:buNone/>
            </a:pPr>
            <a:r>
              <a:rPr lang="en-US" sz="1600" dirty="0">
                <a:solidFill>
                  <a:schemeClr val="tx1"/>
                </a:solidFill>
              </a:rPr>
              <a:t>A few degrees of error in x is harmless; an error in z is not</a:t>
            </a:r>
            <a:endParaRPr lang="en-US" sz="1600" dirty="0"/>
          </a:p>
        </p:txBody>
      </p:sp>
      <p:sp>
        <p:nvSpPr>
          <p:cNvPr id="17" name="Board point icon 5 circle"/>
          <p:cNvSpPr/>
          <p:nvPr/>
        </p:nvSpPr>
        <p:spPr>
          <a:xfrm>
            <a:off x="5749237" y="5559552"/>
            <a:ext cx="411480" cy="411480"/>
          </a:xfrm>
          <a:prstGeom prst="ellipse">
            <a:avLst/>
          </a:prstGeom>
          <a:solidFill>
            <a:schemeClr val="accent2"/>
          </a:solidFill>
          <a:ln/>
        </p:spPr>
      </p:sp>
      <p:pic>
        <p:nvPicPr>
          <p:cNvPr id="18" name="Board point icon 5 glyph" descr="check icon">    </p:cNvPr>
          <p:cNvPicPr>
            <a:picLocks noChangeAspect="1"/>
          </p:cNvPicPr>
          <p:nvPr/>
        </p:nvPicPr>
        <p:blipFill>
          <a:blip r:embed="rId6"/>
          <a:stretch>
            <a:fillRect/>
          </a:stretch>
        </p:blipFill>
        <p:spPr>
          <a:xfrm>
            <a:off x="5852107" y="5662422"/>
            <a:ext cx="205740" cy="205740"/>
          </a:xfrm>
          <a:prstGeom prst="rect">
            <a:avLst/>
          </a:prstGeom>
        </p:spPr>
      </p:pic>
      <p:sp>
        <p:nvSpPr>
          <p:cNvPr id="19" name="Board point text 5"/>
          <p:cNvSpPr txBox="1"/>
          <p:nvPr/>
        </p:nvSpPr>
        <p:spPr>
          <a:xfrm>
            <a:off x="6343597" y="5404104"/>
            <a:ext cx="5390899" cy="722376"/>
          </a:xfrm>
          <a:prstGeom prst="rect">
            <a:avLst/>
          </a:prstGeom>
          <a:noFill/>
          <a:ln/>
        </p:spPr>
        <p:txBody>
          <a:bodyPr wrap="square" lIns="0" tIns="0" rIns="0" bIns="0" rtlCol="0" anchor="ctr"/>
          <a:lstStyle/>
          <a:p>
            <a:pPr algn="l" indent="0" marL="0">
              <a:buNone/>
            </a:pPr>
            <a:r>
              <a:rPr lang="en-US" sz="1600" dirty="0">
                <a:solidFill>
                  <a:schemeClr val="tx1"/>
                </a:solidFill>
              </a:rPr>
              <a:t>Save as TOOL_BOARD with its load data; record D, the runout and the board size</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Four captures locate the sensor well enough to plan</a:t>
            </a:r>
            <a:endParaRPr lang="en-US" sz="3400" dirty="0"/>
          </a:p>
        </p:txBody>
      </p:sp>
      <p:sp>
        <p:nvSpPr>
          <p:cNvPr id="3" name="Sensor body"/>
          <p:cNvSpPr/>
          <p:nvPr/>
        </p:nvSpPr>
        <p:spPr>
          <a:xfrm>
            <a:off x="457200" y="1417320"/>
            <a:ext cx="1280160" cy="1828800"/>
          </a:xfrm>
          <a:prstGeom prst="roundRect">
            <a:avLst>
              <a:gd name="adj" fmla="val 8571"/>
            </a:avLst>
          </a:prstGeom>
          <a:solidFill>
            <a:schemeClr val="tx2"/>
          </a:solidFill>
          <a:ln/>
        </p:spPr>
      </p:sp>
      <p:sp>
        <p:nvSpPr>
          <p:cNvPr id="4" name="Sensor lens"/>
          <p:cNvSpPr/>
          <p:nvPr/>
        </p:nvSpPr>
        <p:spPr>
          <a:xfrm>
            <a:off x="891540" y="1645920"/>
            <a:ext cx="411480" cy="411480"/>
          </a:xfrm>
          <a:prstGeom prst="ellipse">
            <a:avLst/>
          </a:prstGeom>
          <a:solidFill>
            <a:schemeClr val="accent3"/>
          </a:solidFill>
          <a:ln/>
        </p:spPr>
      </p:sp>
      <p:sp>
        <p:nvSpPr>
          <p:cNvPr id="5" name="Sensor label"/>
          <p:cNvSpPr txBox="1"/>
          <p:nvPr/>
        </p:nvSpPr>
        <p:spPr>
          <a:xfrm>
            <a:off x="457200" y="2148840"/>
            <a:ext cx="1280160" cy="1097280"/>
          </a:xfrm>
          <a:prstGeom prst="rect">
            <a:avLst/>
          </a:prstGeom>
          <a:noFill/>
          <a:ln/>
        </p:spPr>
        <p:txBody>
          <a:bodyPr wrap="square" lIns="0" tIns="0" rIns="0" bIns="0" rtlCol="0" anchor="t"/>
          <a:lstStyle/>
          <a:p>
            <a:pPr algn="ctr" indent="0" marL="0">
              <a:buNone/>
            </a:pPr>
            <a:r>
              <a:rPr lang="en-US" sz="1600" b="1" dirty="0">
                <a:solidFill>
                  <a:schemeClr val="bg1"/>
                </a:solidFill>
              </a:rPr>
              <a:t>Sensor</a:t>
            </a:r>
            <a:endParaRPr lang="en-US" sz="1600" dirty="0"/>
          </a:p>
        </p:txBody>
      </p:sp>
      <p:sp>
        <p:nvSpPr>
          <p:cNvPr id="6" name="Sensor view arrow"/>
          <p:cNvSpPr/>
          <p:nvPr/>
        </p:nvSpPr>
        <p:spPr>
          <a:xfrm>
            <a:off x="1897380" y="2148840"/>
            <a:ext cx="228600" cy="365760"/>
          </a:xfrm>
          <a:prstGeom prst="chevron">
            <a:avLst/>
          </a:prstGeom>
          <a:solidFill>
            <a:schemeClr val="accent2"/>
          </a:solidFill>
          <a:ln/>
        </p:spPr>
      </p:sp>
      <p:sp>
        <p:nvSpPr>
          <p:cNvPr id="7" name="Frame boot01"/>
          <p:cNvSpPr/>
          <p:nvPr/>
        </p:nvSpPr>
        <p:spPr>
          <a:xfrm>
            <a:off x="2286000" y="1417320"/>
            <a:ext cx="2156384" cy="1828800"/>
          </a:xfrm>
          <a:prstGeom prst="roundRect">
            <a:avLst>
              <a:gd name="adj" fmla="val 6000"/>
            </a:avLst>
          </a:prstGeom>
          <a:solidFill>
            <a:schemeClr val="bg1"/>
          </a:solidFill>
          <a:ln w="12700">
            <a:solidFill>
              <a:schemeClr val="accent6"/>
            </a:solidFill>
            <a:prstDash val="solid"/>
          </a:ln>
        </p:spPr>
      </p:sp>
      <p:sp>
        <p:nvSpPr>
          <p:cNvPr id="8" name="Frame boot01 crosshair horizontal"/>
          <p:cNvSpPr/>
          <p:nvPr/>
        </p:nvSpPr>
        <p:spPr>
          <a:xfrm>
            <a:off x="2514600" y="2331720"/>
            <a:ext cx="1699184" cy="0"/>
          </a:xfrm>
          <a:prstGeom prst="line">
            <a:avLst/>
          </a:prstGeom>
          <a:noFill/>
          <a:ln w="12700">
            <a:solidFill>
              <a:schemeClr val="accent6"/>
            </a:solidFill>
            <a:prstDash val="solid"/>
          </a:ln>
        </p:spPr>
      </p:sp>
      <p:sp>
        <p:nvSpPr>
          <p:cNvPr id="9" name="Frame boot01 crosshair vertical"/>
          <p:cNvSpPr/>
          <p:nvPr/>
        </p:nvSpPr>
        <p:spPr>
          <a:xfrm>
            <a:off x="3364192" y="1645920"/>
            <a:ext cx="0" cy="1371600"/>
          </a:xfrm>
          <a:prstGeom prst="line">
            <a:avLst/>
          </a:prstGeom>
          <a:noFill/>
          <a:ln w="12700">
            <a:solidFill>
              <a:schemeClr val="accent6"/>
            </a:solidFill>
            <a:prstDash val="solid"/>
          </a:ln>
        </p:spPr>
      </p:sp>
      <p:sp>
        <p:nvSpPr>
          <p:cNvPr id="10" name="Circle boot01"/>
          <p:cNvSpPr txBox="1"/>
          <p:nvPr/>
        </p:nvSpPr>
        <p:spPr>
          <a:xfrm>
            <a:off x="2929852" y="1897380"/>
            <a:ext cx="868680" cy="868680"/>
          </a:xfrm>
          <a:prstGeom prst="ellipse">
            <a:avLst/>
          </a:prstGeom>
          <a:solidFill>
            <a:schemeClr val="accent1"/>
          </a:solidFill>
          <a:ln/>
        </p:spPr>
        <p:txBody>
          <a:bodyPr wrap="none" lIns="0" tIns="0" rIns="0" bIns="0" rtlCol="0" anchor="ctr"/>
          <a:lstStyle/>
          <a:p>
            <a:pPr algn="ctr" indent="0" marL="0">
              <a:buNone/>
            </a:pPr>
            <a:r>
              <a:rPr lang="en-US" sz="1200" b="1" dirty="0">
                <a:solidFill>
                  <a:schemeClr val="bg1"/>
                </a:solidFill>
              </a:rPr>
              <a:t>boot01</a:t>
            </a:r>
            <a:endParaRPr lang="en-US" sz="1200" dirty="0"/>
          </a:p>
        </p:txBody>
      </p:sp>
      <p:sp>
        <p:nvSpPr>
          <p:cNvPr id="11" name="Text boot01"/>
          <p:cNvSpPr txBox="1"/>
          <p:nvPr/>
        </p:nvSpPr>
        <p:spPr>
          <a:xfrm>
            <a:off x="2286000" y="3429000"/>
            <a:ext cx="2156384" cy="548640"/>
          </a:xfrm>
          <a:prstGeom prst="rect">
            <a:avLst/>
          </a:prstGeom>
          <a:noFill/>
          <a:ln/>
        </p:spPr>
        <p:txBody>
          <a:bodyPr wrap="square" lIns="0" tIns="0" rIns="0" bIns="0" rtlCol="0" anchor="t"/>
          <a:lstStyle/>
          <a:p>
            <a:pPr algn="l" indent="0" marL="0">
              <a:buNone/>
            </a:pPr>
            <a:r>
              <a:rPr lang="en-US" sz="1400" dirty="0">
                <a:solidFill>
                  <a:schemeClr val="tx1"/>
                </a:solidFill>
              </a:rPr>
              <a:t>About 500 mm in front, near the image center</a:t>
            </a:r>
            <a:endParaRPr lang="en-US" sz="1400" dirty="0"/>
          </a:p>
        </p:txBody>
      </p:sp>
      <p:sp>
        <p:nvSpPr>
          <p:cNvPr id="12" name="Frame boot02"/>
          <p:cNvSpPr/>
          <p:nvPr/>
        </p:nvSpPr>
        <p:spPr>
          <a:xfrm>
            <a:off x="4716704" y="1417320"/>
            <a:ext cx="2156384" cy="1828800"/>
          </a:xfrm>
          <a:prstGeom prst="roundRect">
            <a:avLst>
              <a:gd name="adj" fmla="val 6000"/>
            </a:avLst>
          </a:prstGeom>
          <a:solidFill>
            <a:schemeClr val="bg1"/>
          </a:solidFill>
          <a:ln w="12700">
            <a:solidFill>
              <a:schemeClr val="accent6"/>
            </a:solidFill>
            <a:prstDash val="solid"/>
          </a:ln>
        </p:spPr>
      </p:sp>
      <p:sp>
        <p:nvSpPr>
          <p:cNvPr id="13" name="Frame boot02 crosshair horizontal"/>
          <p:cNvSpPr/>
          <p:nvPr/>
        </p:nvSpPr>
        <p:spPr>
          <a:xfrm>
            <a:off x="4945304" y="2331720"/>
            <a:ext cx="1699184" cy="0"/>
          </a:xfrm>
          <a:prstGeom prst="line">
            <a:avLst/>
          </a:prstGeom>
          <a:noFill/>
          <a:ln w="12700">
            <a:solidFill>
              <a:schemeClr val="accent6"/>
            </a:solidFill>
            <a:prstDash val="solid"/>
          </a:ln>
        </p:spPr>
      </p:sp>
      <p:sp>
        <p:nvSpPr>
          <p:cNvPr id="14" name="Frame boot02 crosshair vertical"/>
          <p:cNvSpPr/>
          <p:nvPr/>
        </p:nvSpPr>
        <p:spPr>
          <a:xfrm>
            <a:off x="5794896" y="1645920"/>
            <a:ext cx="0" cy="1371600"/>
          </a:xfrm>
          <a:prstGeom prst="line">
            <a:avLst/>
          </a:prstGeom>
          <a:noFill/>
          <a:ln w="12700">
            <a:solidFill>
              <a:schemeClr val="accent6"/>
            </a:solidFill>
            <a:prstDash val="solid"/>
          </a:ln>
        </p:spPr>
      </p:sp>
      <p:sp>
        <p:nvSpPr>
          <p:cNvPr id="15" name="Circle boot02"/>
          <p:cNvSpPr txBox="1"/>
          <p:nvPr/>
        </p:nvSpPr>
        <p:spPr>
          <a:xfrm>
            <a:off x="4811916" y="1897380"/>
            <a:ext cx="868680" cy="868680"/>
          </a:xfrm>
          <a:prstGeom prst="ellipse">
            <a:avLst/>
          </a:prstGeom>
          <a:solidFill>
            <a:schemeClr val="accent1"/>
          </a:solidFill>
          <a:ln/>
        </p:spPr>
        <p:txBody>
          <a:bodyPr wrap="none" lIns="0" tIns="0" rIns="0" bIns="0" rtlCol="0" anchor="ctr"/>
          <a:lstStyle/>
          <a:p>
            <a:pPr algn="ctr" indent="0" marL="0">
              <a:buNone/>
            </a:pPr>
            <a:r>
              <a:rPr lang="en-US" sz="1200" b="1" dirty="0">
                <a:solidFill>
                  <a:schemeClr val="bg1"/>
                </a:solidFill>
              </a:rPr>
              <a:t>boot02</a:t>
            </a:r>
            <a:endParaRPr lang="en-US" sz="1200" dirty="0"/>
          </a:p>
        </p:txBody>
      </p:sp>
      <p:sp>
        <p:nvSpPr>
          <p:cNvPr id="16" name="Text boot02"/>
          <p:cNvSpPr txBox="1"/>
          <p:nvPr/>
        </p:nvSpPr>
        <p:spPr>
          <a:xfrm>
            <a:off x="4716704" y="3429000"/>
            <a:ext cx="2156384" cy="548640"/>
          </a:xfrm>
          <a:prstGeom prst="rect">
            <a:avLst/>
          </a:prstGeom>
          <a:noFill/>
          <a:ln/>
        </p:spPr>
        <p:txBody>
          <a:bodyPr wrap="square" lIns="0" tIns="0" rIns="0" bIns="0" rtlCol="0" anchor="t"/>
          <a:lstStyle/>
          <a:p>
            <a:pPr algn="l" indent="0" marL="0">
              <a:buNone/>
            </a:pPr>
            <a:r>
              <a:rPr lang="en-US" sz="1400" dirty="0">
                <a:solidFill>
                  <a:schemeClr val="tx1"/>
                </a:solidFill>
              </a:rPr>
              <a:t>About 150 mm to the left</a:t>
            </a:r>
            <a:endParaRPr lang="en-US" sz="1400" dirty="0"/>
          </a:p>
        </p:txBody>
      </p:sp>
      <p:sp>
        <p:nvSpPr>
          <p:cNvPr id="17" name="Frame boot03"/>
          <p:cNvSpPr/>
          <p:nvPr/>
        </p:nvSpPr>
        <p:spPr>
          <a:xfrm>
            <a:off x="7147408" y="1417320"/>
            <a:ext cx="2156384" cy="1828800"/>
          </a:xfrm>
          <a:prstGeom prst="roundRect">
            <a:avLst>
              <a:gd name="adj" fmla="val 6000"/>
            </a:avLst>
          </a:prstGeom>
          <a:solidFill>
            <a:schemeClr val="bg1"/>
          </a:solidFill>
          <a:ln w="12700">
            <a:solidFill>
              <a:schemeClr val="accent6"/>
            </a:solidFill>
            <a:prstDash val="solid"/>
          </a:ln>
        </p:spPr>
      </p:sp>
      <p:sp>
        <p:nvSpPr>
          <p:cNvPr id="18" name="Frame boot03 crosshair horizontal"/>
          <p:cNvSpPr/>
          <p:nvPr/>
        </p:nvSpPr>
        <p:spPr>
          <a:xfrm>
            <a:off x="7376008" y="2331720"/>
            <a:ext cx="1699184" cy="0"/>
          </a:xfrm>
          <a:prstGeom prst="line">
            <a:avLst/>
          </a:prstGeom>
          <a:noFill/>
          <a:ln w="12700">
            <a:solidFill>
              <a:schemeClr val="accent6"/>
            </a:solidFill>
            <a:prstDash val="solid"/>
          </a:ln>
        </p:spPr>
      </p:sp>
      <p:sp>
        <p:nvSpPr>
          <p:cNvPr id="19" name="Frame boot03 crosshair vertical"/>
          <p:cNvSpPr/>
          <p:nvPr/>
        </p:nvSpPr>
        <p:spPr>
          <a:xfrm>
            <a:off x="8225600" y="1645920"/>
            <a:ext cx="0" cy="1371600"/>
          </a:xfrm>
          <a:prstGeom prst="line">
            <a:avLst/>
          </a:prstGeom>
          <a:noFill/>
          <a:ln w="12700">
            <a:solidFill>
              <a:schemeClr val="accent6"/>
            </a:solidFill>
            <a:prstDash val="solid"/>
          </a:ln>
        </p:spPr>
      </p:sp>
      <p:sp>
        <p:nvSpPr>
          <p:cNvPr id="20" name="Circle boot03"/>
          <p:cNvSpPr txBox="1"/>
          <p:nvPr/>
        </p:nvSpPr>
        <p:spPr>
          <a:xfrm>
            <a:off x="7791260" y="1577340"/>
            <a:ext cx="868680" cy="868680"/>
          </a:xfrm>
          <a:prstGeom prst="ellipse">
            <a:avLst/>
          </a:prstGeom>
          <a:solidFill>
            <a:schemeClr val="accent1"/>
          </a:solidFill>
          <a:ln/>
        </p:spPr>
        <p:txBody>
          <a:bodyPr wrap="none" lIns="0" tIns="0" rIns="0" bIns="0" rtlCol="0" anchor="ctr"/>
          <a:lstStyle/>
          <a:p>
            <a:pPr algn="ctr" indent="0" marL="0">
              <a:buNone/>
            </a:pPr>
            <a:r>
              <a:rPr lang="en-US" sz="1200" b="1" dirty="0">
                <a:solidFill>
                  <a:schemeClr val="bg1"/>
                </a:solidFill>
              </a:rPr>
              <a:t>boot03</a:t>
            </a:r>
            <a:endParaRPr lang="en-US" sz="1200" dirty="0"/>
          </a:p>
        </p:txBody>
      </p:sp>
      <p:sp>
        <p:nvSpPr>
          <p:cNvPr id="21" name="Text boot03"/>
          <p:cNvSpPr txBox="1"/>
          <p:nvPr/>
        </p:nvSpPr>
        <p:spPr>
          <a:xfrm>
            <a:off x="7147408" y="3429000"/>
            <a:ext cx="2156384" cy="548640"/>
          </a:xfrm>
          <a:prstGeom prst="rect">
            <a:avLst/>
          </a:prstGeom>
          <a:noFill/>
          <a:ln/>
        </p:spPr>
        <p:txBody>
          <a:bodyPr wrap="square" lIns="0" tIns="0" rIns="0" bIns="0" rtlCol="0" anchor="t"/>
          <a:lstStyle/>
          <a:p>
            <a:pPr algn="l" indent="0" marL="0">
              <a:buNone/>
            </a:pPr>
            <a:r>
              <a:rPr lang="en-US" sz="1400" dirty="0">
                <a:solidFill>
                  <a:schemeClr val="tx1"/>
                </a:solidFill>
              </a:rPr>
              <a:t>About 150 mm up</a:t>
            </a:r>
            <a:endParaRPr lang="en-US" sz="1400" dirty="0"/>
          </a:p>
        </p:txBody>
      </p:sp>
      <p:sp>
        <p:nvSpPr>
          <p:cNvPr id="22" name="Frame boot04"/>
          <p:cNvSpPr/>
          <p:nvPr/>
        </p:nvSpPr>
        <p:spPr>
          <a:xfrm>
            <a:off x="9578111" y="1417320"/>
            <a:ext cx="2156384" cy="1828800"/>
          </a:xfrm>
          <a:prstGeom prst="roundRect">
            <a:avLst>
              <a:gd name="adj" fmla="val 6000"/>
            </a:avLst>
          </a:prstGeom>
          <a:solidFill>
            <a:schemeClr val="bg1"/>
          </a:solidFill>
          <a:ln w="12700">
            <a:solidFill>
              <a:schemeClr val="accent6"/>
            </a:solidFill>
            <a:prstDash val="solid"/>
          </a:ln>
        </p:spPr>
      </p:sp>
      <p:sp>
        <p:nvSpPr>
          <p:cNvPr id="23" name="Frame boot04 crosshair horizontal"/>
          <p:cNvSpPr/>
          <p:nvPr/>
        </p:nvSpPr>
        <p:spPr>
          <a:xfrm>
            <a:off x="9806711" y="2331720"/>
            <a:ext cx="1699184" cy="0"/>
          </a:xfrm>
          <a:prstGeom prst="line">
            <a:avLst/>
          </a:prstGeom>
          <a:noFill/>
          <a:ln w="12700">
            <a:solidFill>
              <a:schemeClr val="accent6"/>
            </a:solidFill>
            <a:prstDash val="solid"/>
          </a:ln>
        </p:spPr>
      </p:sp>
      <p:sp>
        <p:nvSpPr>
          <p:cNvPr id="24" name="Frame boot04 crosshair vertical"/>
          <p:cNvSpPr/>
          <p:nvPr/>
        </p:nvSpPr>
        <p:spPr>
          <a:xfrm>
            <a:off x="10656303" y="1645920"/>
            <a:ext cx="0" cy="1371600"/>
          </a:xfrm>
          <a:prstGeom prst="line">
            <a:avLst/>
          </a:prstGeom>
          <a:noFill/>
          <a:ln w="12700">
            <a:solidFill>
              <a:schemeClr val="accent6"/>
            </a:solidFill>
            <a:prstDash val="solid"/>
          </a:ln>
        </p:spPr>
      </p:sp>
      <p:sp>
        <p:nvSpPr>
          <p:cNvPr id="25" name="Circle boot04"/>
          <p:cNvSpPr txBox="1"/>
          <p:nvPr/>
        </p:nvSpPr>
        <p:spPr>
          <a:xfrm>
            <a:off x="10336263" y="2011680"/>
            <a:ext cx="640080" cy="640080"/>
          </a:xfrm>
          <a:prstGeom prst="ellipse">
            <a:avLst/>
          </a:prstGeom>
          <a:solidFill>
            <a:schemeClr val="accent1"/>
          </a:solidFill>
          <a:ln/>
        </p:spPr>
        <p:txBody>
          <a:bodyPr wrap="none" lIns="0" tIns="0" rIns="0" bIns="0" rtlCol="0" anchor="ctr"/>
          <a:lstStyle/>
          <a:p>
            <a:pPr algn="ctr" indent="0" marL="0">
              <a:buNone/>
            </a:pPr>
            <a:r>
              <a:rPr lang="en-US" sz="1200" b="1" dirty="0">
                <a:solidFill>
                  <a:schemeClr val="bg1"/>
                </a:solidFill>
              </a:rPr>
              <a:t>boot04</a:t>
            </a:r>
            <a:endParaRPr lang="en-US" sz="1200" dirty="0"/>
          </a:p>
        </p:txBody>
      </p:sp>
      <p:sp>
        <p:nvSpPr>
          <p:cNvPr id="26" name="Text boot04"/>
          <p:cNvSpPr txBox="1"/>
          <p:nvPr/>
        </p:nvSpPr>
        <p:spPr>
          <a:xfrm>
            <a:off x="9578111" y="3429000"/>
            <a:ext cx="2156384" cy="548640"/>
          </a:xfrm>
          <a:prstGeom prst="rect">
            <a:avLst/>
          </a:prstGeom>
          <a:noFill/>
          <a:ln/>
        </p:spPr>
        <p:txBody>
          <a:bodyPr wrap="square" lIns="0" tIns="0" rIns="0" bIns="0" rtlCol="0" anchor="t"/>
          <a:lstStyle/>
          <a:p>
            <a:pPr algn="l" indent="0" marL="0">
              <a:buNone/>
            </a:pPr>
            <a:r>
              <a:rPr lang="en-US" sz="1400" dirty="0">
                <a:solidFill>
                  <a:schemeClr val="tx1"/>
                </a:solidFill>
              </a:rPr>
              <a:t>About 250 mm farther away</a:t>
            </a:r>
            <a:endParaRPr lang="en-US" sz="1400" dirty="0"/>
          </a:p>
        </p:txBody>
      </p:sp>
      <p:sp>
        <p:nvSpPr>
          <p:cNvPr id="27" name="Points card"/>
          <p:cNvSpPr/>
          <p:nvPr/>
        </p:nvSpPr>
        <p:spPr>
          <a:xfrm>
            <a:off x="457200" y="4251960"/>
            <a:ext cx="11277295" cy="1874520"/>
          </a:xfrm>
          <a:prstGeom prst="roundRect">
            <a:avLst>
              <a:gd name="adj" fmla="val 5854"/>
            </a:avLst>
          </a:prstGeom>
          <a:solidFill>
            <a:schemeClr val="bg2"/>
          </a:solidFill>
          <a:ln/>
        </p:spPr>
      </p:sp>
      <p:sp>
        <p:nvSpPr>
          <p:cNvPr id="28" name="Bootstrap points"/>
          <p:cNvSpPr txBox="1"/>
          <p:nvPr/>
        </p:nvSpPr>
        <p:spPr>
          <a:xfrm>
            <a:off x="685800" y="4480560"/>
            <a:ext cx="10820095" cy="1417320"/>
          </a:xfrm>
          <a:prstGeom prst="rect">
            <a:avLst/>
          </a:prstGeom>
          <a:noFill/>
          <a:ln/>
        </p:spPr>
        <p:txBody>
          <a:bodyPr wrap="square" lIns="0" tIns="0" rIns="0" bIns="0" rtlCol="0" anchor="ctr"/>
          <a:lstStyle/>
          <a:p>
            <a:pPr algn="l" marL="177800" indent="-177800">
              <a:spcAft>
                <a:spcPts val="600"/>
              </a:spcAft>
              <a:buSzPct val="100000"/>
              <a:buChar char="•"/>
            </a:pPr>
            <a:r>
              <a:rPr lang="en-US" sz="1800" dirty="0">
                <a:solidFill>
                  <a:schemeClr val="tx1"/>
                </a:solidFill>
              </a:rPr>
              <a:t>Record the robot's reported TCP position for each</a:t>
            </a:r>
            <a:endParaRPr lang="en-US" sz="1800" dirty="0"/>
          </a:p>
          <a:p>
            <a:pPr algn="l" marL="177800" indent="-177800">
              <a:spcAft>
                <a:spcPts val="600"/>
              </a:spcAft>
              <a:buSzPct val="100000"/>
              <a:buChar char="•"/>
            </a:pPr>
            <a:r>
              <a:rPr lang="en-US" sz="1800" dirty="0">
                <a:solidFill>
                  <a:schemeClr val="tx1"/>
                </a:solidFill>
              </a:rPr>
              <a:t>The check tool fits the sphere centers; the plan tool fits the sensor position</a:t>
            </a:r>
            <a:endParaRPr lang="en-US" sz="1800" dirty="0"/>
          </a:p>
          <a:p>
            <a:pPr algn="l" marL="177800" indent="-177800">
              <a:spcAft>
                <a:spcPts val="600"/>
              </a:spcAft>
              <a:buSzPct val="100000"/>
              <a:buChar char="•"/>
            </a:pPr>
            <a:r>
              <a:rPr lang="en-US" sz="1800" dirty="0">
                <a:solidFill>
                  <a:schemeClr val="tx1"/>
                </a:solidFill>
              </a:rPr>
              <a:t>Residuals of a few millimeters are fine; tens of millimeters mean a copying error or a wrong TCP</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The plan spreads 186 poses through the volume</a:t>
            </a:r>
            <a:endParaRPr lang="en-US" sz="3400" dirty="0"/>
          </a:p>
        </p:txBody>
      </p:sp>
      <p:pic>
        <p:nvPicPr>
          <p:cNvPr id="3" name="Planned poses: side view and front view" descr="Planned poses: side view and front view">    </p:cNvPr>
          <p:cNvPicPr>
            <a:picLocks noChangeAspect="1"/>
          </p:cNvPicPr>
          <p:nvPr/>
        </p:nvPicPr>
        <p:blipFill>
          <a:blip r:embed="rId1"/>
          <a:stretch>
            <a:fillRect/>
          </a:stretch>
        </p:blipFill>
        <p:spPr>
          <a:xfrm>
            <a:off x="457200" y="1417320"/>
            <a:ext cx="8476906" cy="4251960"/>
          </a:xfrm>
          <a:prstGeom prst="rect">
            <a:avLst/>
          </a:prstGeom>
        </p:spPr>
      </p:pic>
      <p:sp>
        <p:nvSpPr>
          <p:cNvPr id="4" name="Planned poses: side view and front view frame"/>
          <p:cNvSpPr/>
          <p:nvPr/>
        </p:nvSpPr>
        <p:spPr>
          <a:xfrm>
            <a:off x="457200" y="1417320"/>
            <a:ext cx="8476906" cy="4251960"/>
          </a:xfrm>
          <a:prstGeom prst="rect">
            <a:avLst/>
          </a:prstGeom>
          <a:ln w="12700">
            <a:solidFill>
              <a:schemeClr val="accent6"/>
            </a:solidFill>
            <a:prstDash val="solid"/>
          </a:ln>
        </p:spPr>
      </p:sp>
      <p:sp>
        <p:nvSpPr>
          <p:cNvPr id="5" name="Figure caption"/>
          <p:cNvSpPr txBox="1"/>
          <p:nvPr/>
        </p:nvSpPr>
        <p:spPr>
          <a:xfrm>
            <a:off x="457200" y="5852160"/>
            <a:ext cx="8476906" cy="274320"/>
          </a:xfrm>
          <a:prstGeom prst="rect">
            <a:avLst/>
          </a:prstGeom>
          <a:noFill/>
          <a:ln/>
        </p:spPr>
        <p:txBody>
          <a:bodyPr wrap="square" lIns="0" tIns="0" rIns="0" bIns="0" rtlCol="0" anchor="t"/>
          <a:lstStyle/>
          <a:p>
            <a:pPr algn="l" indent="0" marL="0">
              <a:buNone/>
            </a:pPr>
            <a:r>
              <a:rPr lang="en-US" sz="1200" dirty="0">
                <a:solidFill>
                  <a:schemeClr val="accent5"/>
                </a:solidFill>
              </a:rPr>
              <a:t>About 20 percent of poses are held out to test the fit; they are captured like all the others.</a:t>
            </a:r>
            <a:endParaRPr lang="en-US" sz="1200" dirty="0"/>
          </a:p>
        </p:txBody>
      </p:sp>
      <p:sp>
        <p:nvSpPr>
          <p:cNvPr id="6" name="Stat 1 card"/>
          <p:cNvSpPr/>
          <p:nvPr/>
        </p:nvSpPr>
        <p:spPr>
          <a:xfrm>
            <a:off x="9208426" y="1417320"/>
            <a:ext cx="2526069" cy="1386840"/>
          </a:xfrm>
          <a:prstGeom prst="roundRect">
            <a:avLst>
              <a:gd name="adj" fmla="val 7912"/>
            </a:avLst>
          </a:prstGeom>
          <a:solidFill>
            <a:schemeClr val="bg2"/>
          </a:solidFill>
          <a:ln/>
        </p:spPr>
      </p:sp>
      <p:sp>
        <p:nvSpPr>
          <p:cNvPr id="7" name="Stat 1 value"/>
          <p:cNvSpPr txBox="1"/>
          <p:nvPr/>
        </p:nvSpPr>
        <p:spPr>
          <a:xfrm>
            <a:off x="9391306" y="1595628"/>
            <a:ext cx="2160309" cy="548640"/>
          </a:xfrm>
          <a:prstGeom prst="rect">
            <a:avLst/>
          </a:prstGeom>
          <a:noFill/>
          <a:ln/>
        </p:spPr>
        <p:txBody>
          <a:bodyPr wrap="square" lIns="0" tIns="0" rIns="0" bIns="0" rtlCol="0" anchor="ctr"/>
          <a:lstStyle/>
          <a:p>
            <a:pPr algn="l" indent="0" marL="0">
              <a:buNone/>
            </a:pPr>
            <a:r>
              <a:rPr lang="en-US" sz="3600" b="1" dirty="0">
                <a:solidFill>
                  <a:schemeClr val="accent1"/>
                </a:solidFill>
                <a:latin typeface="+mj-lt" pitchFamily="34" charset="0"/>
                <a:ea typeface="+mj-lt" pitchFamily="34" charset="-122"/>
                <a:cs typeface="+mj-lt" pitchFamily="34" charset="-120"/>
              </a:rPr>
              <a:t>90</a:t>
            </a:r>
            <a:endParaRPr lang="en-US" sz="3600" dirty="0"/>
          </a:p>
        </p:txBody>
      </p:sp>
      <p:sp>
        <p:nvSpPr>
          <p:cNvPr id="8" name="Stat 1 label"/>
          <p:cNvSpPr txBox="1"/>
          <p:nvPr/>
        </p:nvSpPr>
        <p:spPr>
          <a:xfrm>
            <a:off x="9391306" y="2144268"/>
            <a:ext cx="2160309" cy="481584"/>
          </a:xfrm>
          <a:prstGeom prst="rect">
            <a:avLst/>
          </a:prstGeom>
          <a:noFill/>
          <a:ln/>
        </p:spPr>
        <p:txBody>
          <a:bodyPr wrap="square" lIns="0" tIns="0" rIns="0" bIns="0" rtlCol="0" anchor="t"/>
          <a:lstStyle/>
          <a:p>
            <a:pPr algn="l" indent="0" marL="0">
              <a:buNone/>
            </a:pPr>
            <a:r>
              <a:rPr lang="en-US" sz="1400" dirty="0">
                <a:solidFill>
                  <a:schemeClr val="tx1"/>
                </a:solidFill>
              </a:rPr>
              <a:t>sphere A poses at 300, 425 and 550 mm</a:t>
            </a:r>
            <a:endParaRPr lang="en-US" sz="1400" dirty="0"/>
          </a:p>
        </p:txBody>
      </p:sp>
      <p:sp>
        <p:nvSpPr>
          <p:cNvPr id="9" name="Stat 2 card"/>
          <p:cNvSpPr/>
          <p:nvPr/>
        </p:nvSpPr>
        <p:spPr>
          <a:xfrm>
            <a:off x="9208426" y="3078480"/>
            <a:ext cx="2526069" cy="1386840"/>
          </a:xfrm>
          <a:prstGeom prst="roundRect">
            <a:avLst>
              <a:gd name="adj" fmla="val 7912"/>
            </a:avLst>
          </a:prstGeom>
          <a:solidFill>
            <a:schemeClr val="bg2"/>
          </a:solidFill>
          <a:ln/>
        </p:spPr>
      </p:sp>
      <p:sp>
        <p:nvSpPr>
          <p:cNvPr id="10" name="Stat 2 value"/>
          <p:cNvSpPr txBox="1"/>
          <p:nvPr/>
        </p:nvSpPr>
        <p:spPr>
          <a:xfrm>
            <a:off x="9391306" y="3256788"/>
            <a:ext cx="2160309" cy="548640"/>
          </a:xfrm>
          <a:prstGeom prst="rect">
            <a:avLst/>
          </a:prstGeom>
          <a:noFill/>
          <a:ln/>
        </p:spPr>
        <p:txBody>
          <a:bodyPr wrap="square" lIns="0" tIns="0" rIns="0" bIns="0" rtlCol="0" anchor="ctr"/>
          <a:lstStyle/>
          <a:p>
            <a:pPr algn="l" indent="0" marL="0">
              <a:buNone/>
            </a:pPr>
            <a:r>
              <a:rPr lang="en-US" sz="3600" b="1" dirty="0">
                <a:solidFill>
                  <a:schemeClr val="accent1"/>
                </a:solidFill>
                <a:latin typeface="+mj-lt" pitchFamily="34" charset="0"/>
                <a:ea typeface="+mj-lt" pitchFamily="34" charset="-122"/>
                <a:cs typeface="+mj-lt" pitchFamily="34" charset="-120"/>
              </a:rPr>
              <a:t>57</a:t>
            </a:r>
            <a:endParaRPr lang="en-US" sz="3600" dirty="0"/>
          </a:p>
        </p:txBody>
      </p:sp>
      <p:sp>
        <p:nvSpPr>
          <p:cNvPr id="11" name="Stat 2 label"/>
          <p:cNvSpPr txBox="1"/>
          <p:nvPr/>
        </p:nvSpPr>
        <p:spPr>
          <a:xfrm>
            <a:off x="9391306" y="3805428"/>
            <a:ext cx="2160309" cy="481584"/>
          </a:xfrm>
          <a:prstGeom prst="rect">
            <a:avLst/>
          </a:prstGeom>
          <a:noFill/>
          <a:ln/>
        </p:spPr>
        <p:txBody>
          <a:bodyPr wrap="square" lIns="0" tIns="0" rIns="0" bIns="0" rtlCol="0" anchor="t"/>
          <a:lstStyle/>
          <a:p>
            <a:pPr algn="l" indent="0" marL="0">
              <a:buNone/>
            </a:pPr>
            <a:r>
              <a:rPr lang="en-US" sz="1400" dirty="0">
                <a:solidFill>
                  <a:schemeClr val="tx1"/>
                </a:solidFill>
              </a:rPr>
              <a:t>sphere B poses from 500 to 1,100 mm</a:t>
            </a:r>
            <a:endParaRPr lang="en-US" sz="1400" dirty="0"/>
          </a:p>
        </p:txBody>
      </p:sp>
      <p:sp>
        <p:nvSpPr>
          <p:cNvPr id="12" name="Stat 3 card"/>
          <p:cNvSpPr/>
          <p:nvPr/>
        </p:nvSpPr>
        <p:spPr>
          <a:xfrm>
            <a:off x="9208426" y="4739640"/>
            <a:ext cx="2526069" cy="1386840"/>
          </a:xfrm>
          <a:prstGeom prst="roundRect">
            <a:avLst>
              <a:gd name="adj" fmla="val 7912"/>
            </a:avLst>
          </a:prstGeom>
          <a:solidFill>
            <a:schemeClr val="bg2"/>
          </a:solidFill>
          <a:ln/>
        </p:spPr>
      </p:sp>
      <p:sp>
        <p:nvSpPr>
          <p:cNvPr id="13" name="Stat 3 value"/>
          <p:cNvSpPr txBox="1"/>
          <p:nvPr/>
        </p:nvSpPr>
        <p:spPr>
          <a:xfrm>
            <a:off x="9391306" y="4811268"/>
            <a:ext cx="2160309" cy="548640"/>
          </a:xfrm>
          <a:prstGeom prst="rect">
            <a:avLst/>
          </a:prstGeom>
          <a:noFill/>
          <a:ln/>
        </p:spPr>
        <p:txBody>
          <a:bodyPr wrap="square" lIns="0" tIns="0" rIns="0" bIns="0" rtlCol="0" anchor="ctr"/>
          <a:lstStyle/>
          <a:p>
            <a:pPr algn="l" indent="0" marL="0">
              <a:buNone/>
            </a:pPr>
            <a:r>
              <a:rPr lang="en-US" sz="3600" b="1" dirty="0">
                <a:solidFill>
                  <a:schemeClr val="accent1"/>
                </a:solidFill>
                <a:latin typeface="+mj-lt" pitchFamily="34" charset="0"/>
                <a:ea typeface="+mj-lt" pitchFamily="34" charset="-122"/>
                <a:cs typeface="+mj-lt" pitchFamily="34" charset="-120"/>
              </a:rPr>
              <a:t>39</a:t>
            </a:r>
            <a:endParaRPr lang="en-US" sz="3600" dirty="0"/>
          </a:p>
        </p:txBody>
      </p:sp>
      <p:sp>
        <p:nvSpPr>
          <p:cNvPr id="14" name="Stat 3 label"/>
          <p:cNvSpPr txBox="1"/>
          <p:nvPr/>
        </p:nvSpPr>
        <p:spPr>
          <a:xfrm>
            <a:off x="9391306" y="5359908"/>
            <a:ext cx="2160309" cy="694944"/>
          </a:xfrm>
          <a:prstGeom prst="rect">
            <a:avLst/>
          </a:prstGeom>
          <a:noFill/>
          <a:ln/>
        </p:spPr>
        <p:txBody>
          <a:bodyPr wrap="square" lIns="0" tIns="0" rIns="0" bIns="0" rtlCol="0" anchor="t"/>
          <a:lstStyle/>
          <a:p>
            <a:pPr algn="l" indent="0" marL="0">
              <a:buNone/>
            </a:pPr>
            <a:r>
              <a:rPr lang="en-US" sz="1400" dirty="0">
                <a:solidFill>
                  <a:schemeClr val="tx1"/>
                </a:solidFill>
              </a:rPr>
              <a:t>board poses at 4 depths, tilted 0, 20 and 40 degrees</a:t>
            </a:r>
            <a:endParaRPr lang="en-US" sz="1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What the robot program must do</a:t>
            </a:r>
            <a:endParaRPr lang="en-US" sz="3400" dirty="0"/>
          </a:p>
        </p:txBody>
      </p:sp>
      <p:sp>
        <p:nvSpPr>
          <p:cNvPr id="3" name="Column 1 card"/>
          <p:cNvSpPr/>
          <p:nvPr/>
        </p:nvSpPr>
        <p:spPr>
          <a:xfrm>
            <a:off x="457200" y="1417320"/>
            <a:ext cx="3576218" cy="3520440"/>
          </a:xfrm>
          <a:prstGeom prst="roundRect">
            <a:avLst>
              <a:gd name="adj" fmla="val 3117"/>
            </a:avLst>
          </a:prstGeom>
          <a:solidFill>
            <a:schemeClr val="bg2"/>
          </a:solidFill>
          <a:ln/>
        </p:spPr>
      </p:sp>
      <p:sp>
        <p:nvSpPr>
          <p:cNvPr id="4" name="Column 1 icon circle"/>
          <p:cNvSpPr/>
          <p:nvPr/>
        </p:nvSpPr>
        <p:spPr>
          <a:xfrm>
            <a:off x="685800" y="1645920"/>
            <a:ext cx="640080" cy="640080"/>
          </a:xfrm>
          <a:prstGeom prst="ellipse">
            <a:avLst/>
          </a:prstGeom>
          <a:solidFill>
            <a:schemeClr val="accent2"/>
          </a:solidFill>
          <a:ln/>
        </p:spPr>
      </p:sp>
      <p:pic>
        <p:nvPicPr>
          <p:cNvPr id="5" name="Column 1 icon glyph" descr="input icon">    </p:cNvPr>
          <p:cNvPicPr>
            <a:picLocks noChangeAspect="1"/>
          </p:cNvPicPr>
          <p:nvPr/>
        </p:nvPicPr>
        <p:blipFill>
          <a:blip r:embed="rId1"/>
          <a:stretch>
            <a:fillRect/>
          </a:stretch>
        </p:blipFill>
        <p:spPr>
          <a:xfrm>
            <a:off x="845820" y="1805940"/>
            <a:ext cx="320040" cy="320040"/>
          </a:xfrm>
          <a:prstGeom prst="rect">
            <a:avLst/>
          </a:prstGeom>
        </p:spPr>
      </p:pic>
      <p:sp>
        <p:nvSpPr>
          <p:cNvPr id="6" name="Column 1 head"/>
          <p:cNvSpPr txBox="1"/>
          <p:nvPr/>
        </p:nvSpPr>
        <p:spPr>
          <a:xfrm>
            <a:off x="1508760" y="1645920"/>
            <a:ext cx="2296058" cy="640080"/>
          </a:xfrm>
          <a:prstGeom prst="rect">
            <a:avLst/>
          </a:prstGeom>
          <a:noFill/>
          <a:ln/>
        </p:spPr>
        <p:txBody>
          <a:bodyPr wrap="square" lIns="0" tIns="0" rIns="0" bIns="0" rtlCol="0" anchor="ctr"/>
          <a:lstStyle/>
          <a:p>
            <a:pPr algn="l" indent="0" marL="0">
              <a:buNone/>
            </a:pPr>
            <a:r>
              <a:rPr lang="en-US" sz="2000" b="1" dirty="0">
                <a:solidFill>
                  <a:schemeClr val="tx2"/>
                </a:solidFill>
                <a:latin typeface="+mj-lt" pitchFamily="34" charset="0"/>
                <a:ea typeface="+mj-lt" pitchFamily="34" charset="-122"/>
                <a:cs typeface="+mj-lt" pitchFamily="34" charset="-120"/>
              </a:rPr>
              <a:t>Inputs</a:t>
            </a:r>
            <a:endParaRPr lang="en-US" sz="2000" dirty="0"/>
          </a:p>
        </p:txBody>
      </p:sp>
      <p:sp>
        <p:nvSpPr>
          <p:cNvPr id="7" name="Column 1 points"/>
          <p:cNvSpPr txBox="1"/>
          <p:nvPr/>
        </p:nvSpPr>
        <p:spPr>
          <a:xfrm>
            <a:off x="685800" y="2468880"/>
            <a:ext cx="3119018" cy="2240280"/>
          </a:xfrm>
          <a:prstGeom prst="rect">
            <a:avLst/>
          </a:prstGeom>
          <a:noFill/>
          <a:ln/>
        </p:spPr>
        <p:txBody>
          <a:bodyPr wrap="square" lIns="0" tIns="0" rIns="0" bIns="0" rtlCol="0" anchor="t"/>
          <a:lstStyle/>
          <a:p>
            <a:pPr algn="l" marL="177800" indent="-177800">
              <a:spcAft>
                <a:spcPts val="600"/>
              </a:spcAft>
              <a:buSzPct val="100000"/>
              <a:buChar char="•"/>
            </a:pPr>
            <a:r>
              <a:rPr lang="en-US" sz="1600" dirty="0">
                <a:solidFill>
                  <a:schemeClr val="tx1"/>
                </a:solidFill>
              </a:rPr>
              <a:t>poses.csv from the plan tool: base-frame position and orientation of every pose, as a matrix, a quaternion and a rotation vector</a:t>
            </a:r>
            <a:endParaRPr lang="en-US" sz="1600" dirty="0"/>
          </a:p>
          <a:p>
            <a:pPr algn="l" marL="177800" indent="-177800">
              <a:spcAft>
                <a:spcPts val="600"/>
              </a:spcAft>
              <a:buSzPct val="100000"/>
              <a:buChar char="•"/>
            </a:pPr>
            <a:r>
              <a:rPr lang="en-US" sz="1600" dirty="0">
                <a:solidFill>
                  <a:schemeClr val="tx1"/>
                </a:solidFill>
              </a:rPr>
              <a:t>Three tool frames: TCP_SPHERE_A_76mm, TCP_SPHERE_B_152mm and TOOL_BOARD</a:t>
            </a:r>
            <a:endParaRPr lang="en-US" sz="1600" dirty="0"/>
          </a:p>
        </p:txBody>
      </p:sp>
      <p:sp>
        <p:nvSpPr>
          <p:cNvPr id="8" name="Column 2 card"/>
          <p:cNvSpPr/>
          <p:nvPr/>
        </p:nvSpPr>
        <p:spPr>
          <a:xfrm>
            <a:off x="4307738" y="1417320"/>
            <a:ext cx="3576218" cy="3520440"/>
          </a:xfrm>
          <a:prstGeom prst="roundRect">
            <a:avLst>
              <a:gd name="adj" fmla="val 3117"/>
            </a:avLst>
          </a:prstGeom>
          <a:solidFill>
            <a:schemeClr val="bg2"/>
          </a:solidFill>
          <a:ln/>
        </p:spPr>
      </p:sp>
      <p:sp>
        <p:nvSpPr>
          <p:cNvPr id="9" name="Column 2 icon circle"/>
          <p:cNvSpPr/>
          <p:nvPr/>
        </p:nvSpPr>
        <p:spPr>
          <a:xfrm>
            <a:off x="4536338" y="1645920"/>
            <a:ext cx="640080" cy="640080"/>
          </a:xfrm>
          <a:prstGeom prst="ellipse">
            <a:avLst/>
          </a:prstGeom>
          <a:solidFill>
            <a:schemeClr val="accent2"/>
          </a:solidFill>
          <a:ln/>
        </p:spPr>
      </p:sp>
      <p:pic>
        <p:nvPicPr>
          <p:cNvPr id="10" name="Column 2 icon glyph" descr="cogs icon">    </p:cNvPr>
          <p:cNvPicPr>
            <a:picLocks noChangeAspect="1"/>
          </p:cNvPicPr>
          <p:nvPr/>
        </p:nvPicPr>
        <p:blipFill>
          <a:blip r:embed="rId2"/>
          <a:stretch>
            <a:fillRect/>
          </a:stretch>
        </p:blipFill>
        <p:spPr>
          <a:xfrm>
            <a:off x="4696358" y="1805940"/>
            <a:ext cx="320040" cy="320040"/>
          </a:xfrm>
          <a:prstGeom prst="rect">
            <a:avLst/>
          </a:prstGeom>
        </p:spPr>
      </p:pic>
      <p:sp>
        <p:nvSpPr>
          <p:cNvPr id="11" name="Column 2 head"/>
          <p:cNvSpPr txBox="1"/>
          <p:nvPr/>
        </p:nvSpPr>
        <p:spPr>
          <a:xfrm>
            <a:off x="5359298" y="1645920"/>
            <a:ext cx="2296058" cy="640080"/>
          </a:xfrm>
          <a:prstGeom prst="rect">
            <a:avLst/>
          </a:prstGeom>
          <a:noFill/>
          <a:ln/>
        </p:spPr>
        <p:txBody>
          <a:bodyPr wrap="square" lIns="0" tIns="0" rIns="0" bIns="0" rtlCol="0" anchor="ctr"/>
          <a:lstStyle/>
          <a:p>
            <a:pPr algn="l" indent="0" marL="0">
              <a:buNone/>
            </a:pPr>
            <a:r>
              <a:rPr lang="en-US" sz="2000" b="1" dirty="0">
                <a:solidFill>
                  <a:schemeClr val="tx2"/>
                </a:solidFill>
                <a:latin typeface="+mj-lt" pitchFamily="34" charset="0"/>
                <a:ea typeface="+mj-lt" pitchFamily="34" charset="-122"/>
                <a:cs typeface="+mj-lt" pitchFamily="34" charset="-120"/>
              </a:rPr>
              <a:t>Behavior</a:t>
            </a:r>
            <a:endParaRPr lang="en-US" sz="2000" dirty="0"/>
          </a:p>
        </p:txBody>
      </p:sp>
      <p:sp>
        <p:nvSpPr>
          <p:cNvPr id="12" name="Column 2 points"/>
          <p:cNvSpPr txBox="1"/>
          <p:nvPr/>
        </p:nvSpPr>
        <p:spPr>
          <a:xfrm>
            <a:off x="4536338" y="2468880"/>
            <a:ext cx="3119018" cy="2240280"/>
          </a:xfrm>
          <a:prstGeom prst="rect">
            <a:avLst/>
          </a:prstGeom>
          <a:noFill/>
          <a:ln/>
        </p:spPr>
        <p:txBody>
          <a:bodyPr wrap="square" lIns="0" tIns="0" rIns="0" bIns="0" rtlCol="0" anchor="t"/>
          <a:lstStyle/>
          <a:p>
            <a:pPr algn="l" marL="177800" indent="-177800">
              <a:spcAft>
                <a:spcPts val="600"/>
              </a:spcAft>
              <a:buSzPct val="100000"/>
              <a:buChar char="•"/>
            </a:pPr>
            <a:r>
              <a:rPr lang="en-US" sz="1600" dirty="0">
                <a:solidFill>
                  <a:schemeClr val="tx1"/>
                </a:solidFill>
              </a:rPr>
              <a:t>Visit poses in plan order: sphere A, sphere B, board</a:t>
            </a:r>
            <a:endParaRPr lang="en-US" sz="1600" dirty="0"/>
          </a:p>
          <a:p>
            <a:pPr algn="l" marL="177800" indent="-177800">
              <a:spcAft>
                <a:spcPts val="600"/>
              </a:spcAft>
              <a:buSzPct val="100000"/>
              <a:buChar char="•"/>
            </a:pPr>
            <a:r>
              <a:rPr lang="en-US" sz="1600" dirty="0">
                <a:solidFill>
                  <a:schemeClr val="tx1"/>
                </a:solidFill>
              </a:rPr>
              <a:t>Pause for each fixture change and activate its tool frame</a:t>
            </a:r>
            <a:endParaRPr lang="en-US" sz="1600" dirty="0"/>
          </a:p>
          <a:p>
            <a:pPr algn="l" marL="177800" indent="-177800">
              <a:spcAft>
                <a:spcPts val="600"/>
              </a:spcAft>
              <a:buSzPct val="100000"/>
              <a:buChar char="•"/>
            </a:pPr>
            <a:r>
              <a:rPr lang="en-US" sz="1600" dirty="0">
                <a:solidFill>
                  <a:schemeClr val="tx1"/>
                </a:solidFill>
              </a:rPr>
              <a:t>Same approach every time; settle 1.5 seconds</a:t>
            </a:r>
            <a:endParaRPr lang="en-US" sz="1600" dirty="0"/>
          </a:p>
          <a:p>
            <a:pPr algn="l" marL="177800" indent="-177800">
              <a:spcAft>
                <a:spcPts val="600"/>
              </a:spcAft>
              <a:buSzPct val="100000"/>
              <a:buChar char="•"/>
            </a:pPr>
            <a:r>
              <a:rPr lang="en-US" sz="1600" dirty="0">
                <a:solidFill>
                  <a:schemeClr val="tx1"/>
                </a:solidFill>
              </a:rPr>
              <a:t>Never change the base frame during the session</a:t>
            </a:r>
            <a:endParaRPr lang="en-US" sz="1600" dirty="0"/>
          </a:p>
        </p:txBody>
      </p:sp>
      <p:sp>
        <p:nvSpPr>
          <p:cNvPr id="13" name="Column 3 card"/>
          <p:cNvSpPr/>
          <p:nvPr/>
        </p:nvSpPr>
        <p:spPr>
          <a:xfrm>
            <a:off x="8158277" y="1417320"/>
            <a:ext cx="3576218" cy="3520440"/>
          </a:xfrm>
          <a:prstGeom prst="roundRect">
            <a:avLst>
              <a:gd name="adj" fmla="val 3117"/>
            </a:avLst>
          </a:prstGeom>
          <a:solidFill>
            <a:schemeClr val="bg2"/>
          </a:solidFill>
          <a:ln/>
        </p:spPr>
      </p:sp>
      <p:sp>
        <p:nvSpPr>
          <p:cNvPr id="14" name="Column 3 icon circle"/>
          <p:cNvSpPr/>
          <p:nvPr/>
        </p:nvSpPr>
        <p:spPr>
          <a:xfrm>
            <a:off x="8386877" y="1645920"/>
            <a:ext cx="640080" cy="640080"/>
          </a:xfrm>
          <a:prstGeom prst="ellipse">
            <a:avLst/>
          </a:prstGeom>
          <a:solidFill>
            <a:schemeClr val="accent2"/>
          </a:solidFill>
          <a:ln/>
        </p:spPr>
      </p:sp>
      <p:pic>
        <p:nvPicPr>
          <p:cNvPr id="15" name="Column 3 icon glyph" descr="output icon">    </p:cNvPr>
          <p:cNvPicPr>
            <a:picLocks noChangeAspect="1"/>
          </p:cNvPicPr>
          <p:nvPr/>
        </p:nvPicPr>
        <p:blipFill>
          <a:blip r:embed="rId3"/>
          <a:stretch>
            <a:fillRect/>
          </a:stretch>
        </p:blipFill>
        <p:spPr>
          <a:xfrm>
            <a:off x="8546897" y="1805940"/>
            <a:ext cx="320040" cy="320040"/>
          </a:xfrm>
          <a:prstGeom prst="rect">
            <a:avLst/>
          </a:prstGeom>
        </p:spPr>
      </p:pic>
      <p:sp>
        <p:nvSpPr>
          <p:cNvPr id="16" name="Column 3 head"/>
          <p:cNvSpPr txBox="1"/>
          <p:nvPr/>
        </p:nvSpPr>
        <p:spPr>
          <a:xfrm>
            <a:off x="9209837" y="1645920"/>
            <a:ext cx="2296058" cy="640080"/>
          </a:xfrm>
          <a:prstGeom prst="rect">
            <a:avLst/>
          </a:prstGeom>
          <a:noFill/>
          <a:ln/>
        </p:spPr>
        <p:txBody>
          <a:bodyPr wrap="square" lIns="0" tIns="0" rIns="0" bIns="0" rtlCol="0" anchor="ctr"/>
          <a:lstStyle/>
          <a:p>
            <a:pPr algn="l" indent="0" marL="0">
              <a:buNone/>
            </a:pPr>
            <a:r>
              <a:rPr lang="en-US" sz="2000" b="1" dirty="0">
                <a:solidFill>
                  <a:schemeClr val="tx2"/>
                </a:solidFill>
                <a:latin typeface="+mj-lt" pitchFamily="34" charset="0"/>
                <a:ea typeface="+mj-lt" pitchFamily="34" charset="-122"/>
                <a:cs typeface="+mj-lt" pitchFamily="34" charset="-120"/>
              </a:rPr>
              <a:t>Outputs</a:t>
            </a:r>
            <a:endParaRPr lang="en-US" sz="2000" dirty="0"/>
          </a:p>
        </p:txBody>
      </p:sp>
      <p:sp>
        <p:nvSpPr>
          <p:cNvPr id="17" name="Column 3 points"/>
          <p:cNvSpPr txBox="1"/>
          <p:nvPr/>
        </p:nvSpPr>
        <p:spPr>
          <a:xfrm>
            <a:off x="8386877" y="2468880"/>
            <a:ext cx="3119018" cy="2240280"/>
          </a:xfrm>
          <a:prstGeom prst="rect">
            <a:avLst/>
          </a:prstGeom>
          <a:noFill/>
          <a:ln/>
        </p:spPr>
        <p:txBody>
          <a:bodyPr wrap="square" lIns="0" tIns="0" rIns="0" bIns="0" rtlCol="0" anchor="t"/>
          <a:lstStyle/>
          <a:p>
            <a:pPr algn="l" marL="177800" indent="-177800">
              <a:spcAft>
                <a:spcPts val="600"/>
              </a:spcAft>
              <a:buSzPct val="100000"/>
              <a:buChar char="•"/>
            </a:pPr>
            <a:r>
              <a:rPr lang="en-US" sz="1600" dirty="0">
                <a:solidFill>
                  <a:schemeClr val="tx1"/>
                </a:solidFill>
              </a:rPr>
              <a:t>Trigger five frames per pose through the communication software, named &lt;pose_id&gt;_Index00 to _Index04</a:t>
            </a:r>
            <a:endParaRPr lang="en-US" sz="1600" dirty="0"/>
          </a:p>
          <a:p>
            <a:pPr algn="l" marL="177800" indent="-177800">
              <a:spcAft>
                <a:spcPts val="600"/>
              </a:spcAft>
              <a:buSzPct val="100000"/>
              <a:buChar char="•"/>
            </a:pPr>
            <a:r>
              <a:rPr lang="en-US" sz="1600" dirty="0">
                <a:solidFill>
                  <a:schemeClr val="tx1"/>
                </a:solidFill>
              </a:rPr>
              <a:t>Append the REPORTED TCP pose to pose_log.csv in the controller's own orientation form; note where the file is written</a:t>
            </a:r>
            <a:endParaRPr lang="en-US" sz="1600" dirty="0"/>
          </a:p>
        </p:txBody>
      </p:sp>
      <p:sp>
        <p:nvSpPr>
          <p:cNvPr id="18" name="Message box"/>
          <p:cNvSpPr/>
          <p:nvPr/>
        </p:nvSpPr>
        <p:spPr>
          <a:xfrm>
            <a:off x="457200" y="5212080"/>
            <a:ext cx="11277295" cy="914400"/>
          </a:xfrm>
          <a:prstGeom prst="roundRect">
            <a:avLst>
              <a:gd name="adj" fmla="val 12000"/>
            </a:avLst>
          </a:prstGeom>
          <a:solidFill>
            <a:schemeClr val="bg2"/>
          </a:solidFill>
          <a:ln w="25400">
            <a:solidFill>
              <a:schemeClr val="accent1"/>
            </a:solidFill>
            <a:prstDash val="solid"/>
          </a:ln>
        </p:spPr>
      </p:sp>
      <p:sp>
        <p:nvSpPr>
          <p:cNvPr id="19" name="Message icon circle"/>
          <p:cNvSpPr/>
          <p:nvPr/>
        </p:nvSpPr>
        <p:spPr>
          <a:xfrm>
            <a:off x="685800" y="5349240"/>
            <a:ext cx="640080" cy="640080"/>
          </a:xfrm>
          <a:prstGeom prst="ellipse">
            <a:avLst/>
          </a:prstGeom>
          <a:solidFill>
            <a:schemeClr val="accent1"/>
          </a:solidFill>
          <a:ln/>
        </p:spPr>
      </p:sp>
      <p:pic>
        <p:nvPicPr>
          <p:cNvPr id="20" name="Message icon glyph" descr="robot icon">    </p:cNvPr>
          <p:cNvPicPr>
            <a:picLocks noChangeAspect="1"/>
          </p:cNvPicPr>
          <p:nvPr/>
        </p:nvPicPr>
        <p:blipFill>
          <a:blip r:embed="rId4"/>
          <a:stretch>
            <a:fillRect/>
          </a:stretch>
        </p:blipFill>
        <p:spPr>
          <a:xfrm>
            <a:off x="845820" y="5509260"/>
            <a:ext cx="320040" cy="320040"/>
          </a:xfrm>
          <a:prstGeom prst="rect">
            <a:avLst/>
          </a:prstGeom>
        </p:spPr>
      </p:pic>
      <p:sp>
        <p:nvSpPr>
          <p:cNvPr id="21" name="Key message"/>
          <p:cNvSpPr txBox="1"/>
          <p:nvPr/>
        </p:nvSpPr>
        <p:spPr>
          <a:xfrm>
            <a:off x="1508760" y="5212080"/>
            <a:ext cx="9997135" cy="914400"/>
          </a:xfrm>
          <a:prstGeom prst="rect">
            <a:avLst/>
          </a:prstGeom>
          <a:noFill/>
          <a:ln/>
        </p:spPr>
        <p:txBody>
          <a:bodyPr wrap="square" lIns="0" tIns="0" rIns="0" bIns="0" rtlCol="0" anchor="ctr"/>
          <a:lstStyle/>
          <a:p>
            <a:pPr algn="l" indent="0" marL="0">
              <a:buNone/>
            </a:pPr>
            <a:r>
              <a:rPr lang="en-US" sz="1800" b="1" dirty="0">
                <a:solidFill>
                  <a:schemeClr val="tx2"/>
                </a:solidFill>
              </a:rPr>
              <a:t>Once the robot model and controller are settled, the robot program can be written with Claude Code.</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Every pose runs the same short robot loop</a:t>
            </a:r>
            <a:endParaRPr lang="en-US" sz="3400" dirty="0"/>
          </a:p>
        </p:txBody>
      </p:sp>
      <p:sp>
        <p:nvSpPr>
          <p:cNvPr id="3" name="Step 1 card"/>
          <p:cNvSpPr/>
          <p:nvPr/>
        </p:nvSpPr>
        <p:spPr>
          <a:xfrm>
            <a:off x="457200" y="1417320"/>
            <a:ext cx="2407844" cy="2468880"/>
          </a:xfrm>
          <a:prstGeom prst="roundRect">
            <a:avLst>
              <a:gd name="adj" fmla="val 4557"/>
            </a:avLst>
          </a:prstGeom>
          <a:solidFill>
            <a:schemeClr val="bg2"/>
          </a:solidFill>
          <a:ln/>
        </p:spPr>
      </p:sp>
      <p:sp>
        <p:nvSpPr>
          <p:cNvPr id="4" name="Step 1 badge"/>
          <p:cNvSpPr txBox="1"/>
          <p:nvPr/>
        </p:nvSpPr>
        <p:spPr>
          <a:xfrm>
            <a:off x="685800"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Step 1 head"/>
          <p:cNvSpPr txBox="1"/>
          <p:nvPr/>
        </p:nvSpPr>
        <p:spPr>
          <a:xfrm>
            <a:off x="685800" y="224028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Approach</a:t>
            </a:r>
            <a:endParaRPr lang="en-US" sz="1800" dirty="0"/>
          </a:p>
        </p:txBody>
      </p:sp>
      <p:sp>
        <p:nvSpPr>
          <p:cNvPr id="6" name="Step 1 text"/>
          <p:cNvSpPr txBox="1"/>
          <p:nvPr/>
        </p:nvSpPr>
        <p:spPr>
          <a:xfrm>
            <a:off x="685800" y="2560320"/>
            <a:ext cx="1950644" cy="1097280"/>
          </a:xfrm>
          <a:prstGeom prst="rect">
            <a:avLst/>
          </a:prstGeom>
          <a:noFill/>
          <a:ln/>
        </p:spPr>
        <p:txBody>
          <a:bodyPr wrap="square" lIns="0" tIns="0" rIns="0" bIns="0" rtlCol="0" anchor="t"/>
          <a:lstStyle/>
          <a:p>
            <a:pPr algn="l" indent="0" marL="0">
              <a:buNone/>
            </a:pPr>
            <a:r>
              <a:rPr lang="en-US" sz="1400" dirty="0">
                <a:solidFill>
                  <a:schemeClr val="tx1"/>
                </a:solidFill>
              </a:rPr>
              <a:t>Joint move to 100 mm short along the stem axis, then a linear move onto the pose</a:t>
            </a:r>
            <a:endParaRPr lang="en-US" sz="1400" dirty="0"/>
          </a:p>
        </p:txBody>
      </p:sp>
      <p:sp>
        <p:nvSpPr>
          <p:cNvPr id="7" name="Arrow 1 to 2"/>
          <p:cNvSpPr/>
          <p:nvPr/>
        </p:nvSpPr>
        <p:spPr>
          <a:xfrm>
            <a:off x="3025064" y="2468880"/>
            <a:ext cx="228600" cy="365760"/>
          </a:xfrm>
          <a:prstGeom prst="chevron">
            <a:avLst/>
          </a:prstGeom>
          <a:solidFill>
            <a:schemeClr val="accent2"/>
          </a:solidFill>
          <a:ln/>
        </p:spPr>
      </p:sp>
      <p:sp>
        <p:nvSpPr>
          <p:cNvPr id="8" name="Step 2 card"/>
          <p:cNvSpPr/>
          <p:nvPr/>
        </p:nvSpPr>
        <p:spPr>
          <a:xfrm>
            <a:off x="3413684" y="1417320"/>
            <a:ext cx="2407844" cy="2468880"/>
          </a:xfrm>
          <a:prstGeom prst="roundRect">
            <a:avLst>
              <a:gd name="adj" fmla="val 4557"/>
            </a:avLst>
          </a:prstGeom>
          <a:solidFill>
            <a:schemeClr val="bg2"/>
          </a:solidFill>
          <a:ln/>
        </p:spPr>
      </p:sp>
      <p:sp>
        <p:nvSpPr>
          <p:cNvPr id="9" name="Step 2 badge"/>
          <p:cNvSpPr txBox="1"/>
          <p:nvPr/>
        </p:nvSpPr>
        <p:spPr>
          <a:xfrm>
            <a:off x="3642284"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Step 2 head"/>
          <p:cNvSpPr txBox="1"/>
          <p:nvPr/>
        </p:nvSpPr>
        <p:spPr>
          <a:xfrm>
            <a:off x="3642284" y="224028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Settle</a:t>
            </a:r>
            <a:endParaRPr lang="en-US" sz="1800" dirty="0"/>
          </a:p>
        </p:txBody>
      </p:sp>
      <p:sp>
        <p:nvSpPr>
          <p:cNvPr id="11" name="Step 2 text"/>
          <p:cNvSpPr txBox="1"/>
          <p:nvPr/>
        </p:nvSpPr>
        <p:spPr>
          <a:xfrm>
            <a:off x="3642284" y="2560320"/>
            <a:ext cx="1950644" cy="1097280"/>
          </a:xfrm>
          <a:prstGeom prst="rect">
            <a:avLst/>
          </a:prstGeom>
          <a:noFill/>
          <a:ln/>
        </p:spPr>
        <p:txBody>
          <a:bodyPr wrap="square" lIns="0" tIns="0" rIns="0" bIns="0" rtlCol="0" anchor="t"/>
          <a:lstStyle/>
          <a:p>
            <a:pPr algn="l" indent="0" marL="0">
              <a:buNone/>
            </a:pPr>
            <a:r>
              <a:rPr lang="en-US" sz="1400" dirty="0">
                <a:solidFill>
                  <a:schemeClr val="tx1"/>
                </a:solidFill>
              </a:rPr>
              <a:t>Wait 1.5 seconds for vibration to die out</a:t>
            </a:r>
            <a:endParaRPr lang="en-US" sz="1400" dirty="0"/>
          </a:p>
        </p:txBody>
      </p:sp>
      <p:sp>
        <p:nvSpPr>
          <p:cNvPr id="12" name="Arrow 2 to 3"/>
          <p:cNvSpPr/>
          <p:nvPr/>
        </p:nvSpPr>
        <p:spPr>
          <a:xfrm>
            <a:off x="5981548" y="2468880"/>
            <a:ext cx="228600" cy="365760"/>
          </a:xfrm>
          <a:prstGeom prst="chevron">
            <a:avLst/>
          </a:prstGeom>
          <a:solidFill>
            <a:schemeClr val="accent2"/>
          </a:solidFill>
          <a:ln/>
        </p:spPr>
      </p:sp>
      <p:sp>
        <p:nvSpPr>
          <p:cNvPr id="13" name="Step 3 card"/>
          <p:cNvSpPr/>
          <p:nvPr/>
        </p:nvSpPr>
        <p:spPr>
          <a:xfrm>
            <a:off x="6370168" y="1417320"/>
            <a:ext cx="2407844" cy="2468880"/>
          </a:xfrm>
          <a:prstGeom prst="roundRect">
            <a:avLst>
              <a:gd name="adj" fmla="val 4557"/>
            </a:avLst>
          </a:prstGeom>
          <a:solidFill>
            <a:schemeClr val="bg2"/>
          </a:solidFill>
          <a:ln/>
        </p:spPr>
      </p:sp>
      <p:sp>
        <p:nvSpPr>
          <p:cNvPr id="14" name="Step 3 badge"/>
          <p:cNvSpPr txBox="1"/>
          <p:nvPr/>
        </p:nvSpPr>
        <p:spPr>
          <a:xfrm>
            <a:off x="6598768"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Step 3 head"/>
          <p:cNvSpPr txBox="1"/>
          <p:nvPr/>
        </p:nvSpPr>
        <p:spPr>
          <a:xfrm>
            <a:off x="6598768" y="224028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Capture</a:t>
            </a:r>
            <a:endParaRPr lang="en-US" sz="1800" dirty="0"/>
          </a:p>
        </p:txBody>
      </p:sp>
      <p:sp>
        <p:nvSpPr>
          <p:cNvPr id="16" name="Step 3 text"/>
          <p:cNvSpPr txBox="1"/>
          <p:nvPr/>
        </p:nvSpPr>
        <p:spPr>
          <a:xfrm>
            <a:off x="6598768" y="2560320"/>
            <a:ext cx="1950644" cy="1097280"/>
          </a:xfrm>
          <a:prstGeom prst="rect">
            <a:avLst/>
          </a:prstGeom>
          <a:noFill/>
          <a:ln/>
        </p:spPr>
        <p:txBody>
          <a:bodyPr wrap="square" lIns="0" tIns="0" rIns="0" bIns="0" rtlCol="0" anchor="t"/>
          <a:lstStyle/>
          <a:p>
            <a:pPr algn="l" indent="0" marL="0">
              <a:buNone/>
            </a:pPr>
            <a:r>
              <a:rPr lang="en-US" sz="1400" dirty="0">
                <a:solidFill>
                  <a:schemeClr val="tx1"/>
                </a:solidFill>
              </a:rPr>
              <a:t>Five frames: &lt;pose_id&gt;_Index00 to _Index04</a:t>
            </a:r>
            <a:endParaRPr lang="en-US" sz="1400" dirty="0"/>
          </a:p>
        </p:txBody>
      </p:sp>
      <p:sp>
        <p:nvSpPr>
          <p:cNvPr id="17" name="Arrow 3 to 4"/>
          <p:cNvSpPr/>
          <p:nvPr/>
        </p:nvSpPr>
        <p:spPr>
          <a:xfrm>
            <a:off x="8938031" y="2468880"/>
            <a:ext cx="228600" cy="365760"/>
          </a:xfrm>
          <a:prstGeom prst="chevron">
            <a:avLst/>
          </a:prstGeom>
          <a:solidFill>
            <a:schemeClr val="accent2"/>
          </a:solidFill>
          <a:ln/>
        </p:spPr>
      </p:sp>
      <p:sp>
        <p:nvSpPr>
          <p:cNvPr id="18" name="Step 4 card"/>
          <p:cNvSpPr/>
          <p:nvPr/>
        </p:nvSpPr>
        <p:spPr>
          <a:xfrm>
            <a:off x="9326651" y="1417320"/>
            <a:ext cx="2407844" cy="2468880"/>
          </a:xfrm>
          <a:prstGeom prst="roundRect">
            <a:avLst>
              <a:gd name="adj" fmla="val 4557"/>
            </a:avLst>
          </a:prstGeom>
          <a:solidFill>
            <a:schemeClr val="bg2"/>
          </a:solidFill>
          <a:ln/>
        </p:spPr>
      </p:sp>
      <p:sp>
        <p:nvSpPr>
          <p:cNvPr id="19" name="Step 4 badge"/>
          <p:cNvSpPr txBox="1"/>
          <p:nvPr/>
        </p:nvSpPr>
        <p:spPr>
          <a:xfrm>
            <a:off x="9555251"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0" name="Step 4 head"/>
          <p:cNvSpPr txBox="1"/>
          <p:nvPr/>
        </p:nvSpPr>
        <p:spPr>
          <a:xfrm>
            <a:off x="9555251" y="224028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Log</a:t>
            </a:r>
            <a:endParaRPr lang="en-US" sz="1800" dirty="0"/>
          </a:p>
        </p:txBody>
      </p:sp>
      <p:sp>
        <p:nvSpPr>
          <p:cNvPr id="21" name="Step 4 text"/>
          <p:cNvSpPr txBox="1"/>
          <p:nvPr/>
        </p:nvSpPr>
        <p:spPr>
          <a:xfrm>
            <a:off x="9555251" y="2560320"/>
            <a:ext cx="1950644" cy="1097280"/>
          </a:xfrm>
          <a:prstGeom prst="rect">
            <a:avLst/>
          </a:prstGeom>
          <a:noFill/>
          <a:ln/>
        </p:spPr>
        <p:txBody>
          <a:bodyPr wrap="square" lIns="0" tIns="0" rIns="0" bIns="0" rtlCol="0" anchor="t"/>
          <a:lstStyle/>
          <a:p>
            <a:pPr algn="l" indent="0" marL="0">
              <a:buNone/>
            </a:pPr>
            <a:r>
              <a:rPr lang="en-US" sz="1400" dirty="0">
                <a:solidFill>
                  <a:schemeClr val="tx1"/>
                </a:solidFill>
              </a:rPr>
              <a:t>Read the REPORTED TCP pose and append it to the pose log</a:t>
            </a:r>
            <a:endParaRPr lang="en-US" sz="1400" dirty="0"/>
          </a:p>
        </p:txBody>
      </p:sp>
      <p:sp>
        <p:nvSpPr>
          <p:cNvPr id="22" name="Stat 1 card"/>
          <p:cNvSpPr/>
          <p:nvPr/>
        </p:nvSpPr>
        <p:spPr>
          <a:xfrm>
            <a:off x="457200" y="4160520"/>
            <a:ext cx="2407844" cy="1965960"/>
          </a:xfrm>
          <a:prstGeom prst="roundRect">
            <a:avLst>
              <a:gd name="adj" fmla="val 5581"/>
            </a:avLst>
          </a:prstGeom>
          <a:solidFill>
            <a:schemeClr val="bg2"/>
          </a:solidFill>
          <a:ln/>
        </p:spPr>
      </p:sp>
      <p:sp>
        <p:nvSpPr>
          <p:cNvPr id="23" name="Stat 1 value"/>
          <p:cNvSpPr txBox="1"/>
          <p:nvPr/>
        </p:nvSpPr>
        <p:spPr>
          <a:xfrm>
            <a:off x="685800" y="4594860"/>
            <a:ext cx="1950644" cy="548640"/>
          </a:xfrm>
          <a:prstGeom prst="rect">
            <a:avLst/>
          </a:prstGeom>
          <a:noFill/>
          <a:ln/>
        </p:spPr>
        <p:txBody>
          <a:bodyPr wrap="square" lIns="0" tIns="0" rIns="0" bIns="0" rtlCol="0" anchor="ctr"/>
          <a:lstStyle/>
          <a:p>
            <a:pPr algn="l" indent="0" marL="0">
              <a:buNone/>
            </a:pPr>
            <a:r>
              <a:rPr lang="en-US" sz="3600" b="1" dirty="0">
                <a:solidFill>
                  <a:schemeClr val="accent1"/>
                </a:solidFill>
                <a:latin typeface="+mj-lt" pitchFamily="34" charset="0"/>
                <a:ea typeface="+mj-lt" pitchFamily="34" charset="-122"/>
                <a:cs typeface="+mj-lt" pitchFamily="34" charset="-120"/>
              </a:rPr>
              <a:t>~8 s</a:t>
            </a:r>
            <a:endParaRPr lang="en-US" sz="3600" dirty="0"/>
          </a:p>
        </p:txBody>
      </p:sp>
      <p:sp>
        <p:nvSpPr>
          <p:cNvPr id="24" name="Stat 1 label"/>
          <p:cNvSpPr txBox="1"/>
          <p:nvPr/>
        </p:nvSpPr>
        <p:spPr>
          <a:xfrm>
            <a:off x="685800" y="5143500"/>
            <a:ext cx="1950644" cy="548640"/>
          </a:xfrm>
          <a:prstGeom prst="rect">
            <a:avLst/>
          </a:prstGeom>
          <a:noFill/>
          <a:ln/>
        </p:spPr>
        <p:txBody>
          <a:bodyPr wrap="square" lIns="0" tIns="0" rIns="0" bIns="0" rtlCol="0" anchor="t"/>
          <a:lstStyle/>
          <a:p>
            <a:pPr algn="l" indent="0" marL="0">
              <a:buNone/>
            </a:pPr>
            <a:r>
              <a:rPr lang="en-US" sz="1400" dirty="0">
                <a:solidFill>
                  <a:schemeClr val="tx1"/>
                </a:solidFill>
              </a:rPr>
              <a:t>per pose</a:t>
            </a:r>
            <a:endParaRPr lang="en-US" sz="1400" dirty="0"/>
          </a:p>
        </p:txBody>
      </p:sp>
      <p:sp>
        <p:nvSpPr>
          <p:cNvPr id="25" name="Stat 2 card"/>
          <p:cNvSpPr/>
          <p:nvPr/>
        </p:nvSpPr>
        <p:spPr>
          <a:xfrm>
            <a:off x="3139364" y="4160520"/>
            <a:ext cx="2407844" cy="1965960"/>
          </a:xfrm>
          <a:prstGeom prst="roundRect">
            <a:avLst>
              <a:gd name="adj" fmla="val 5581"/>
            </a:avLst>
          </a:prstGeom>
          <a:solidFill>
            <a:schemeClr val="bg2"/>
          </a:solidFill>
          <a:ln/>
        </p:spPr>
      </p:sp>
      <p:sp>
        <p:nvSpPr>
          <p:cNvPr id="26" name="Stat 2 value"/>
          <p:cNvSpPr txBox="1"/>
          <p:nvPr/>
        </p:nvSpPr>
        <p:spPr>
          <a:xfrm>
            <a:off x="3367964" y="4594860"/>
            <a:ext cx="1950644" cy="548640"/>
          </a:xfrm>
          <a:prstGeom prst="rect">
            <a:avLst/>
          </a:prstGeom>
          <a:noFill/>
          <a:ln/>
        </p:spPr>
        <p:txBody>
          <a:bodyPr wrap="square" lIns="0" tIns="0" rIns="0" bIns="0" rtlCol="0" anchor="ctr"/>
          <a:lstStyle/>
          <a:p>
            <a:pPr algn="l" indent="0" marL="0">
              <a:buNone/>
            </a:pPr>
            <a:r>
              <a:rPr lang="en-US" sz="3600" b="1" dirty="0">
                <a:solidFill>
                  <a:schemeClr val="accent1"/>
                </a:solidFill>
                <a:latin typeface="+mj-lt" pitchFamily="34" charset="0"/>
                <a:ea typeface="+mj-lt" pitchFamily="34" charset="-122"/>
                <a:cs typeface="+mj-lt" pitchFamily="34" charset="-120"/>
              </a:rPr>
              <a:t>~25 min</a:t>
            </a:r>
            <a:endParaRPr lang="en-US" sz="3600" dirty="0"/>
          </a:p>
        </p:txBody>
      </p:sp>
      <p:sp>
        <p:nvSpPr>
          <p:cNvPr id="27" name="Stat 2 label"/>
          <p:cNvSpPr txBox="1"/>
          <p:nvPr/>
        </p:nvSpPr>
        <p:spPr>
          <a:xfrm>
            <a:off x="3367964" y="5143500"/>
            <a:ext cx="1950644" cy="548640"/>
          </a:xfrm>
          <a:prstGeom prst="rect">
            <a:avLst/>
          </a:prstGeom>
          <a:noFill/>
          <a:ln/>
        </p:spPr>
        <p:txBody>
          <a:bodyPr wrap="square" lIns="0" tIns="0" rIns="0" bIns="0" rtlCol="0" anchor="t"/>
          <a:lstStyle/>
          <a:p>
            <a:pPr algn="l" indent="0" marL="0">
              <a:buNone/>
            </a:pPr>
            <a:r>
              <a:rPr lang="en-US" sz="1400" dirty="0">
                <a:solidFill>
                  <a:schemeClr val="tx1"/>
                </a:solidFill>
              </a:rPr>
              <a:t>robot time for 186 poses</a:t>
            </a:r>
            <a:endParaRPr lang="en-US" sz="1400" dirty="0"/>
          </a:p>
        </p:txBody>
      </p:sp>
      <p:sp>
        <p:nvSpPr>
          <p:cNvPr id="28" name="Message box"/>
          <p:cNvSpPr/>
          <p:nvPr/>
        </p:nvSpPr>
        <p:spPr>
          <a:xfrm>
            <a:off x="5821528" y="4160520"/>
            <a:ext cx="5912968" cy="1965960"/>
          </a:xfrm>
          <a:prstGeom prst="roundRect">
            <a:avLst>
              <a:gd name="adj" fmla="val 5581"/>
            </a:avLst>
          </a:prstGeom>
          <a:solidFill>
            <a:schemeClr val="bg2"/>
          </a:solidFill>
          <a:ln w="25400">
            <a:solidFill>
              <a:schemeClr val="accent1"/>
            </a:solidFill>
            <a:prstDash val="solid"/>
          </a:ln>
        </p:spPr>
      </p:sp>
      <p:sp>
        <p:nvSpPr>
          <p:cNvPr id="29" name="Message icon circle"/>
          <p:cNvSpPr/>
          <p:nvPr/>
        </p:nvSpPr>
        <p:spPr>
          <a:xfrm>
            <a:off x="6050128" y="4823460"/>
            <a:ext cx="640080" cy="640080"/>
          </a:xfrm>
          <a:prstGeom prst="ellipse">
            <a:avLst/>
          </a:prstGeom>
          <a:solidFill>
            <a:schemeClr val="accent1"/>
          </a:solidFill>
          <a:ln/>
        </p:spPr>
      </p:sp>
      <p:pic>
        <p:nvPicPr>
          <p:cNvPr id="30" name="Message icon glyph" descr="list icon">    </p:cNvPr>
          <p:cNvPicPr>
            <a:picLocks noChangeAspect="1"/>
          </p:cNvPicPr>
          <p:nvPr/>
        </p:nvPicPr>
        <p:blipFill>
          <a:blip r:embed="rId1"/>
          <a:stretch>
            <a:fillRect/>
          </a:stretch>
        </p:blipFill>
        <p:spPr>
          <a:xfrm>
            <a:off x="6210148" y="4983480"/>
            <a:ext cx="320040" cy="320040"/>
          </a:xfrm>
          <a:prstGeom prst="rect">
            <a:avLst/>
          </a:prstGeom>
        </p:spPr>
      </p:pic>
      <p:sp>
        <p:nvSpPr>
          <p:cNvPr id="31" name="Key message"/>
          <p:cNvSpPr txBox="1"/>
          <p:nvPr/>
        </p:nvSpPr>
        <p:spPr>
          <a:xfrm>
            <a:off x="6873088" y="4160520"/>
            <a:ext cx="4632808" cy="1965960"/>
          </a:xfrm>
          <a:prstGeom prst="rect">
            <a:avLst/>
          </a:prstGeom>
          <a:noFill/>
          <a:ln/>
        </p:spPr>
        <p:txBody>
          <a:bodyPr wrap="square" lIns="0" tIns="0" rIns="0" bIns="0" rtlCol="0" anchor="ctr"/>
          <a:lstStyle/>
          <a:p>
            <a:pPr algn="l" indent="0" marL="0">
              <a:buNone/>
            </a:pPr>
            <a:r>
              <a:rPr lang="en-US" sz="1800" b="1" dirty="0">
                <a:solidFill>
                  <a:schemeClr val="tx2"/>
                </a:solidFill>
              </a:rPr>
              <a:t>Order: all sphere A poses, then sphere B, then the board. Never move the sensor in between.</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Poses are recorded in the file header or in a pose log</a:t>
            </a:r>
            <a:endParaRPr lang="en-US" sz="3400" dirty="0"/>
          </a:p>
        </p:txBody>
      </p:sp>
      <p:sp>
        <p:nvSpPr>
          <p:cNvPr id="3" name="Option 1 card"/>
          <p:cNvSpPr/>
          <p:nvPr/>
        </p:nvSpPr>
        <p:spPr>
          <a:xfrm>
            <a:off x="457200" y="1417320"/>
            <a:ext cx="5501488" cy="3703320"/>
          </a:xfrm>
          <a:prstGeom prst="roundRect">
            <a:avLst>
              <a:gd name="adj" fmla="val 2963"/>
            </a:avLst>
          </a:prstGeom>
          <a:solidFill>
            <a:schemeClr val="bg2"/>
          </a:solidFill>
          <a:ln/>
        </p:spPr>
      </p:sp>
      <p:sp>
        <p:nvSpPr>
          <p:cNvPr id="4" name="Option 1 header block"/>
          <p:cNvSpPr/>
          <p:nvPr/>
        </p:nvSpPr>
        <p:spPr>
          <a:xfrm>
            <a:off x="548640" y="1508760"/>
            <a:ext cx="5318608" cy="640080"/>
          </a:xfrm>
          <a:prstGeom prst="roundRect">
            <a:avLst>
              <a:gd name="adj" fmla="val 17143"/>
            </a:avLst>
          </a:prstGeom>
          <a:solidFill>
            <a:schemeClr val="tx2"/>
          </a:solidFill>
          <a:ln/>
        </p:spPr>
      </p:sp>
      <p:sp>
        <p:nvSpPr>
          <p:cNvPr id="5" name="Option 1 icon circle"/>
          <p:cNvSpPr/>
          <p:nvPr/>
        </p:nvSpPr>
        <p:spPr>
          <a:xfrm>
            <a:off x="640080" y="1623060"/>
            <a:ext cx="411480" cy="411480"/>
          </a:xfrm>
          <a:prstGeom prst="ellipse">
            <a:avLst/>
          </a:prstGeom>
          <a:solidFill>
            <a:schemeClr val="accent1"/>
          </a:solidFill>
          <a:ln/>
        </p:spPr>
      </p:sp>
      <p:pic>
        <p:nvPicPr>
          <p:cNvPr id="6" name="Option 1 icon glyph" descr="fileCode icon">    </p:cNvPr>
          <p:cNvPicPr>
            <a:picLocks noChangeAspect="1"/>
          </p:cNvPicPr>
          <p:nvPr/>
        </p:nvPicPr>
        <p:blipFill>
          <a:blip r:embed="rId1"/>
          <a:stretch>
            <a:fillRect/>
          </a:stretch>
        </p:blipFill>
        <p:spPr>
          <a:xfrm>
            <a:off x="742950" y="1725930"/>
            <a:ext cx="205740" cy="205740"/>
          </a:xfrm>
          <a:prstGeom prst="rect">
            <a:avLst/>
          </a:prstGeom>
        </p:spPr>
      </p:pic>
      <p:sp>
        <p:nvSpPr>
          <p:cNvPr id="7" name="Option 1 head"/>
          <p:cNvSpPr txBox="1"/>
          <p:nvPr/>
        </p:nvSpPr>
        <p:spPr>
          <a:xfrm>
            <a:off x="1143000" y="1508760"/>
            <a:ext cx="4632808" cy="640080"/>
          </a:xfrm>
          <a:prstGeom prst="rect">
            <a:avLst/>
          </a:prstGeom>
          <a:noFill/>
          <a:ln/>
        </p:spPr>
        <p:txBody>
          <a:bodyPr wrap="square" lIns="0" tIns="0" rIns="0" bIns="0" rtlCol="0" anchor="ctr"/>
          <a:lstStyle/>
          <a:p>
            <a:pPr algn="l" indent="0" marL="0">
              <a:buNone/>
            </a:pPr>
            <a:r>
              <a:rPr lang="en-US" sz="1800" b="1" dirty="0">
                <a:solidFill>
                  <a:schemeClr val="bg1"/>
                </a:solidFill>
                <a:latin typeface="+mj-lt" pitchFamily="34" charset="0"/>
                <a:ea typeface="+mj-lt" pitchFamily="34" charset="-122"/>
                <a:cs typeface="+mj-lt" pitchFamily="34" charset="-120"/>
              </a:rPr>
              <a:t>Option A: in the file header</a:t>
            </a:r>
            <a:endParaRPr lang="en-US" sz="1800" dirty="0"/>
          </a:p>
        </p:txBody>
      </p:sp>
      <p:sp>
        <p:nvSpPr>
          <p:cNvPr id="8" name="Option 1 points"/>
          <p:cNvSpPr txBox="1"/>
          <p:nvPr/>
        </p:nvSpPr>
        <p:spPr>
          <a:xfrm>
            <a:off x="685800" y="2331720"/>
            <a:ext cx="5044288" cy="2560320"/>
          </a:xfrm>
          <a:prstGeom prst="rect">
            <a:avLst/>
          </a:prstGeom>
          <a:noFill/>
          <a:ln/>
        </p:spPr>
        <p:txBody>
          <a:bodyPr wrap="square" lIns="0" tIns="0" rIns="0" bIns="0" rtlCol="0" anchor="t"/>
          <a:lstStyle/>
          <a:p>
            <a:pPr algn="l" marL="177800" indent="-177800">
              <a:spcAft>
                <a:spcPts val="1200"/>
              </a:spcAft>
              <a:buSzPct val="100000"/>
              <a:buChar char="•"/>
            </a:pPr>
            <a:r>
              <a:rPr lang="en-US" sz="1800" dirty="0">
                <a:solidFill>
                  <a:schemeClr val="tx1"/>
                </a:solidFill>
              </a:rPr>
              <a:t>The capture software writes robotPose, a 4 x 4 matrix, tool to base</a:t>
            </a:r>
            <a:endParaRPr lang="en-US" sz="1800" dirty="0"/>
          </a:p>
          <a:p>
            <a:pPr algn="l" marL="177800" indent="-177800">
              <a:spcAft>
                <a:spcPts val="1200"/>
              </a:spcAft>
              <a:buSzPct val="100000"/>
              <a:buChar char="•"/>
            </a:pPr>
            <a:r>
              <a:rPr lang="en-US" sz="1800" dirty="0">
                <a:solidFill>
                  <a:schemeClr val="tx1"/>
                </a:solidFill>
              </a:rPr>
              <a:t>No separate log needed beyond the target sizes</a:t>
            </a:r>
            <a:endParaRPr lang="en-US" sz="1800" dirty="0"/>
          </a:p>
          <a:p>
            <a:pPr algn="l" marL="177800" indent="-177800">
              <a:spcAft>
                <a:spcPts val="1200"/>
              </a:spcAft>
              <a:buSzPct val="100000"/>
              <a:buChar char="•"/>
            </a:pPr>
            <a:r>
              <a:rPr lang="en-US" sz="1800" dirty="0">
                <a:solidFill>
                  <a:schemeClr val="tx1"/>
                </a:solidFill>
              </a:rPr>
              <a:t>Use it if the capture software supports it</a:t>
            </a:r>
            <a:endParaRPr lang="en-US" sz="1800" dirty="0"/>
          </a:p>
        </p:txBody>
      </p:sp>
      <p:sp>
        <p:nvSpPr>
          <p:cNvPr id="9" name="Option 2 card"/>
          <p:cNvSpPr/>
          <p:nvPr/>
        </p:nvSpPr>
        <p:spPr>
          <a:xfrm>
            <a:off x="6233008" y="1417320"/>
            <a:ext cx="5501488" cy="3703320"/>
          </a:xfrm>
          <a:prstGeom prst="roundRect">
            <a:avLst>
              <a:gd name="adj" fmla="val 2963"/>
            </a:avLst>
          </a:prstGeom>
          <a:solidFill>
            <a:schemeClr val="bg2"/>
          </a:solidFill>
          <a:ln/>
        </p:spPr>
      </p:sp>
      <p:sp>
        <p:nvSpPr>
          <p:cNvPr id="10" name="Option 2 header block"/>
          <p:cNvSpPr/>
          <p:nvPr/>
        </p:nvSpPr>
        <p:spPr>
          <a:xfrm>
            <a:off x="6324448" y="1508760"/>
            <a:ext cx="5318608" cy="640080"/>
          </a:xfrm>
          <a:prstGeom prst="roundRect">
            <a:avLst>
              <a:gd name="adj" fmla="val 17143"/>
            </a:avLst>
          </a:prstGeom>
          <a:solidFill>
            <a:schemeClr val="tx2"/>
          </a:solidFill>
          <a:ln/>
        </p:spPr>
      </p:sp>
      <p:sp>
        <p:nvSpPr>
          <p:cNvPr id="11" name="Option 2 icon circle"/>
          <p:cNvSpPr/>
          <p:nvPr/>
        </p:nvSpPr>
        <p:spPr>
          <a:xfrm>
            <a:off x="6415888" y="1623060"/>
            <a:ext cx="411480" cy="411480"/>
          </a:xfrm>
          <a:prstGeom prst="ellipse">
            <a:avLst/>
          </a:prstGeom>
          <a:solidFill>
            <a:schemeClr val="accent1"/>
          </a:solidFill>
          <a:ln/>
        </p:spPr>
      </p:sp>
      <p:pic>
        <p:nvPicPr>
          <p:cNvPr id="12" name="Option 2 icon glyph" descr="fileList icon">    </p:cNvPr>
          <p:cNvPicPr>
            <a:picLocks noChangeAspect="1"/>
          </p:cNvPicPr>
          <p:nvPr/>
        </p:nvPicPr>
        <p:blipFill>
          <a:blip r:embed="rId2"/>
          <a:stretch>
            <a:fillRect/>
          </a:stretch>
        </p:blipFill>
        <p:spPr>
          <a:xfrm>
            <a:off x="6518758" y="1725930"/>
            <a:ext cx="205740" cy="205740"/>
          </a:xfrm>
          <a:prstGeom prst="rect">
            <a:avLst/>
          </a:prstGeom>
        </p:spPr>
      </p:pic>
      <p:sp>
        <p:nvSpPr>
          <p:cNvPr id="13" name="Option 2 head"/>
          <p:cNvSpPr txBox="1"/>
          <p:nvPr/>
        </p:nvSpPr>
        <p:spPr>
          <a:xfrm>
            <a:off x="6918808" y="1508760"/>
            <a:ext cx="4632808" cy="640080"/>
          </a:xfrm>
          <a:prstGeom prst="rect">
            <a:avLst/>
          </a:prstGeom>
          <a:noFill/>
          <a:ln/>
        </p:spPr>
        <p:txBody>
          <a:bodyPr wrap="square" lIns="0" tIns="0" rIns="0" bIns="0" rtlCol="0" anchor="ctr"/>
          <a:lstStyle/>
          <a:p>
            <a:pPr algn="l" indent="0" marL="0">
              <a:buNone/>
            </a:pPr>
            <a:r>
              <a:rPr lang="en-US" sz="1800" b="1" dirty="0">
                <a:solidFill>
                  <a:schemeClr val="bg1"/>
                </a:solidFill>
                <a:latin typeface="+mj-lt" pitchFamily="34" charset="0"/>
                <a:ea typeface="+mj-lt" pitchFamily="34" charset="-122"/>
                <a:cs typeface="+mj-lt" pitchFamily="34" charset="-120"/>
              </a:rPr>
              <a:t>Option B: pose log and manifest</a:t>
            </a:r>
            <a:endParaRPr lang="en-US" sz="1800" dirty="0"/>
          </a:p>
        </p:txBody>
      </p:sp>
      <p:sp>
        <p:nvSpPr>
          <p:cNvPr id="14" name="Option 2 points"/>
          <p:cNvSpPr txBox="1"/>
          <p:nvPr/>
        </p:nvSpPr>
        <p:spPr>
          <a:xfrm>
            <a:off x="6461608" y="2331720"/>
            <a:ext cx="5044288" cy="2560320"/>
          </a:xfrm>
          <a:prstGeom prst="rect">
            <a:avLst/>
          </a:prstGeom>
          <a:noFill/>
          <a:ln/>
        </p:spPr>
        <p:txBody>
          <a:bodyPr wrap="square" lIns="0" tIns="0" rIns="0" bIns="0" rtlCol="0" anchor="t"/>
          <a:lstStyle/>
          <a:p>
            <a:pPr algn="l" marL="177800" indent="-177800">
              <a:spcAft>
                <a:spcPts val="1200"/>
              </a:spcAft>
              <a:buSzPct val="100000"/>
              <a:buChar char="•"/>
            </a:pPr>
            <a:r>
              <a:rPr lang="en-US" sz="1800" dirty="0">
                <a:solidFill>
                  <a:schemeClr val="tx1"/>
                </a:solidFill>
              </a:rPr>
              <a:t>The robot program appends one CSV line per pose</a:t>
            </a:r>
            <a:endParaRPr lang="en-US" sz="1800" dirty="0"/>
          </a:p>
          <a:p>
            <a:pPr algn="l" marL="177800" indent="-177800">
              <a:spcAft>
                <a:spcPts val="1200"/>
              </a:spcAft>
              <a:buSzPct val="100000"/>
              <a:buChar char="•"/>
            </a:pPr>
            <a:r>
              <a:rPr lang="en-US" sz="1800" dirty="0">
                <a:solidFill>
                  <a:schemeClr val="tx1"/>
                </a:solidFill>
              </a:rPr>
              <a:t>Orientation in the controller's own form: KUKA A, B, C or FANUC W, P, R, quaternion, rotation vector, matrix</a:t>
            </a:r>
            <a:endParaRPr lang="en-US" sz="1800" dirty="0"/>
          </a:p>
          <a:p>
            <a:pPr algn="l" marL="177800" indent="-177800">
              <a:spcAft>
                <a:spcPts val="1200"/>
              </a:spcAft>
              <a:buSzPct val="100000"/>
              <a:buChar char="•"/>
            </a:pPr>
            <a:r>
              <a:rPr lang="en-US" sz="1800" dirty="0">
                <a:solidFill>
                  <a:schemeClr val="tx1"/>
                </a:solidFill>
              </a:rPr>
              <a:t>make_manifest matches files to poses and names every mismatch</a:t>
            </a:r>
            <a:endParaRPr lang="en-US" sz="1800" dirty="0"/>
          </a:p>
          <a:p>
            <a:pPr algn="l" marL="177800" indent="-177800">
              <a:spcAft>
                <a:spcPts val="1200"/>
              </a:spcAft>
              <a:buSzPct val="100000"/>
              <a:buChar char="•"/>
            </a:pPr>
            <a:r>
              <a:rPr lang="en-US" sz="1800" dirty="0">
                <a:solidFill>
                  <a:schemeClr val="tx1"/>
                </a:solidFill>
              </a:rPr>
              <a:t>Recommended as a backup even with option A</a:t>
            </a:r>
            <a:endParaRPr lang="en-US" sz="1800" dirty="0"/>
          </a:p>
        </p:txBody>
      </p:sp>
      <p:sp>
        <p:nvSpPr>
          <p:cNvPr id="15" name="Example box"/>
          <p:cNvSpPr/>
          <p:nvPr/>
        </p:nvSpPr>
        <p:spPr>
          <a:xfrm>
            <a:off x="457200" y="5394960"/>
            <a:ext cx="11277295" cy="731520"/>
          </a:xfrm>
          <a:prstGeom prst="roundRect">
            <a:avLst>
              <a:gd name="adj" fmla="val 15000"/>
            </a:avLst>
          </a:prstGeom>
          <a:solidFill>
            <a:schemeClr val="bg2"/>
          </a:solidFill>
          <a:ln w="12700">
            <a:solidFill>
              <a:schemeClr val="accent6"/>
            </a:solidFill>
            <a:prstDash val="solid"/>
          </a:ln>
        </p:spPr>
      </p:sp>
      <p:sp>
        <p:nvSpPr>
          <p:cNvPr id="16" name="Example icon circle"/>
          <p:cNvSpPr/>
          <p:nvPr/>
        </p:nvSpPr>
        <p:spPr>
          <a:xfrm>
            <a:off x="640080" y="5509260"/>
            <a:ext cx="502920" cy="502920"/>
          </a:xfrm>
          <a:prstGeom prst="ellipse">
            <a:avLst/>
          </a:prstGeom>
          <a:solidFill>
            <a:schemeClr val="accent2"/>
          </a:solidFill>
          <a:ln/>
        </p:spPr>
      </p:sp>
      <p:pic>
        <p:nvPicPr>
          <p:cNvPr id="17" name="Example icon glyph" descr="fileAlt icon">    </p:cNvPr>
          <p:cNvPicPr>
            <a:picLocks noChangeAspect="1"/>
          </p:cNvPicPr>
          <p:nvPr/>
        </p:nvPicPr>
        <p:blipFill>
          <a:blip r:embed="rId3"/>
          <a:stretch>
            <a:fillRect/>
          </a:stretch>
        </p:blipFill>
        <p:spPr>
          <a:xfrm>
            <a:off x="765810" y="5634990"/>
            <a:ext cx="251460" cy="251460"/>
          </a:xfrm>
          <a:prstGeom prst="rect">
            <a:avLst/>
          </a:prstGeom>
        </p:spPr>
      </p:pic>
      <p:sp>
        <p:nvSpPr>
          <p:cNvPr id="18" name="Pose-log example line"/>
          <p:cNvSpPr txBox="1"/>
          <p:nvPr/>
        </p:nvSpPr>
        <p:spPr>
          <a:xfrm>
            <a:off x="1325880" y="5394960"/>
            <a:ext cx="10225735" cy="731520"/>
          </a:xfrm>
          <a:prstGeom prst="rect">
            <a:avLst/>
          </a:prstGeom>
          <a:noFill/>
          <a:ln/>
        </p:spPr>
        <p:txBody>
          <a:bodyPr wrap="square" lIns="0" tIns="0" rIns="0" bIns="0" rtlCol="0" anchor="ctr"/>
          <a:lstStyle/>
          <a:p>
            <a:pPr algn="l" indent="0" marL="0">
              <a:buNone/>
            </a:pPr>
            <a:r>
              <a:rPr lang="en-US" sz="1300" dirty="0">
                <a:solidFill>
                  <a:schemeClr val="tx1"/>
                </a:solidFill>
                <a:latin typeface="Courier New" pitchFamily="34" charset="0"/>
                <a:ea typeface="Courier New" pitchFamily="34" charset="-122"/>
                <a:cs typeface="Courier New" pitchFamily="34" charset="-120"/>
              </a:rPr>
              <a:t>s038_z0425_017,sphere,38.10,,,812.40,-33.21,455.02,none,,,,</a:t>
            </a:r>
            <a:endParaRPr lang="en-US" sz="13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Check the captures before the robot is put away</a:t>
            </a:r>
            <a:endParaRPr lang="en-US" sz="3400" dirty="0"/>
          </a:p>
        </p:txBody>
      </p:sp>
      <p:sp>
        <p:nvSpPr>
          <p:cNvPr id="3" name="Check 1 card"/>
          <p:cNvSpPr/>
          <p:nvPr/>
        </p:nvSpPr>
        <p:spPr>
          <a:xfrm>
            <a:off x="457200" y="1417320"/>
            <a:ext cx="5501488" cy="1943100"/>
          </a:xfrm>
          <a:prstGeom prst="roundRect">
            <a:avLst>
              <a:gd name="adj" fmla="val 5647"/>
            </a:avLst>
          </a:prstGeom>
          <a:solidFill>
            <a:schemeClr val="bg1"/>
          </a:solidFill>
          <a:ln w="12700">
            <a:solidFill>
              <a:schemeClr val="accent6"/>
            </a:solidFill>
            <a:prstDash val="solid"/>
          </a:ln>
        </p:spPr>
      </p:sp>
      <p:sp>
        <p:nvSpPr>
          <p:cNvPr id="4" name="Check 1 icon circle"/>
          <p:cNvSpPr/>
          <p:nvPr/>
        </p:nvSpPr>
        <p:spPr>
          <a:xfrm>
            <a:off x="685800" y="1645920"/>
            <a:ext cx="640080" cy="640080"/>
          </a:xfrm>
          <a:prstGeom prst="ellipse">
            <a:avLst/>
          </a:prstGeom>
          <a:solidFill>
            <a:schemeClr val="accent4"/>
          </a:solidFill>
          <a:ln/>
        </p:spPr>
      </p:sp>
      <p:pic>
        <p:nvPicPr>
          <p:cNvPr id="5" name="Check 1 icon glyph" descr="warning icon">    </p:cNvPr>
          <p:cNvPicPr>
            <a:picLocks noChangeAspect="1"/>
          </p:cNvPicPr>
          <p:nvPr/>
        </p:nvPicPr>
        <p:blipFill>
          <a:blip r:embed="rId1"/>
          <a:stretch>
            <a:fillRect/>
          </a:stretch>
        </p:blipFill>
        <p:spPr>
          <a:xfrm>
            <a:off x="845820" y="1805940"/>
            <a:ext cx="320040" cy="320040"/>
          </a:xfrm>
          <a:prstGeom prst="rect">
            <a:avLst/>
          </a:prstGeom>
        </p:spPr>
      </p:pic>
      <p:sp>
        <p:nvSpPr>
          <p:cNvPr id="6" name="Check 1 text"/>
          <p:cNvSpPr txBox="1"/>
          <p:nvPr/>
        </p:nvSpPr>
        <p:spPr>
          <a:xfrm>
            <a:off x="1508760" y="1645920"/>
            <a:ext cx="4221328" cy="1485900"/>
          </a:xfrm>
          <a:prstGeom prst="rect">
            <a:avLst/>
          </a:prstGeom>
          <a:noFill/>
          <a:ln/>
        </p:spPr>
        <p:txBody>
          <a:bodyPr wrap="square" lIns="0" tIns="0" rIns="0" bIns="0" rtlCol="0" anchor="t"/>
          <a:lstStyle/>
          <a:p>
            <a:pPr algn="l" indent="0" marL="0">
              <a:spcAft>
                <a:spcPts val="300"/>
              </a:spcAft>
              <a:buNone/>
            </a:pPr>
            <a:r>
              <a:rPr lang="en-US" sz="2000" b="1" dirty="0">
                <a:solidFill>
                  <a:schemeClr val="tx2"/>
                </a:solidFill>
              </a:rPr>
              <a:t>Low valid fraction</a:t>
            </a:r>
            <a:endParaRPr lang="en-US" sz="1600" dirty="0"/>
          </a:p>
          <a:p>
            <a:pPr algn="l" indent="0" marL="0">
              <a:spcAft>
                <a:spcPts val="300"/>
              </a:spcAft>
              <a:buNone/>
            </a:pPr>
            <a:r>
              <a:rPr lang="en-US" sz="1800" b="1" dirty="0">
                <a:solidFill>
                  <a:schemeClr val="accent1"/>
                </a:solidFill>
              </a:rPr>
              <a:t>below 50 percent of frames</a:t>
            </a:r>
            <a:endParaRPr lang="en-US" sz="1600" dirty="0"/>
          </a:p>
          <a:p>
            <a:pPr algn="l" indent="0" marL="0">
              <a:buNone/>
            </a:pPr>
            <a:r>
              <a:rPr lang="en-US" sz="1600" dirty="0">
                <a:solidFill>
                  <a:schemeClr val="tx1"/>
                </a:solidFill>
              </a:rPr>
              <a:t>Target not read: check exposure, or the target was outside the field</a:t>
            </a:r>
            <a:endParaRPr lang="en-US" sz="1600" dirty="0"/>
          </a:p>
        </p:txBody>
      </p:sp>
      <p:sp>
        <p:nvSpPr>
          <p:cNvPr id="7" name="Check 2 card"/>
          <p:cNvSpPr/>
          <p:nvPr/>
        </p:nvSpPr>
        <p:spPr>
          <a:xfrm>
            <a:off x="6233008" y="1417320"/>
            <a:ext cx="5501488" cy="1943100"/>
          </a:xfrm>
          <a:prstGeom prst="roundRect">
            <a:avLst>
              <a:gd name="adj" fmla="val 5647"/>
            </a:avLst>
          </a:prstGeom>
          <a:solidFill>
            <a:schemeClr val="bg1"/>
          </a:solidFill>
          <a:ln w="12700">
            <a:solidFill>
              <a:schemeClr val="accent6"/>
            </a:solidFill>
            <a:prstDash val="solid"/>
          </a:ln>
        </p:spPr>
      </p:sp>
      <p:sp>
        <p:nvSpPr>
          <p:cNvPr id="8" name="Check 2 icon circle"/>
          <p:cNvSpPr/>
          <p:nvPr/>
        </p:nvSpPr>
        <p:spPr>
          <a:xfrm>
            <a:off x="6461608" y="1645920"/>
            <a:ext cx="640080" cy="640080"/>
          </a:xfrm>
          <a:prstGeom prst="ellipse">
            <a:avLst/>
          </a:prstGeom>
          <a:solidFill>
            <a:schemeClr val="accent4"/>
          </a:solidFill>
          <a:ln/>
        </p:spPr>
      </p:sp>
      <p:pic>
        <p:nvPicPr>
          <p:cNvPr id="9" name="Check 2 icon glyph" descr="warning icon">    </p:cNvPr>
          <p:cNvPicPr>
            <a:picLocks noChangeAspect="1"/>
          </p:cNvPicPr>
          <p:nvPr/>
        </p:nvPicPr>
        <p:blipFill>
          <a:blip r:embed="rId2"/>
          <a:stretch>
            <a:fillRect/>
          </a:stretch>
        </p:blipFill>
        <p:spPr>
          <a:xfrm>
            <a:off x="6621628" y="1805940"/>
            <a:ext cx="320040" cy="320040"/>
          </a:xfrm>
          <a:prstGeom prst="rect">
            <a:avLst/>
          </a:prstGeom>
        </p:spPr>
      </p:pic>
      <p:sp>
        <p:nvSpPr>
          <p:cNvPr id="10" name="Check 2 text"/>
          <p:cNvSpPr txBox="1"/>
          <p:nvPr/>
        </p:nvSpPr>
        <p:spPr>
          <a:xfrm>
            <a:off x="7284568" y="1645920"/>
            <a:ext cx="4221328" cy="1485900"/>
          </a:xfrm>
          <a:prstGeom prst="rect">
            <a:avLst/>
          </a:prstGeom>
          <a:noFill/>
          <a:ln/>
        </p:spPr>
        <p:txBody>
          <a:bodyPr wrap="square" lIns="0" tIns="0" rIns="0" bIns="0" rtlCol="0" anchor="t"/>
          <a:lstStyle/>
          <a:p>
            <a:pPr algn="l" indent="0" marL="0">
              <a:spcAft>
                <a:spcPts val="300"/>
              </a:spcAft>
              <a:buNone/>
            </a:pPr>
            <a:r>
              <a:rPr lang="en-US" sz="2000" b="1" dirty="0">
                <a:solidFill>
                  <a:schemeClr val="tx2"/>
                </a:solidFill>
              </a:rPr>
              <a:t>Touches the image border</a:t>
            </a:r>
            <a:endParaRPr lang="en-US" sz="1600" dirty="0"/>
          </a:p>
          <a:p>
            <a:pPr algn="l" indent="0" marL="0">
              <a:spcAft>
                <a:spcPts val="300"/>
              </a:spcAft>
              <a:buNone/>
            </a:pPr>
            <a:r>
              <a:rPr lang="en-US" sz="1800" b="1" dirty="0">
                <a:solidFill>
                  <a:schemeClr val="accent1"/>
                </a:solidFill>
              </a:rPr>
              <a:t>valid pixels at the edge</a:t>
            </a:r>
            <a:endParaRPr lang="en-US" sz="1600" dirty="0"/>
          </a:p>
          <a:p>
            <a:pPr algn="l" indent="0" marL="0">
              <a:buNone/>
            </a:pPr>
            <a:r>
              <a:rPr lang="en-US" sz="1600" dirty="0">
                <a:solidFill>
                  <a:schemeClr val="tx1"/>
                </a:solidFill>
              </a:rPr>
              <a:t>Target partly out of view: the pose is unusable; re-plan it slightly inward</a:t>
            </a:r>
            <a:endParaRPr lang="en-US" sz="1600" dirty="0"/>
          </a:p>
        </p:txBody>
      </p:sp>
      <p:sp>
        <p:nvSpPr>
          <p:cNvPr id="11" name="Check 3 card"/>
          <p:cNvSpPr/>
          <p:nvPr/>
        </p:nvSpPr>
        <p:spPr>
          <a:xfrm>
            <a:off x="457200" y="3634740"/>
            <a:ext cx="5501488" cy="1943100"/>
          </a:xfrm>
          <a:prstGeom prst="roundRect">
            <a:avLst>
              <a:gd name="adj" fmla="val 5647"/>
            </a:avLst>
          </a:prstGeom>
          <a:solidFill>
            <a:schemeClr val="bg1"/>
          </a:solidFill>
          <a:ln w="12700">
            <a:solidFill>
              <a:schemeClr val="accent6"/>
            </a:solidFill>
            <a:prstDash val="solid"/>
          </a:ln>
        </p:spPr>
      </p:sp>
      <p:sp>
        <p:nvSpPr>
          <p:cNvPr id="12" name="Check 3 icon circle"/>
          <p:cNvSpPr/>
          <p:nvPr/>
        </p:nvSpPr>
        <p:spPr>
          <a:xfrm>
            <a:off x="685800" y="3863340"/>
            <a:ext cx="640080" cy="640080"/>
          </a:xfrm>
          <a:prstGeom prst="ellipse">
            <a:avLst/>
          </a:prstGeom>
          <a:solidFill>
            <a:schemeClr val="accent4"/>
          </a:solidFill>
          <a:ln/>
        </p:spPr>
      </p:sp>
      <p:pic>
        <p:nvPicPr>
          <p:cNvPr id="13" name="Check 3 icon glyph" descr="warning icon">    </p:cNvPr>
          <p:cNvPicPr>
            <a:picLocks noChangeAspect="1"/>
          </p:cNvPicPr>
          <p:nvPr/>
        </p:nvPicPr>
        <p:blipFill>
          <a:blip r:embed="rId3"/>
          <a:stretch>
            <a:fillRect/>
          </a:stretch>
        </p:blipFill>
        <p:spPr>
          <a:xfrm>
            <a:off x="845820" y="4023360"/>
            <a:ext cx="320040" cy="320040"/>
          </a:xfrm>
          <a:prstGeom prst="rect">
            <a:avLst/>
          </a:prstGeom>
        </p:spPr>
      </p:pic>
      <p:sp>
        <p:nvSpPr>
          <p:cNvPr id="14" name="Check 3 text"/>
          <p:cNvSpPr txBox="1"/>
          <p:nvPr/>
        </p:nvSpPr>
        <p:spPr>
          <a:xfrm>
            <a:off x="1508760" y="3863340"/>
            <a:ext cx="4221328" cy="1485900"/>
          </a:xfrm>
          <a:prstGeom prst="rect">
            <a:avLst/>
          </a:prstGeom>
          <a:noFill/>
          <a:ln/>
        </p:spPr>
        <p:txBody>
          <a:bodyPr wrap="square" lIns="0" tIns="0" rIns="0" bIns="0" rtlCol="0" anchor="t"/>
          <a:lstStyle/>
          <a:p>
            <a:pPr algn="l" indent="0" marL="0">
              <a:spcAft>
                <a:spcPts val="300"/>
              </a:spcAft>
              <a:buNone/>
            </a:pPr>
            <a:r>
              <a:rPr lang="en-US" sz="2000" b="1" dirty="0">
                <a:solidFill>
                  <a:schemeClr val="tx2"/>
                </a:solidFill>
              </a:rPr>
              <a:t>Sphere center off</a:t>
            </a:r>
            <a:endParaRPr lang="en-US" sz="1600" dirty="0"/>
          </a:p>
          <a:p>
            <a:pPr algn="l" indent="0" marL="0">
              <a:spcAft>
                <a:spcPts val="300"/>
              </a:spcAft>
              <a:buNone/>
            </a:pPr>
            <a:r>
              <a:rPr lang="en-US" sz="1800" b="1" dirty="0">
                <a:solidFill>
                  <a:schemeClr val="accent1"/>
                </a:solidFill>
              </a:rPr>
              <a:t>more than 2 mm</a:t>
            </a:r>
            <a:endParaRPr lang="en-US" sz="1600" dirty="0"/>
          </a:p>
          <a:p>
            <a:pPr algn="l" indent="0" marL="0">
              <a:buNone/>
            </a:pPr>
            <a:r>
              <a:rPr lang="en-US" sz="1600" dirty="0">
                <a:solidFill>
                  <a:schemeClr val="tx1"/>
                </a:solidFill>
              </a:rPr>
              <a:t>One pose: position copied wrongly. One sphere: wrong TCP. Growing across the volume: base frame or robot accuracy</a:t>
            </a:r>
            <a:endParaRPr lang="en-US" sz="1600" dirty="0"/>
          </a:p>
        </p:txBody>
      </p:sp>
      <p:sp>
        <p:nvSpPr>
          <p:cNvPr id="15" name="Check 4 card"/>
          <p:cNvSpPr/>
          <p:nvPr/>
        </p:nvSpPr>
        <p:spPr>
          <a:xfrm>
            <a:off x="6233008" y="3634740"/>
            <a:ext cx="5501488" cy="1943100"/>
          </a:xfrm>
          <a:prstGeom prst="roundRect">
            <a:avLst>
              <a:gd name="adj" fmla="val 5647"/>
            </a:avLst>
          </a:prstGeom>
          <a:solidFill>
            <a:schemeClr val="bg1"/>
          </a:solidFill>
          <a:ln w="12700">
            <a:solidFill>
              <a:schemeClr val="accent6"/>
            </a:solidFill>
            <a:prstDash val="solid"/>
          </a:ln>
        </p:spPr>
      </p:sp>
      <p:sp>
        <p:nvSpPr>
          <p:cNvPr id="16" name="Check 4 icon circle"/>
          <p:cNvSpPr/>
          <p:nvPr/>
        </p:nvSpPr>
        <p:spPr>
          <a:xfrm>
            <a:off x="6461608" y="3863340"/>
            <a:ext cx="640080" cy="640080"/>
          </a:xfrm>
          <a:prstGeom prst="ellipse">
            <a:avLst/>
          </a:prstGeom>
          <a:solidFill>
            <a:schemeClr val="accent4"/>
          </a:solidFill>
          <a:ln/>
        </p:spPr>
      </p:sp>
      <p:pic>
        <p:nvPicPr>
          <p:cNvPr id="17" name="Check 4 icon glyph" descr="warning icon">    </p:cNvPr>
          <p:cNvPicPr>
            <a:picLocks noChangeAspect="1"/>
          </p:cNvPicPr>
          <p:nvPr/>
        </p:nvPicPr>
        <p:blipFill>
          <a:blip r:embed="rId4"/>
          <a:stretch>
            <a:fillRect/>
          </a:stretch>
        </p:blipFill>
        <p:spPr>
          <a:xfrm>
            <a:off x="6621628" y="4023360"/>
            <a:ext cx="320040" cy="320040"/>
          </a:xfrm>
          <a:prstGeom prst="rect">
            <a:avLst/>
          </a:prstGeom>
        </p:spPr>
      </p:pic>
      <p:sp>
        <p:nvSpPr>
          <p:cNvPr id="18" name="Check 4 text"/>
          <p:cNvSpPr txBox="1"/>
          <p:nvPr/>
        </p:nvSpPr>
        <p:spPr>
          <a:xfrm>
            <a:off x="7284568" y="3863340"/>
            <a:ext cx="4221328" cy="1485900"/>
          </a:xfrm>
          <a:prstGeom prst="rect">
            <a:avLst/>
          </a:prstGeom>
          <a:noFill/>
          <a:ln/>
        </p:spPr>
        <p:txBody>
          <a:bodyPr wrap="square" lIns="0" tIns="0" rIns="0" bIns="0" rtlCol="0" anchor="t"/>
          <a:lstStyle/>
          <a:p>
            <a:pPr algn="l" indent="0" marL="0">
              <a:spcAft>
                <a:spcPts val="300"/>
              </a:spcAft>
              <a:buNone/>
            </a:pPr>
            <a:r>
              <a:rPr lang="en-US" sz="2000" b="1" dirty="0">
                <a:solidFill>
                  <a:schemeClr val="tx2"/>
                </a:solidFill>
              </a:rPr>
              <a:t>Board normal off</a:t>
            </a:r>
            <a:endParaRPr lang="en-US" sz="1600" dirty="0"/>
          </a:p>
          <a:p>
            <a:pPr algn="l" indent="0" marL="0">
              <a:spcAft>
                <a:spcPts val="300"/>
              </a:spcAft>
              <a:buNone/>
            </a:pPr>
            <a:r>
              <a:rPr lang="en-US" sz="1800" b="1" dirty="0">
                <a:solidFill>
                  <a:schemeClr val="accent1"/>
                </a:solidFill>
              </a:rPr>
              <a:t>more than 2 degrees</a:t>
            </a:r>
            <a:endParaRPr lang="en-US" sz="1600" dirty="0"/>
          </a:p>
          <a:p>
            <a:pPr algn="l" indent="0" marL="0">
              <a:buNone/>
            </a:pPr>
            <a:r>
              <a:rPr lang="en-US" sz="1600" dirty="0">
                <a:solidFill>
                  <a:schemeClr val="tx1"/>
                </a:solidFill>
              </a:rPr>
              <a:t>Board tool frame orientation wrong, or the rotation type in the log is misnamed</a:t>
            </a:r>
            <a:endParaRPr lang="en-US" sz="1600" dirty="0"/>
          </a:p>
        </p:txBody>
      </p:sp>
      <p:sp>
        <p:nvSpPr>
          <p:cNvPr id="19" name="Checks caption"/>
          <p:cNvSpPr txBox="1"/>
          <p:nvPr/>
        </p:nvSpPr>
        <p:spPr>
          <a:xfrm>
            <a:off x="457200" y="5852160"/>
            <a:ext cx="11277295" cy="274320"/>
          </a:xfrm>
          <a:prstGeom prst="rect">
            <a:avLst/>
          </a:prstGeom>
          <a:noFill/>
          <a:ln/>
        </p:spPr>
        <p:txBody>
          <a:bodyPr wrap="square" lIns="0" tIns="0" rIns="0" bIns="0" rtlCol="0" anchor="b"/>
          <a:lstStyle/>
          <a:p>
            <a:pPr algn="l" indent="0" marL="0">
              <a:buNone/>
            </a:pPr>
            <a:r>
              <a:rPr lang="en-US" sz="1200" dirty="0">
                <a:solidFill>
                  <a:schemeClr val="accent5"/>
                </a:solidFill>
              </a:rPr>
              <a:t>Re-capture a flagged pose under a new id, for example s038_z0425_017r; never delete lines from the log.</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Two shape checks test the corrected surfaces</a:t>
            </a:r>
            <a:endParaRPr lang="en-US" sz="3400" dirty="0"/>
          </a:p>
        </p:txBody>
      </p:sp>
      <p:sp>
        <p:nvSpPr>
          <p:cNvPr id="3" name="Column 1 card"/>
          <p:cNvSpPr/>
          <p:nvPr/>
        </p:nvSpPr>
        <p:spPr>
          <a:xfrm>
            <a:off x="457200" y="1417320"/>
            <a:ext cx="5501488" cy="3246120"/>
          </a:xfrm>
          <a:prstGeom prst="roundRect">
            <a:avLst>
              <a:gd name="adj" fmla="val 3380"/>
            </a:avLst>
          </a:prstGeom>
          <a:solidFill>
            <a:schemeClr val="bg2"/>
          </a:solidFill>
          <a:ln/>
        </p:spPr>
      </p:sp>
      <p:sp>
        <p:nvSpPr>
          <p:cNvPr id="4" name="Column 1 icon circle"/>
          <p:cNvSpPr/>
          <p:nvPr/>
        </p:nvSpPr>
        <p:spPr>
          <a:xfrm>
            <a:off x="685800" y="1645920"/>
            <a:ext cx="640080" cy="640080"/>
          </a:xfrm>
          <a:prstGeom prst="ellipse">
            <a:avLst/>
          </a:prstGeom>
          <a:solidFill>
            <a:schemeClr val="accent2"/>
          </a:solidFill>
          <a:ln/>
        </p:spPr>
      </p:sp>
      <p:pic>
        <p:nvPicPr>
          <p:cNvPr id="5" name="Column 1 icon glyph" descr="circle icon">    </p:cNvPr>
          <p:cNvPicPr>
            <a:picLocks noChangeAspect="1"/>
          </p:cNvPicPr>
          <p:nvPr/>
        </p:nvPicPr>
        <p:blipFill>
          <a:blip r:embed="rId1"/>
          <a:stretch>
            <a:fillRect/>
          </a:stretch>
        </p:blipFill>
        <p:spPr>
          <a:xfrm>
            <a:off x="845820" y="1805940"/>
            <a:ext cx="320040" cy="320040"/>
          </a:xfrm>
          <a:prstGeom prst="rect">
            <a:avLst/>
          </a:prstGeom>
        </p:spPr>
      </p:pic>
      <p:sp>
        <p:nvSpPr>
          <p:cNvPr id="6" name="Column 1 head"/>
          <p:cNvSpPr txBox="1"/>
          <p:nvPr/>
        </p:nvSpPr>
        <p:spPr>
          <a:xfrm>
            <a:off x="1508760" y="1645920"/>
            <a:ext cx="4221328" cy="640080"/>
          </a:xfrm>
          <a:prstGeom prst="rect">
            <a:avLst/>
          </a:prstGeom>
          <a:noFill/>
          <a:ln/>
        </p:spPr>
        <p:txBody>
          <a:bodyPr wrap="square" lIns="0" tIns="0" rIns="0" bIns="0" rtlCol="0" anchor="ctr"/>
          <a:lstStyle/>
          <a:p>
            <a:pPr algn="l" indent="0" marL="0">
              <a:buNone/>
            </a:pPr>
            <a:r>
              <a:rPr lang="en-US" sz="2000" b="1" dirty="0">
                <a:solidFill>
                  <a:schemeClr val="tx2"/>
                </a:solidFill>
                <a:latin typeface="+mj-lt" pitchFamily="34" charset="0"/>
                <a:ea typeface="+mj-lt" pitchFamily="34" charset="-122"/>
                <a:cs typeface="+mj-lt" pitchFamily="34" charset="-120"/>
              </a:rPr>
              <a:t>Sphere shape</a:t>
            </a:r>
            <a:endParaRPr lang="en-US" sz="2000" dirty="0"/>
          </a:p>
        </p:txBody>
      </p:sp>
      <p:sp>
        <p:nvSpPr>
          <p:cNvPr id="7" name="Column 1 points"/>
          <p:cNvSpPr txBox="1"/>
          <p:nvPr/>
        </p:nvSpPr>
        <p:spPr>
          <a:xfrm>
            <a:off x="685800" y="2468880"/>
            <a:ext cx="5044288" cy="1965960"/>
          </a:xfrm>
          <a:prstGeom prst="rect">
            <a:avLst/>
          </a:prstGeom>
          <a:noFill/>
          <a:ln/>
        </p:spPr>
        <p:txBody>
          <a:bodyPr wrap="square" lIns="0" tIns="0" rIns="0" bIns="0" rtlCol="0" anchor="t"/>
          <a:lstStyle/>
          <a:p>
            <a:pPr algn="l" marL="177800" indent="-177800">
              <a:spcAft>
                <a:spcPts val="1200"/>
              </a:spcAft>
              <a:buSzPct val="100000"/>
              <a:buChar char="•"/>
            </a:pPr>
            <a:r>
              <a:rPr lang="en-US" sz="1800" dirty="0">
                <a:solidFill>
                  <a:schemeClr val="tx1"/>
                </a:solidFill>
              </a:rPr>
              <a:t>Each held-out sphere is fitted with its radius free</a:t>
            </a:r>
            <a:endParaRPr lang="en-US" sz="1800" dirty="0"/>
          </a:p>
          <a:p>
            <a:pPr algn="l" marL="177800" indent="-177800">
              <a:spcAft>
                <a:spcPts val="1200"/>
              </a:spcAft>
              <a:buSzPct val="100000"/>
              <a:buChar char="•"/>
            </a:pPr>
            <a:r>
              <a:rPr lang="en-US" sz="1800" dirty="0">
                <a:solidFill>
                  <a:schemeClr val="tx1"/>
                </a:solidFill>
              </a:rPr>
              <a:t>After correction the fitted radius should match the measured radius</a:t>
            </a:r>
            <a:endParaRPr lang="en-US" sz="1800" dirty="0"/>
          </a:p>
          <a:p>
            <a:pPr algn="l" marL="177800" indent="-177800">
              <a:spcAft>
                <a:spcPts val="1200"/>
              </a:spcAft>
              <a:buSzPct val="100000"/>
              <a:buChar char="•"/>
            </a:pPr>
            <a:r>
              <a:rPr lang="en-US" sz="1800" dirty="0">
                <a:solidFill>
                  <a:schemeClr val="tx1"/>
                </a:solidFill>
              </a:rPr>
              <a:t>Judge each error against its standard error, which is large for a small or distant sphere</a:t>
            </a:r>
            <a:endParaRPr lang="en-US" sz="1800" dirty="0"/>
          </a:p>
        </p:txBody>
      </p:sp>
      <p:sp>
        <p:nvSpPr>
          <p:cNvPr id="8" name="Column 2 card"/>
          <p:cNvSpPr/>
          <p:nvPr/>
        </p:nvSpPr>
        <p:spPr>
          <a:xfrm>
            <a:off x="6233008" y="1417320"/>
            <a:ext cx="5501488" cy="3246120"/>
          </a:xfrm>
          <a:prstGeom prst="roundRect">
            <a:avLst>
              <a:gd name="adj" fmla="val 3380"/>
            </a:avLst>
          </a:prstGeom>
          <a:solidFill>
            <a:schemeClr val="bg2"/>
          </a:solidFill>
          <a:ln/>
        </p:spPr>
      </p:sp>
      <p:sp>
        <p:nvSpPr>
          <p:cNvPr id="9" name="Column 2 icon circle"/>
          <p:cNvSpPr/>
          <p:nvPr/>
        </p:nvSpPr>
        <p:spPr>
          <a:xfrm>
            <a:off x="6461608" y="1645920"/>
            <a:ext cx="640080" cy="640080"/>
          </a:xfrm>
          <a:prstGeom prst="ellipse">
            <a:avLst/>
          </a:prstGeom>
          <a:solidFill>
            <a:schemeClr val="accent2"/>
          </a:solidFill>
          <a:ln/>
        </p:spPr>
      </p:sp>
      <p:pic>
        <p:nvPicPr>
          <p:cNvPr id="10" name="Column 2 icon glyph" descr="square icon">    </p:cNvPr>
          <p:cNvPicPr>
            <a:picLocks noChangeAspect="1"/>
          </p:cNvPicPr>
          <p:nvPr/>
        </p:nvPicPr>
        <p:blipFill>
          <a:blip r:embed="rId2"/>
          <a:stretch>
            <a:fillRect/>
          </a:stretch>
        </p:blipFill>
        <p:spPr>
          <a:xfrm>
            <a:off x="6621628" y="1805940"/>
            <a:ext cx="320040" cy="320040"/>
          </a:xfrm>
          <a:prstGeom prst="rect">
            <a:avLst/>
          </a:prstGeom>
        </p:spPr>
      </p:pic>
      <p:sp>
        <p:nvSpPr>
          <p:cNvPr id="11" name="Column 2 head"/>
          <p:cNvSpPr txBox="1"/>
          <p:nvPr/>
        </p:nvSpPr>
        <p:spPr>
          <a:xfrm>
            <a:off x="7284568" y="1645920"/>
            <a:ext cx="4221328" cy="640080"/>
          </a:xfrm>
          <a:prstGeom prst="rect">
            <a:avLst/>
          </a:prstGeom>
          <a:noFill/>
          <a:ln/>
        </p:spPr>
        <p:txBody>
          <a:bodyPr wrap="square" lIns="0" tIns="0" rIns="0" bIns="0" rtlCol="0" anchor="ctr"/>
          <a:lstStyle/>
          <a:p>
            <a:pPr algn="l" indent="0" marL="0">
              <a:buNone/>
            </a:pPr>
            <a:r>
              <a:rPr lang="en-US" sz="2000" b="1" dirty="0">
                <a:solidFill>
                  <a:schemeClr val="tx2"/>
                </a:solidFill>
                <a:latin typeface="+mj-lt" pitchFamily="34" charset="0"/>
                <a:ea typeface="+mj-lt" pitchFamily="34" charset="-122"/>
                <a:cs typeface="+mj-lt" pitchFamily="34" charset="-120"/>
              </a:rPr>
              <a:t>Board flatness</a:t>
            </a:r>
            <a:endParaRPr lang="en-US" sz="2000" dirty="0"/>
          </a:p>
        </p:txBody>
      </p:sp>
      <p:sp>
        <p:nvSpPr>
          <p:cNvPr id="12" name="Column 2 points"/>
          <p:cNvSpPr txBox="1"/>
          <p:nvPr/>
        </p:nvSpPr>
        <p:spPr>
          <a:xfrm>
            <a:off x="6461608" y="2468880"/>
            <a:ext cx="5044288" cy="1965960"/>
          </a:xfrm>
          <a:prstGeom prst="rect">
            <a:avLst/>
          </a:prstGeom>
          <a:noFill/>
          <a:ln/>
        </p:spPr>
        <p:txBody>
          <a:bodyPr wrap="square" lIns="0" tIns="0" rIns="0" bIns="0" rtlCol="0" anchor="t"/>
          <a:lstStyle/>
          <a:p>
            <a:pPr algn="l" marL="177800" indent="-177800">
              <a:spcAft>
                <a:spcPts val="1200"/>
              </a:spcAft>
              <a:buSzPct val="100000"/>
              <a:buChar char="•"/>
            </a:pPr>
            <a:r>
              <a:rPr lang="en-US" sz="1800" dirty="0">
                <a:solidFill>
                  <a:schemeClr val="tx1"/>
                </a:solidFill>
              </a:rPr>
              <a:t>Each held-out board is fitted with its own plane</a:t>
            </a:r>
            <a:endParaRPr lang="en-US" sz="1800" dirty="0"/>
          </a:p>
          <a:p>
            <a:pPr algn="l" marL="177800" indent="-177800">
              <a:spcAft>
                <a:spcPts val="1200"/>
              </a:spcAft>
              <a:buSzPct val="100000"/>
              <a:buChar char="•"/>
            </a:pPr>
            <a:r>
              <a:rPr lang="en-US" sz="1800" dirty="0">
                <a:solidFill>
                  <a:schemeClr val="tx1"/>
                </a:solidFill>
              </a:rPr>
              <a:t>After correction the spread should fall toward the plate's flatness</a:t>
            </a:r>
            <a:endParaRPr lang="en-US" sz="1800" dirty="0"/>
          </a:p>
          <a:p>
            <a:pPr algn="l" marL="177800" indent="-177800">
              <a:spcAft>
                <a:spcPts val="1200"/>
              </a:spcAft>
              <a:buSzPct val="100000"/>
              <a:buChar char="•"/>
            </a:pPr>
            <a:r>
              <a:rPr lang="en-US" sz="1800" dirty="0">
                <a:solidFill>
                  <a:schemeClr val="tx1"/>
                </a:solidFill>
              </a:rPr>
              <a:t>Sees only errors that bend the board; mainly catches the fixed pattern</a:t>
            </a:r>
            <a:endParaRPr lang="en-US" sz="1800" dirty="0"/>
          </a:p>
        </p:txBody>
      </p:sp>
      <p:sp>
        <p:nvSpPr>
          <p:cNvPr id="13" name="Message box"/>
          <p:cNvSpPr/>
          <p:nvPr/>
        </p:nvSpPr>
        <p:spPr>
          <a:xfrm>
            <a:off x="457200" y="4937760"/>
            <a:ext cx="11277295" cy="1188720"/>
          </a:xfrm>
          <a:prstGeom prst="roundRect">
            <a:avLst>
              <a:gd name="adj" fmla="val 9231"/>
            </a:avLst>
          </a:prstGeom>
          <a:solidFill>
            <a:schemeClr val="bg1"/>
          </a:solidFill>
          <a:ln w="25400">
            <a:solidFill>
              <a:schemeClr val="accent4"/>
            </a:solidFill>
            <a:prstDash val="solid"/>
          </a:ln>
        </p:spPr>
      </p:sp>
      <p:sp>
        <p:nvSpPr>
          <p:cNvPr id="14" name="Message icon circle"/>
          <p:cNvSpPr/>
          <p:nvPr/>
        </p:nvSpPr>
        <p:spPr>
          <a:xfrm>
            <a:off x="685800" y="5212080"/>
            <a:ext cx="640080" cy="640080"/>
          </a:xfrm>
          <a:prstGeom prst="ellipse">
            <a:avLst/>
          </a:prstGeom>
          <a:solidFill>
            <a:schemeClr val="accent4"/>
          </a:solidFill>
          <a:ln/>
        </p:spPr>
      </p:sp>
      <p:pic>
        <p:nvPicPr>
          <p:cNvPr id="15" name="Message icon glyph" descr="warning icon">    </p:cNvPr>
          <p:cNvPicPr>
            <a:picLocks noChangeAspect="1"/>
          </p:cNvPicPr>
          <p:nvPr/>
        </p:nvPicPr>
        <p:blipFill>
          <a:blip r:embed="rId3"/>
          <a:stretch>
            <a:fillRect/>
          </a:stretch>
        </p:blipFill>
        <p:spPr>
          <a:xfrm>
            <a:off x="845820" y="5372100"/>
            <a:ext cx="320040" cy="320040"/>
          </a:xfrm>
          <a:prstGeom prst="rect">
            <a:avLst/>
          </a:prstGeom>
        </p:spPr>
      </p:pic>
      <p:sp>
        <p:nvSpPr>
          <p:cNvPr id="16" name="Key message"/>
          <p:cNvSpPr txBox="1"/>
          <p:nvPr/>
        </p:nvSpPr>
        <p:spPr>
          <a:xfrm>
            <a:off x="1508760" y="4937760"/>
            <a:ext cx="9997135" cy="1188720"/>
          </a:xfrm>
          <a:prstGeom prst="rect">
            <a:avLst/>
          </a:prstGeom>
          <a:noFill/>
          <a:ln/>
        </p:spPr>
        <p:txBody>
          <a:bodyPr wrap="square" lIns="0" tIns="0" rIns="0" bIns="0" rtlCol="0" anchor="ctr"/>
          <a:lstStyle/>
          <a:p>
            <a:pPr algn="l" indent="0" marL="0">
              <a:buNone/>
            </a:pPr>
            <a:r>
              <a:rPr lang="en-US" sz="1800" b="1" dirty="0">
                <a:solidFill>
                  <a:schemeClr val="tx2"/>
                </a:solidFill>
              </a:rPr>
              <a:t>Neither check tests the scale of the volume or a smooth robot error; those rest on the robot's 0.1 mm accuracy.</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Seven things that spoil a session</a:t>
            </a:r>
            <a:endParaRPr lang="en-US" sz="3400" dirty="0"/>
          </a:p>
        </p:txBody>
      </p:sp>
      <p:sp>
        <p:nvSpPr>
          <p:cNvPr id="3" name="Spoiler column 1 row 1 card"/>
          <p:cNvSpPr/>
          <p:nvPr/>
        </p:nvSpPr>
        <p:spPr>
          <a:xfrm>
            <a:off x="457200" y="1417320"/>
            <a:ext cx="5501488" cy="971550"/>
          </a:xfrm>
          <a:prstGeom prst="roundRect">
            <a:avLst>
              <a:gd name="adj" fmla="val 11294"/>
            </a:avLst>
          </a:prstGeom>
          <a:solidFill>
            <a:schemeClr val="bg2"/>
          </a:solidFill>
          <a:ln/>
        </p:spPr>
      </p:sp>
      <p:sp>
        <p:nvSpPr>
          <p:cNvPr id="4" name="Spoiler column 1 icon 1 circle"/>
          <p:cNvSpPr/>
          <p:nvPr/>
        </p:nvSpPr>
        <p:spPr>
          <a:xfrm>
            <a:off x="640080" y="1605915"/>
            <a:ext cx="594360" cy="594360"/>
          </a:xfrm>
          <a:prstGeom prst="ellipse">
            <a:avLst/>
          </a:prstGeom>
          <a:solidFill>
            <a:schemeClr val="accent4"/>
          </a:solidFill>
          <a:ln/>
        </p:spPr>
      </p:sp>
      <p:pic>
        <p:nvPicPr>
          <p:cNvPr id="5" name="Spoiler column 1 icon 1 glyph" descr="move icon">    </p:cNvPr>
          <p:cNvPicPr>
            <a:picLocks noChangeAspect="1"/>
          </p:cNvPicPr>
          <p:nvPr/>
        </p:nvPicPr>
        <p:blipFill>
          <a:blip r:embed="rId1"/>
          <a:stretch>
            <a:fillRect/>
          </a:stretch>
        </p:blipFill>
        <p:spPr>
          <a:xfrm>
            <a:off x="788670" y="1754505"/>
            <a:ext cx="297180" cy="297180"/>
          </a:xfrm>
          <a:prstGeom prst="rect">
            <a:avLst/>
          </a:prstGeom>
        </p:spPr>
      </p:pic>
      <p:sp>
        <p:nvSpPr>
          <p:cNvPr id="6" name="Spoiler column 1 text 1"/>
          <p:cNvSpPr txBox="1"/>
          <p:nvPr/>
        </p:nvSpPr>
        <p:spPr>
          <a:xfrm>
            <a:off x="1417320" y="1417320"/>
            <a:ext cx="4358488" cy="971550"/>
          </a:xfrm>
          <a:prstGeom prst="rect">
            <a:avLst/>
          </a:prstGeom>
          <a:noFill/>
          <a:ln/>
        </p:spPr>
        <p:txBody>
          <a:bodyPr wrap="square" lIns="0" tIns="0" rIns="0" bIns="0" rtlCol="0" anchor="ctr"/>
          <a:lstStyle/>
          <a:p>
            <a:pPr algn="l" indent="0" marL="0">
              <a:buNone/>
            </a:pPr>
            <a:r>
              <a:rPr lang="en-US" sz="1600" dirty="0">
                <a:solidFill>
                  <a:schemeClr val="tx1"/>
                </a:solidFill>
              </a:rPr>
              <a:t>Moving or bumping the sensor: everything after it is a new session</a:t>
            </a:r>
            <a:endParaRPr lang="en-US" sz="1600" dirty="0"/>
          </a:p>
        </p:txBody>
      </p:sp>
      <p:sp>
        <p:nvSpPr>
          <p:cNvPr id="7" name="Spoiler column 1 row 2 card"/>
          <p:cNvSpPr/>
          <p:nvPr/>
        </p:nvSpPr>
        <p:spPr>
          <a:xfrm>
            <a:off x="457200" y="2663190"/>
            <a:ext cx="5501488" cy="971550"/>
          </a:xfrm>
          <a:prstGeom prst="roundRect">
            <a:avLst>
              <a:gd name="adj" fmla="val 11294"/>
            </a:avLst>
          </a:prstGeom>
          <a:solidFill>
            <a:schemeClr val="bg2"/>
          </a:solidFill>
          <a:ln/>
        </p:spPr>
      </p:sp>
      <p:sp>
        <p:nvSpPr>
          <p:cNvPr id="8" name="Spoiler column 1 icon 2 circle"/>
          <p:cNvSpPr/>
          <p:nvPr/>
        </p:nvSpPr>
        <p:spPr>
          <a:xfrm>
            <a:off x="640080" y="2851785"/>
            <a:ext cx="594360" cy="594360"/>
          </a:xfrm>
          <a:prstGeom prst="ellipse">
            <a:avLst/>
          </a:prstGeom>
          <a:solidFill>
            <a:schemeClr val="accent4"/>
          </a:solidFill>
          <a:ln/>
        </p:spPr>
      </p:sp>
      <p:pic>
        <p:nvPicPr>
          <p:cNvPr id="9" name="Spoiler column 1 icon 2 glyph" descr="sliders icon">    </p:cNvPr>
          <p:cNvPicPr>
            <a:picLocks noChangeAspect="1"/>
          </p:cNvPicPr>
          <p:nvPr/>
        </p:nvPicPr>
        <p:blipFill>
          <a:blip r:embed="rId2"/>
          <a:stretch>
            <a:fillRect/>
          </a:stretch>
        </p:blipFill>
        <p:spPr>
          <a:xfrm>
            <a:off x="788670" y="3000375"/>
            <a:ext cx="297180" cy="297180"/>
          </a:xfrm>
          <a:prstGeom prst="rect">
            <a:avLst/>
          </a:prstGeom>
        </p:spPr>
      </p:pic>
      <p:sp>
        <p:nvSpPr>
          <p:cNvPr id="10" name="Spoiler column 1 text 2"/>
          <p:cNvSpPr txBox="1"/>
          <p:nvPr/>
        </p:nvSpPr>
        <p:spPr>
          <a:xfrm>
            <a:off x="1417320" y="2663190"/>
            <a:ext cx="4358488" cy="971550"/>
          </a:xfrm>
          <a:prstGeom prst="rect">
            <a:avLst/>
          </a:prstGeom>
          <a:noFill/>
          <a:ln/>
        </p:spPr>
        <p:txBody>
          <a:bodyPr wrap="square" lIns="0" tIns="0" rIns="0" bIns="0" rtlCol="0" anchor="ctr"/>
          <a:lstStyle/>
          <a:p>
            <a:pPr algn="l" indent="0" marL="0">
              <a:buNone/>
            </a:pPr>
            <a:r>
              <a:rPr lang="en-US" sz="1600" dirty="0">
                <a:solidFill>
                  <a:schemeClr val="tx1"/>
                </a:solidFill>
              </a:rPr>
              <a:t>Changing exposure, gain or the base frame mid-session</a:t>
            </a:r>
            <a:endParaRPr lang="en-US" sz="1600" dirty="0"/>
          </a:p>
        </p:txBody>
      </p:sp>
      <p:sp>
        <p:nvSpPr>
          <p:cNvPr id="11" name="Spoiler column 1 row 3 card"/>
          <p:cNvSpPr/>
          <p:nvPr/>
        </p:nvSpPr>
        <p:spPr>
          <a:xfrm>
            <a:off x="457200" y="3909060"/>
            <a:ext cx="5501488" cy="971550"/>
          </a:xfrm>
          <a:prstGeom prst="roundRect">
            <a:avLst>
              <a:gd name="adj" fmla="val 11294"/>
            </a:avLst>
          </a:prstGeom>
          <a:solidFill>
            <a:schemeClr val="bg2"/>
          </a:solidFill>
          <a:ln/>
        </p:spPr>
      </p:sp>
      <p:sp>
        <p:nvSpPr>
          <p:cNvPr id="12" name="Spoiler column 1 icon 3 circle"/>
          <p:cNvSpPr/>
          <p:nvPr/>
        </p:nvSpPr>
        <p:spPr>
          <a:xfrm>
            <a:off x="640080" y="4097655"/>
            <a:ext cx="594360" cy="594360"/>
          </a:xfrm>
          <a:prstGeom prst="ellipse">
            <a:avLst/>
          </a:prstGeom>
          <a:solidFill>
            <a:schemeClr val="accent4"/>
          </a:solidFill>
          <a:ln/>
        </p:spPr>
      </p:sp>
      <p:pic>
        <p:nvPicPr>
          <p:cNvPr id="13" name="Spoiler column 1 icon 3 glyph" descr="edit icon">    </p:cNvPr>
          <p:cNvPicPr>
            <a:picLocks noChangeAspect="1"/>
          </p:cNvPicPr>
          <p:nvPr/>
        </p:nvPicPr>
        <p:blipFill>
          <a:blip r:embed="rId3"/>
          <a:stretch>
            <a:fillRect/>
          </a:stretch>
        </p:blipFill>
        <p:spPr>
          <a:xfrm>
            <a:off x="788670" y="4246245"/>
            <a:ext cx="297180" cy="297180"/>
          </a:xfrm>
          <a:prstGeom prst="rect">
            <a:avLst/>
          </a:prstGeom>
        </p:spPr>
      </p:pic>
      <p:sp>
        <p:nvSpPr>
          <p:cNvPr id="14" name="Spoiler column 1 text 3"/>
          <p:cNvSpPr txBox="1"/>
          <p:nvPr/>
        </p:nvSpPr>
        <p:spPr>
          <a:xfrm>
            <a:off x="1417320" y="3909060"/>
            <a:ext cx="4358488" cy="971550"/>
          </a:xfrm>
          <a:prstGeom prst="rect">
            <a:avLst/>
          </a:prstGeom>
          <a:noFill/>
          <a:ln/>
        </p:spPr>
        <p:txBody>
          <a:bodyPr wrap="square" lIns="0" tIns="0" rIns="0" bIns="0" rtlCol="0" anchor="ctr"/>
          <a:lstStyle/>
          <a:p>
            <a:pPr algn="l" indent="0" marL="0">
              <a:buNone/>
            </a:pPr>
            <a:r>
              <a:rPr lang="en-US" sz="1600" dirty="0">
                <a:solidFill>
                  <a:schemeClr val="tx1"/>
                </a:solidFill>
              </a:rPr>
              <a:t>Logging the commanded pose instead of the reported pose</a:t>
            </a:r>
            <a:endParaRPr lang="en-US" sz="1600" dirty="0"/>
          </a:p>
        </p:txBody>
      </p:sp>
      <p:sp>
        <p:nvSpPr>
          <p:cNvPr id="15" name="Spoiler column 1 row 4 card"/>
          <p:cNvSpPr/>
          <p:nvPr/>
        </p:nvSpPr>
        <p:spPr>
          <a:xfrm>
            <a:off x="457200" y="5154930"/>
            <a:ext cx="5501488" cy="971550"/>
          </a:xfrm>
          <a:prstGeom prst="roundRect">
            <a:avLst>
              <a:gd name="adj" fmla="val 11294"/>
            </a:avLst>
          </a:prstGeom>
          <a:solidFill>
            <a:schemeClr val="bg2"/>
          </a:solidFill>
          <a:ln/>
        </p:spPr>
      </p:sp>
      <p:sp>
        <p:nvSpPr>
          <p:cNvPr id="16" name="Spoiler column 1 icon 4 circle"/>
          <p:cNvSpPr/>
          <p:nvPr/>
        </p:nvSpPr>
        <p:spPr>
          <a:xfrm>
            <a:off x="640080" y="5343525"/>
            <a:ext cx="594360" cy="594360"/>
          </a:xfrm>
          <a:prstGeom prst="ellipse">
            <a:avLst/>
          </a:prstGeom>
          <a:solidFill>
            <a:schemeClr val="accent4"/>
          </a:solidFill>
          <a:ln/>
        </p:spPr>
      </p:sp>
      <p:pic>
        <p:nvPicPr>
          <p:cNvPr id="17" name="Spoiler column 1 icon 4 glyph" descr="tool icon">    </p:cNvPr>
          <p:cNvPicPr>
            <a:picLocks noChangeAspect="1"/>
          </p:cNvPicPr>
          <p:nvPr/>
        </p:nvPicPr>
        <p:blipFill>
          <a:blip r:embed="rId4"/>
          <a:stretch>
            <a:fillRect/>
          </a:stretch>
        </p:blipFill>
        <p:spPr>
          <a:xfrm>
            <a:off x="788670" y="5492115"/>
            <a:ext cx="297180" cy="297180"/>
          </a:xfrm>
          <a:prstGeom prst="rect">
            <a:avLst/>
          </a:prstGeom>
        </p:spPr>
      </p:pic>
      <p:sp>
        <p:nvSpPr>
          <p:cNvPr id="18" name="Spoiler column 1 text 4"/>
          <p:cNvSpPr txBox="1"/>
          <p:nvPr/>
        </p:nvSpPr>
        <p:spPr>
          <a:xfrm>
            <a:off x="1417320" y="5154930"/>
            <a:ext cx="4358488" cy="971550"/>
          </a:xfrm>
          <a:prstGeom prst="rect">
            <a:avLst/>
          </a:prstGeom>
          <a:noFill/>
          <a:ln/>
        </p:spPr>
        <p:txBody>
          <a:bodyPr wrap="square" lIns="0" tIns="0" rIns="0" bIns="0" rtlCol="0" anchor="ctr"/>
          <a:lstStyle/>
          <a:p>
            <a:pPr algn="l" indent="0" marL="0">
              <a:buNone/>
            </a:pPr>
            <a:r>
              <a:rPr lang="en-US" sz="1600" dirty="0">
                <a:solidFill>
                  <a:schemeClr val="tx1"/>
                </a:solidFill>
              </a:rPr>
              <a:t>A loose adapter or a bent stem: roll the stem on a flat surface first</a:t>
            </a:r>
            <a:endParaRPr lang="en-US" sz="1600" dirty="0"/>
          </a:p>
        </p:txBody>
      </p:sp>
      <p:sp>
        <p:nvSpPr>
          <p:cNvPr id="19" name="Spoiler column 2 row 1 card"/>
          <p:cNvSpPr/>
          <p:nvPr/>
        </p:nvSpPr>
        <p:spPr>
          <a:xfrm>
            <a:off x="6233008" y="1417320"/>
            <a:ext cx="5501488" cy="971550"/>
          </a:xfrm>
          <a:prstGeom prst="roundRect">
            <a:avLst>
              <a:gd name="adj" fmla="val 11294"/>
            </a:avLst>
          </a:prstGeom>
          <a:solidFill>
            <a:schemeClr val="bg2"/>
          </a:solidFill>
          <a:ln/>
        </p:spPr>
      </p:sp>
      <p:sp>
        <p:nvSpPr>
          <p:cNvPr id="20" name="Spoiler column 2 icon 1 circle"/>
          <p:cNvSpPr/>
          <p:nvPr/>
        </p:nvSpPr>
        <p:spPr>
          <a:xfrm>
            <a:off x="6415888" y="1605915"/>
            <a:ext cx="594360" cy="594360"/>
          </a:xfrm>
          <a:prstGeom prst="ellipse">
            <a:avLst/>
          </a:prstGeom>
          <a:solidFill>
            <a:schemeClr val="accent4"/>
          </a:solidFill>
          <a:ln/>
        </p:spPr>
      </p:sp>
      <p:pic>
        <p:nvPicPr>
          <p:cNvPr id="21" name="Spoiler column 2 icon 1 glyph" descr="hand icon">    </p:cNvPr>
          <p:cNvPicPr>
            <a:picLocks noChangeAspect="1"/>
          </p:cNvPicPr>
          <p:nvPr/>
        </p:nvPicPr>
        <p:blipFill>
          <a:blip r:embed="rId5"/>
          <a:stretch>
            <a:fillRect/>
          </a:stretch>
        </p:blipFill>
        <p:spPr>
          <a:xfrm>
            <a:off x="6564478" y="1754505"/>
            <a:ext cx="297180" cy="297180"/>
          </a:xfrm>
          <a:prstGeom prst="rect">
            <a:avLst/>
          </a:prstGeom>
        </p:spPr>
      </p:pic>
      <p:sp>
        <p:nvSpPr>
          <p:cNvPr id="22" name="Spoiler column 2 text 1"/>
          <p:cNvSpPr txBox="1"/>
          <p:nvPr/>
        </p:nvSpPr>
        <p:spPr>
          <a:xfrm>
            <a:off x="7193128" y="1417320"/>
            <a:ext cx="4358488" cy="971550"/>
          </a:xfrm>
          <a:prstGeom prst="rect">
            <a:avLst/>
          </a:prstGeom>
          <a:noFill/>
          <a:ln/>
        </p:spPr>
        <p:txBody>
          <a:bodyPr wrap="square" lIns="0" tIns="0" rIns="0" bIns="0" rtlCol="0" anchor="ctr"/>
          <a:lstStyle/>
          <a:p>
            <a:pPr algn="l" indent="0" marL="0">
              <a:buNone/>
            </a:pPr>
            <a:r>
              <a:rPr lang="en-US" sz="1600" dirty="0">
                <a:solidFill>
                  <a:schemeClr val="tx1"/>
                </a:solidFill>
              </a:rPr>
              <a:t>Fingerprints or gloss: wipe the targets with isopropyl alcohol</a:t>
            </a:r>
            <a:endParaRPr lang="en-US" sz="1600" dirty="0"/>
          </a:p>
        </p:txBody>
      </p:sp>
      <p:sp>
        <p:nvSpPr>
          <p:cNvPr id="23" name="Spoiler column 2 row 2 card"/>
          <p:cNvSpPr/>
          <p:nvPr/>
        </p:nvSpPr>
        <p:spPr>
          <a:xfrm>
            <a:off x="6233008" y="2663190"/>
            <a:ext cx="5501488" cy="971550"/>
          </a:xfrm>
          <a:prstGeom prst="roundRect">
            <a:avLst>
              <a:gd name="adj" fmla="val 11294"/>
            </a:avLst>
          </a:prstGeom>
          <a:solidFill>
            <a:schemeClr val="bg2"/>
          </a:solidFill>
          <a:ln/>
        </p:spPr>
      </p:sp>
      <p:sp>
        <p:nvSpPr>
          <p:cNvPr id="24" name="Spoiler column 2 icon 2 circle"/>
          <p:cNvSpPr/>
          <p:nvPr/>
        </p:nvSpPr>
        <p:spPr>
          <a:xfrm>
            <a:off x="6415888" y="2851785"/>
            <a:ext cx="594360" cy="594360"/>
          </a:xfrm>
          <a:prstGeom prst="ellipse">
            <a:avLst/>
          </a:prstGeom>
          <a:solidFill>
            <a:schemeClr val="accent4"/>
          </a:solidFill>
          <a:ln/>
        </p:spPr>
      </p:sp>
      <p:pic>
        <p:nvPicPr>
          <p:cNvPr id="25" name="Spoiler column 2 icon 2 glyph" descr="eye icon">    </p:cNvPr>
          <p:cNvPicPr>
            <a:picLocks noChangeAspect="1"/>
          </p:cNvPicPr>
          <p:nvPr/>
        </p:nvPicPr>
        <p:blipFill>
          <a:blip r:embed="rId6"/>
          <a:stretch>
            <a:fillRect/>
          </a:stretch>
        </p:blipFill>
        <p:spPr>
          <a:xfrm>
            <a:off x="6564478" y="3000375"/>
            <a:ext cx="297180" cy="297180"/>
          </a:xfrm>
          <a:prstGeom prst="rect">
            <a:avLst/>
          </a:prstGeom>
        </p:spPr>
      </p:pic>
      <p:sp>
        <p:nvSpPr>
          <p:cNvPr id="26" name="Spoiler column 2 text 2"/>
          <p:cNvSpPr txBox="1"/>
          <p:nvPr/>
        </p:nvSpPr>
        <p:spPr>
          <a:xfrm>
            <a:off x="7193128" y="2663190"/>
            <a:ext cx="4358488" cy="971550"/>
          </a:xfrm>
          <a:prstGeom prst="rect">
            <a:avLst/>
          </a:prstGeom>
          <a:noFill/>
          <a:ln/>
        </p:spPr>
        <p:txBody>
          <a:bodyPr wrap="square" lIns="0" tIns="0" rIns="0" bIns="0" rtlCol="0" anchor="ctr"/>
          <a:lstStyle/>
          <a:p>
            <a:pPr algn="l" indent="0" marL="0">
              <a:buNone/>
            </a:pPr>
            <a:r>
              <a:rPr lang="en-US" sz="1600" dirty="0">
                <a:solidFill>
                  <a:schemeClr val="tx1"/>
                </a:solidFill>
              </a:rPr>
              <a:t>Letting the stem point toward the sensor: the sphere must hide it</a:t>
            </a:r>
            <a:endParaRPr lang="en-US" sz="1600" dirty="0"/>
          </a:p>
        </p:txBody>
      </p:sp>
      <p:sp>
        <p:nvSpPr>
          <p:cNvPr id="27" name="Spoiler column 2 row 3 card"/>
          <p:cNvSpPr/>
          <p:nvPr/>
        </p:nvSpPr>
        <p:spPr>
          <a:xfrm>
            <a:off x="6233008" y="3909060"/>
            <a:ext cx="5501488" cy="971550"/>
          </a:xfrm>
          <a:prstGeom prst="roundRect">
            <a:avLst>
              <a:gd name="adj" fmla="val 11294"/>
            </a:avLst>
          </a:prstGeom>
          <a:solidFill>
            <a:schemeClr val="bg2"/>
          </a:solidFill>
          <a:ln/>
        </p:spPr>
      </p:sp>
      <p:sp>
        <p:nvSpPr>
          <p:cNvPr id="28" name="Spoiler column 2 icon 3 circle"/>
          <p:cNvSpPr/>
          <p:nvPr/>
        </p:nvSpPr>
        <p:spPr>
          <a:xfrm>
            <a:off x="6415888" y="4097655"/>
            <a:ext cx="594360" cy="594360"/>
          </a:xfrm>
          <a:prstGeom prst="ellipse">
            <a:avLst/>
          </a:prstGeom>
          <a:solidFill>
            <a:schemeClr val="accent4"/>
          </a:solidFill>
          <a:ln/>
        </p:spPr>
      </p:sp>
      <p:pic>
        <p:nvPicPr>
          <p:cNvPr id="29" name="Spoiler column 2 icon 3 glyph" descr="swap icon">    </p:cNvPr>
          <p:cNvPicPr>
            <a:picLocks noChangeAspect="1"/>
          </p:cNvPicPr>
          <p:nvPr/>
        </p:nvPicPr>
        <p:blipFill>
          <a:blip r:embed="rId7"/>
          <a:stretch>
            <a:fillRect/>
          </a:stretch>
        </p:blipFill>
        <p:spPr>
          <a:xfrm>
            <a:off x="6564478" y="4246245"/>
            <a:ext cx="297180" cy="297180"/>
          </a:xfrm>
          <a:prstGeom prst="rect">
            <a:avLst/>
          </a:prstGeom>
        </p:spPr>
      </p:pic>
      <p:sp>
        <p:nvSpPr>
          <p:cNvPr id="30" name="Spoiler column 2 text 3"/>
          <p:cNvSpPr txBox="1"/>
          <p:nvPr/>
        </p:nvSpPr>
        <p:spPr>
          <a:xfrm>
            <a:off x="7193128" y="3909060"/>
            <a:ext cx="4358488" cy="971550"/>
          </a:xfrm>
          <a:prstGeom prst="rect">
            <a:avLst/>
          </a:prstGeom>
          <a:noFill/>
          <a:ln/>
        </p:spPr>
        <p:txBody>
          <a:bodyPr wrap="square" lIns="0" tIns="0" rIns="0" bIns="0" rtlCol="0" anchor="ctr"/>
          <a:lstStyle/>
          <a:p>
            <a:pPr algn="l" indent="0" marL="0">
              <a:buNone/>
            </a:pPr>
            <a:r>
              <a:rPr lang="en-US" sz="1600" dirty="0">
                <a:solidFill>
                  <a:schemeClr val="tx1"/>
                </a:solidFill>
              </a:rPr>
              <a:t>Mixing up the two spheres' radii in the pose log</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What to hand over at the end of the session</a:t>
            </a:r>
            <a:endParaRPr lang="en-US" sz="3400" dirty="0"/>
          </a:p>
        </p:txBody>
      </p:sp>
      <p:pic>
        <p:nvPicPr>
          <p:cNvPr id="3" name="Checklist check 1" descr="check icon">    </p:cNvPr>
          <p:cNvPicPr>
            <a:picLocks noChangeAspect="1"/>
          </p:cNvPicPr>
          <p:nvPr/>
        </p:nvPicPr>
        <p:blipFill>
          <a:blip r:embed="rId1"/>
          <a:stretch>
            <a:fillRect/>
          </a:stretch>
        </p:blipFill>
        <p:spPr>
          <a:xfrm>
            <a:off x="457200" y="1430383"/>
            <a:ext cx="411480" cy="411480"/>
          </a:xfrm>
          <a:prstGeom prst="rect">
            <a:avLst/>
          </a:prstGeom>
        </p:spPr>
      </p:pic>
      <p:sp>
        <p:nvSpPr>
          <p:cNvPr id="4" name="Checklist text 1"/>
          <p:cNvSpPr txBox="1"/>
          <p:nvPr/>
        </p:nvSpPr>
        <p:spPr>
          <a:xfrm>
            <a:off x="1051560" y="1417320"/>
            <a:ext cx="6263640" cy="437606"/>
          </a:xfrm>
          <a:prstGeom prst="rect">
            <a:avLst/>
          </a:prstGeom>
          <a:noFill/>
          <a:ln/>
        </p:spPr>
        <p:txBody>
          <a:bodyPr wrap="square" lIns="0" tIns="0" rIns="0" bIns="0" rtlCol="0" anchor="ctr"/>
          <a:lstStyle/>
          <a:p>
            <a:pPr algn="l" indent="0" marL="0">
              <a:buNone/>
            </a:pPr>
            <a:r>
              <a:rPr lang="en-US" sz="1600" dirty="0">
                <a:solidFill>
                  <a:schemeClr val="tx1"/>
                </a:solidFill>
              </a:rPr>
              <a:t>captures/ with every .mc file, named &lt;pose_id&gt;_Index&lt;nn&gt;.mc</a:t>
            </a:r>
            <a:endParaRPr lang="en-US" sz="1600" dirty="0"/>
          </a:p>
        </p:txBody>
      </p:sp>
      <p:pic>
        <p:nvPicPr>
          <p:cNvPr id="5" name="Checklist check 2" descr="check icon">    </p:cNvPr>
          <p:cNvPicPr>
            <a:picLocks noChangeAspect="1"/>
          </p:cNvPicPr>
          <p:nvPr/>
        </p:nvPicPr>
        <p:blipFill>
          <a:blip r:embed="rId2"/>
          <a:stretch>
            <a:fillRect/>
          </a:stretch>
        </p:blipFill>
        <p:spPr>
          <a:xfrm>
            <a:off x="457200" y="2142309"/>
            <a:ext cx="411480" cy="411480"/>
          </a:xfrm>
          <a:prstGeom prst="rect">
            <a:avLst/>
          </a:prstGeom>
        </p:spPr>
      </p:pic>
      <p:sp>
        <p:nvSpPr>
          <p:cNvPr id="6" name="Checklist text 2"/>
          <p:cNvSpPr txBox="1"/>
          <p:nvPr/>
        </p:nvSpPr>
        <p:spPr>
          <a:xfrm>
            <a:off x="1051560" y="2129246"/>
            <a:ext cx="6263640" cy="437606"/>
          </a:xfrm>
          <a:prstGeom prst="rect">
            <a:avLst/>
          </a:prstGeom>
          <a:noFill/>
          <a:ln/>
        </p:spPr>
        <p:txBody>
          <a:bodyPr wrap="square" lIns="0" tIns="0" rIns="0" bIns="0" rtlCol="0" anchor="ctr"/>
          <a:lstStyle/>
          <a:p>
            <a:pPr algn="l" indent="0" marL="0">
              <a:buNone/>
            </a:pPr>
            <a:r>
              <a:rPr lang="en-US" sz="1600" dirty="0">
                <a:solidFill>
                  <a:schemeClr val="tx1"/>
                </a:solidFill>
              </a:rPr>
              <a:t>pose_log.csv, or confirmation that the headers carry robotPose</a:t>
            </a:r>
            <a:endParaRPr lang="en-US" sz="1600" dirty="0"/>
          </a:p>
        </p:txBody>
      </p:sp>
      <p:pic>
        <p:nvPicPr>
          <p:cNvPr id="7" name="Checklist check 3" descr="check icon">    </p:cNvPr>
          <p:cNvPicPr>
            <a:picLocks noChangeAspect="1"/>
          </p:cNvPicPr>
          <p:nvPr/>
        </p:nvPicPr>
        <p:blipFill>
          <a:blip r:embed="rId3"/>
          <a:stretch>
            <a:fillRect/>
          </a:stretch>
        </p:blipFill>
        <p:spPr>
          <a:xfrm>
            <a:off x="457200" y="2854234"/>
            <a:ext cx="411480" cy="411480"/>
          </a:xfrm>
          <a:prstGeom prst="rect">
            <a:avLst/>
          </a:prstGeom>
        </p:spPr>
      </p:pic>
      <p:sp>
        <p:nvSpPr>
          <p:cNvPr id="8" name="Checklist text 3"/>
          <p:cNvSpPr txBox="1"/>
          <p:nvPr/>
        </p:nvSpPr>
        <p:spPr>
          <a:xfrm>
            <a:off x="1051560" y="2841171"/>
            <a:ext cx="6263640" cy="437606"/>
          </a:xfrm>
          <a:prstGeom prst="rect">
            <a:avLst/>
          </a:prstGeom>
          <a:noFill/>
          <a:ln/>
        </p:spPr>
        <p:txBody>
          <a:bodyPr wrap="square" lIns="0" tIns="0" rIns="0" bIns="0" rtlCol="0" anchor="ctr"/>
          <a:lstStyle/>
          <a:p>
            <a:pPr algn="l" indent="0" marL="0">
              <a:buNone/>
            </a:pPr>
            <a:r>
              <a:rPr lang="en-US" sz="1600" dirty="0">
                <a:solidFill>
                  <a:schemeClr val="tx1"/>
                </a:solidFill>
              </a:rPr>
              <a:t>captures/manifest.csv, built without errors</a:t>
            </a:r>
            <a:endParaRPr lang="en-US" sz="1600" dirty="0"/>
          </a:p>
        </p:txBody>
      </p:sp>
      <p:pic>
        <p:nvPicPr>
          <p:cNvPr id="9" name="Checklist check 4" descr="check icon">    </p:cNvPr>
          <p:cNvPicPr>
            <a:picLocks noChangeAspect="1"/>
          </p:cNvPicPr>
          <p:nvPr/>
        </p:nvPicPr>
        <p:blipFill>
          <a:blip r:embed="rId4"/>
          <a:stretch>
            <a:fillRect/>
          </a:stretch>
        </p:blipFill>
        <p:spPr>
          <a:xfrm>
            <a:off x="457200" y="3566160"/>
            <a:ext cx="411480" cy="411480"/>
          </a:xfrm>
          <a:prstGeom prst="rect">
            <a:avLst/>
          </a:prstGeom>
        </p:spPr>
      </p:pic>
      <p:sp>
        <p:nvSpPr>
          <p:cNvPr id="10" name="Checklist text 4"/>
          <p:cNvSpPr txBox="1"/>
          <p:nvPr/>
        </p:nvSpPr>
        <p:spPr>
          <a:xfrm>
            <a:off x="1051560" y="3553097"/>
            <a:ext cx="6263640" cy="437606"/>
          </a:xfrm>
          <a:prstGeom prst="rect">
            <a:avLst/>
          </a:prstGeom>
          <a:noFill/>
          <a:ln/>
        </p:spPr>
        <p:txBody>
          <a:bodyPr wrap="square" lIns="0" tIns="0" rIns="0" bIns="0" rtlCol="0" anchor="ctr"/>
          <a:lstStyle/>
          <a:p>
            <a:pPr algn="l" indent="0" marL="0">
              <a:buNone/>
            </a:pPr>
            <a:r>
              <a:rPr lang="en-US" sz="1600" dirty="0">
                <a:solidFill>
                  <a:schemeClr val="tx1"/>
                </a:solidFill>
              </a:rPr>
              <a:t>captures/check.json with no flags, or a note on each</a:t>
            </a:r>
            <a:endParaRPr lang="en-US" sz="1600" dirty="0"/>
          </a:p>
        </p:txBody>
      </p:sp>
      <p:pic>
        <p:nvPicPr>
          <p:cNvPr id="11" name="Checklist check 5" descr="check icon">    </p:cNvPr>
          <p:cNvPicPr>
            <a:picLocks noChangeAspect="1"/>
          </p:cNvPicPr>
          <p:nvPr/>
        </p:nvPicPr>
        <p:blipFill>
          <a:blip r:embed="rId5"/>
          <a:stretch>
            <a:fillRect/>
          </a:stretch>
        </p:blipFill>
        <p:spPr>
          <a:xfrm>
            <a:off x="457200" y="4278086"/>
            <a:ext cx="411480" cy="411480"/>
          </a:xfrm>
          <a:prstGeom prst="rect">
            <a:avLst/>
          </a:prstGeom>
        </p:spPr>
      </p:pic>
      <p:sp>
        <p:nvSpPr>
          <p:cNvPr id="12" name="Checklist text 5"/>
          <p:cNvSpPr txBox="1"/>
          <p:nvPr/>
        </p:nvSpPr>
        <p:spPr>
          <a:xfrm>
            <a:off x="1051560" y="4265023"/>
            <a:ext cx="6263640" cy="437606"/>
          </a:xfrm>
          <a:prstGeom prst="rect">
            <a:avLst/>
          </a:prstGeom>
          <a:noFill/>
          <a:ln/>
        </p:spPr>
        <p:txBody>
          <a:bodyPr wrap="square" lIns="0" tIns="0" rIns="0" bIns="0" rtlCol="0" anchor="ctr"/>
          <a:lstStyle/>
          <a:p>
            <a:pPr algn="l" indent="0" marL="0">
              <a:buNone/>
            </a:pPr>
            <a:r>
              <a:rPr lang="en-US" sz="1600" dirty="0">
                <a:solidFill>
                  <a:schemeClr val="tx1"/>
                </a:solidFill>
              </a:rPr>
              <a:t>plan/ files as used, boot.json and the bootstrap captures</a:t>
            </a:r>
            <a:endParaRPr lang="en-US" sz="1600" dirty="0"/>
          </a:p>
        </p:txBody>
      </p:sp>
      <p:pic>
        <p:nvPicPr>
          <p:cNvPr id="13" name="Checklist check 6" descr="check icon">    </p:cNvPr>
          <p:cNvPicPr>
            <a:picLocks noChangeAspect="1"/>
          </p:cNvPicPr>
          <p:nvPr/>
        </p:nvPicPr>
        <p:blipFill>
          <a:blip r:embed="rId6"/>
          <a:stretch>
            <a:fillRect/>
          </a:stretch>
        </p:blipFill>
        <p:spPr>
          <a:xfrm>
            <a:off x="457200" y="5164401"/>
            <a:ext cx="411480" cy="411480"/>
          </a:xfrm>
          <a:prstGeom prst="rect">
            <a:avLst/>
          </a:prstGeom>
        </p:spPr>
      </p:pic>
      <p:sp>
        <p:nvSpPr>
          <p:cNvPr id="14" name="Checklist text 6"/>
          <p:cNvSpPr txBox="1"/>
          <p:nvPr/>
        </p:nvSpPr>
        <p:spPr>
          <a:xfrm>
            <a:off x="1051560" y="4976949"/>
            <a:ext cx="6263640" cy="786384"/>
          </a:xfrm>
          <a:prstGeom prst="rect">
            <a:avLst/>
          </a:prstGeom>
          <a:noFill/>
          <a:ln/>
        </p:spPr>
        <p:txBody>
          <a:bodyPr wrap="square" lIns="0" tIns="0" rIns="0" bIns="0" rtlCol="0" anchor="ctr"/>
          <a:lstStyle/>
          <a:p>
            <a:pPr algn="l" indent="0" marL="0">
              <a:buNone/>
            </a:pPr>
            <a:r>
              <a:rPr lang="en-US" sz="1600" dirty="0">
                <a:solidFill>
                  <a:schemeClr val="tx1"/>
                </a:solidFill>
              </a:rPr>
              <a:t>session_notes.txt: sensor serial, warm-up, exposure, gain and SGM parameters, base frame, TCPs, board D and runout, sphere diameters, temperature, pose log location</a:t>
            </a:r>
            <a:endParaRPr lang="en-US" sz="1600" dirty="0"/>
          </a:p>
        </p:txBody>
      </p:sp>
      <p:pic>
        <p:nvPicPr>
          <p:cNvPr id="15" name="Checklist check 7" descr="check icon">    </p:cNvPr>
          <p:cNvPicPr>
            <a:picLocks noChangeAspect="1"/>
          </p:cNvPicPr>
          <p:nvPr/>
        </p:nvPicPr>
        <p:blipFill>
          <a:blip r:embed="rId7"/>
          <a:stretch>
            <a:fillRect/>
          </a:stretch>
        </p:blipFill>
        <p:spPr>
          <a:xfrm>
            <a:off x="457200" y="6103185"/>
            <a:ext cx="411480" cy="411480"/>
          </a:xfrm>
          <a:prstGeom prst="rect">
            <a:avLst/>
          </a:prstGeom>
        </p:spPr>
      </p:pic>
      <p:sp>
        <p:nvSpPr>
          <p:cNvPr id="16" name="Checklist text 7"/>
          <p:cNvSpPr txBox="1"/>
          <p:nvPr/>
        </p:nvSpPr>
        <p:spPr>
          <a:xfrm>
            <a:off x="1051560" y="6037653"/>
            <a:ext cx="6263640" cy="542544"/>
          </a:xfrm>
          <a:prstGeom prst="rect">
            <a:avLst/>
          </a:prstGeom>
          <a:noFill/>
          <a:ln/>
        </p:spPr>
        <p:txBody>
          <a:bodyPr wrap="square" lIns="0" tIns="0" rIns="0" bIns="0" rtlCol="0" anchor="ctr"/>
          <a:lstStyle/>
          <a:p>
            <a:pPr algn="l" indent="0" marL="0">
              <a:buNone/>
            </a:pPr>
            <a:r>
              <a:rPr lang="en-US" sz="1600" dirty="0">
                <a:solidFill>
                  <a:schemeClr val="tx1"/>
                </a:solidFill>
              </a:rPr>
              <a:t>Photos (a phone camera is fine) of the sensor mount, each fixture on the flange, and the nest</a:t>
            </a:r>
            <a:endParaRPr lang="en-US" sz="1600" dirty="0"/>
          </a:p>
        </p:txBody>
      </p:sp>
      <p:sp>
        <p:nvSpPr>
          <p:cNvPr id="17" name="Software card"/>
          <p:cNvSpPr/>
          <p:nvPr/>
        </p:nvSpPr>
        <p:spPr>
          <a:xfrm>
            <a:off x="7589520" y="1417320"/>
            <a:ext cx="4144975" cy="4709160"/>
          </a:xfrm>
          <a:prstGeom prst="roundRect">
            <a:avLst>
              <a:gd name="adj" fmla="val 2647"/>
            </a:avLst>
          </a:prstGeom>
          <a:solidFill>
            <a:schemeClr val="bg2"/>
          </a:solidFill>
          <a:ln/>
        </p:spPr>
      </p:sp>
      <p:sp>
        <p:nvSpPr>
          <p:cNvPr id="18" name="Software icon circle"/>
          <p:cNvSpPr/>
          <p:nvPr/>
        </p:nvSpPr>
        <p:spPr>
          <a:xfrm>
            <a:off x="7818120" y="1645920"/>
            <a:ext cx="640080" cy="640080"/>
          </a:xfrm>
          <a:prstGeom prst="ellipse">
            <a:avLst/>
          </a:prstGeom>
          <a:solidFill>
            <a:schemeClr val="accent2"/>
          </a:solidFill>
          <a:ln/>
        </p:spPr>
      </p:sp>
      <p:pic>
        <p:nvPicPr>
          <p:cNvPr id="19" name="Software icon glyph" descr="code icon">    </p:cNvPr>
          <p:cNvPicPr>
            <a:picLocks noChangeAspect="1"/>
          </p:cNvPicPr>
          <p:nvPr/>
        </p:nvPicPr>
        <p:blipFill>
          <a:blip r:embed="rId8"/>
          <a:stretch>
            <a:fillRect/>
          </a:stretch>
        </p:blipFill>
        <p:spPr>
          <a:xfrm>
            <a:off x="7978140" y="1805940"/>
            <a:ext cx="320040" cy="320040"/>
          </a:xfrm>
          <a:prstGeom prst="rect">
            <a:avLst/>
          </a:prstGeom>
        </p:spPr>
      </p:pic>
      <p:sp>
        <p:nvSpPr>
          <p:cNvPr id="20" name="Software head"/>
          <p:cNvSpPr txBox="1"/>
          <p:nvPr/>
        </p:nvSpPr>
        <p:spPr>
          <a:xfrm>
            <a:off x="8641080" y="1645920"/>
            <a:ext cx="2864815" cy="640080"/>
          </a:xfrm>
          <a:prstGeom prst="rect">
            <a:avLst/>
          </a:prstGeom>
          <a:noFill/>
          <a:ln/>
        </p:spPr>
        <p:txBody>
          <a:bodyPr wrap="square" lIns="0" tIns="0" rIns="0" bIns="0" rtlCol="0" anchor="ctr"/>
          <a:lstStyle/>
          <a:p>
            <a:pPr algn="l" indent="0" marL="0">
              <a:buNone/>
            </a:pPr>
            <a:r>
              <a:rPr lang="en-US" sz="2000" b="1" dirty="0">
                <a:solidFill>
                  <a:schemeClr val="tx2"/>
                </a:solidFill>
                <a:latin typeface="+mj-lt" pitchFamily="34" charset="0"/>
                <a:ea typeface="+mj-lt" pitchFamily="34" charset="-122"/>
                <a:cs typeface="+mj-lt" pitchFamily="34" charset="-120"/>
              </a:rPr>
              <a:t>Software</a:t>
            </a:r>
            <a:endParaRPr lang="en-US" sz="2000" dirty="0"/>
          </a:p>
        </p:txBody>
      </p:sp>
      <p:sp>
        <p:nvSpPr>
          <p:cNvPr id="21" name="Software points"/>
          <p:cNvSpPr txBox="1"/>
          <p:nvPr/>
        </p:nvSpPr>
        <p:spPr>
          <a:xfrm>
            <a:off x="7818120" y="2468880"/>
            <a:ext cx="3687775" cy="3429000"/>
          </a:xfrm>
          <a:prstGeom prst="rect">
            <a:avLst/>
          </a:prstGeom>
          <a:noFill/>
          <a:ln/>
        </p:spPr>
        <p:txBody>
          <a:bodyPr wrap="square" lIns="0" tIns="0" rIns="0" bIns="0" rtlCol="0" anchor="t"/>
          <a:lstStyle/>
          <a:p>
            <a:pPr algn="l" marL="177800" indent="-177800">
              <a:spcAft>
                <a:spcPts val="1200"/>
              </a:spcAft>
              <a:buSzPct val="100000"/>
              <a:buChar char="•"/>
            </a:pPr>
            <a:r>
              <a:rPr lang="en-US" sz="1600" dirty="0">
                <a:solidFill>
                  <a:schemeClr val="tx1"/>
                </a:solidFill>
              </a:rPr>
              <a:t>plan_poses, make_manifest and check_captures in sphcal/cli</a:t>
            </a:r>
            <a:endParaRPr lang="en-US" sz="1600" dirty="0"/>
          </a:p>
          <a:p>
            <a:pPr algn="l" marL="177800" indent="-177800">
              <a:spcAft>
                <a:spcPts val="1200"/>
              </a:spcAft>
              <a:buSzPct val="100000"/>
              <a:buChar char="•"/>
            </a:pPr>
            <a:r>
              <a:rPr lang="en-US" sz="1600" dirty="0">
                <a:solidFill>
                  <a:schemeClr val="tx1"/>
                </a:solidFill>
              </a:rPr>
              <a:t>Install and self-test: procedure appendix C</a:t>
            </a:r>
            <a:endParaRPr lang="en-US" sz="1600" dirty="0"/>
          </a:p>
          <a:p>
            <a:pPr algn="l" marL="177800" indent="-177800">
              <a:spcAft>
                <a:spcPts val="1200"/>
              </a:spcAft>
              <a:buSzPct val="100000"/>
              <a:buChar char="•"/>
            </a:pPr>
            <a:r>
              <a:rPr lang="en-US" sz="1600" dirty="0">
                <a:solidFill>
                  <a:schemeClr val="tx1"/>
                </a:solidFill>
              </a:rPr>
              <a:t>Every tool prints its options with --help</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Stage-1 Capture">
  <a:themeElements>
    <a:clrScheme name="Stage-1 Capture">
      <a:dk1>
        <a:srgbClr val="1F2A30"/>
      </a:dk1>
      <a:lt1>
        <a:srgbClr val="FFFFFF"/>
      </a:lt1>
      <a:dk2>
        <a:srgbClr val="2E4A52"/>
      </a:dk2>
      <a:lt2>
        <a:srgbClr val="EEF2F3"/>
      </a:lt2>
      <a:accent1>
        <a:srgbClr val="D9731A"/>
      </a:accent1>
      <a:accent2>
        <a:srgbClr val="3E7C87"/>
      </a:accent2>
      <a:accent3>
        <a:srgbClr val="8FA9AE"/>
      </a:accent3>
      <a:accent4>
        <a:srgbClr val="B23A2E"/>
      </a:accent4>
      <a:accent5>
        <a:srgbClr val="5B6B70"/>
      </a:accent5>
      <a:accent6>
        <a:srgbClr val="C9D6D8"/>
      </a:accent6>
      <a:hlink>
        <a:srgbClr val="3E7C87"/>
      </a:hlink>
      <a:folHlink>
        <a:srgbClr val="5B6B70"/>
      </a:folHlink>
    </a:clrScheme>
    <a:fontScheme name="Stage-1 Captur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Stage-1 Calibration: Test Procedure and Robot Program</dc:title>
  <dc:subject>Stage-1 depth-sensor calibration captures</dc:subject>
  <dc:creator>Depth calibration from spherical target</dc:creator>
  <cp:lastModifiedBy>Depth calibration from spherical target</cp:lastModifiedBy>
  <cp:revision>1</cp:revision>
  <dcterms:created xsi:type="dcterms:W3CDTF">2026-10-07T14:50:58Z</dcterms:created>
  <dcterms:modified xsi:type="dcterms:W3CDTF">2026-10-07T14:50:58Z</dcterms:modified>
</cp:coreProperties>
</file>